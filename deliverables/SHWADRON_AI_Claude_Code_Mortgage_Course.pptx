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2 דקות (שקפים 1–3: 8 דקות בסך הכול)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לפתוח את השיעור ולהציג מה כל משתתף ייקח ממנו.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„שלום לכולם, אני יוחנן שבדרון מ־‎SHWADRON.AI‎. היום נלמד לעבוד עם Claude Code: כלי שעובד ישירות על הקבצים במחשב שלכם, לפי הוראות בעברית.”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„בסוף השיעור לכל אחד יהיה תיק לקוח מסודר וטיוטה לקראת פנייה לבנק, על לקוח פיקטיבי.”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„לא צריך לדעת לתכנת. כל מה שנעשה היום הוא בכתיבה רגילה.”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לוודא שכולם שומעים ורואים את המסך. לבקש מכולם לפתוח את אפליקציית Claude במחשב.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להגיד כבר עכשיו: כל הנתונים בשיעור פיקטיביים. לא עובדים היום על תיקים אמיתיים.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„בואו נראה מה בדיוק נעשה היום.”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3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לחבר את השיעור לבעיה שכל יועץ מכיר.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„כל יועץ מכיר את זה: הלקוח שולח קבצים בוואטסאפ ובמייל, עם שמות כמו ‎doc1‎ ו־‎scan_0012‎.”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לעבור על רשימת הקבצים: אי אפשר לדעת מהשם מה יש בקובץ, ‎doc1‎ נשלח פעמיים, הסכום המבוקש מופיע בשני מקומות עם שני ערכים, ומסמך אחד חסר.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„היום נעבור ארבעה שלבים: קבלת המסמכים, הבנת התוכן, ארגון וריכוז הנתונים.”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שאלה לקהל: „איך אתם מסדרים היום תיק שמגיע ככה?” (לשמוע 2–3 תשובות קצרות)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תיק משפחת לוי ילווה אותנו לאורך כל השיעור, עם אותם נתונים בכל השקפים.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„ככה ייראה התיק בסוף השיעור.”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3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להראות את התוצר הסופי לפני שמתחילים.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לעבור על ארבעת החלקים: מסמכים מסודרים (עותקים בשמות ברורים), רשימת קבצים, ריכוז נתונים וחוסרים, וטיוטה לבדיקת היועץ.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„כל התוצרים נשמרים כקבצים רגילים בתיקייה, ואפשר לפתוח אותם גם בלי Claude.”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להדגיש: הטיוטה היא חומר עבודה של היועץ. היא לא אישור מקצועי ולא המלצת אשראי, ולא נשלחת לבנק אוטומטית. היועץ בודק ומחליט מה לשלוח.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„כדי להגיע לזה, מתחילים בהתקנה.”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8 דקות, כולל זמן התקנה (שקפים 4–7: 22 דקות)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שכל משתתף יסיים עם אפליקציה מותקנת ומחוברת.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„Claude Code באפליקציה דורש מנוי בתשלום: Pro, Max, Team או Enterprise. מנוי חינמי לא מספיק.”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„מורידים רק מהקישור הרשמי. לרוב המחשבים מתאים קובץ ‎x64‎. למחשבים עם מעבד ARM יש קובץ נפרד.”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„מריצים את ההתקנה, פותחים את Claude מתפריט התחל ומתחברים עם החשבון שיש בו המנוי.”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להדגים את ההורדה וההתקנה בשיתוף מסך, ואז לתת 5 דקות למשתתפים. מי שכבר התקין: לבדוק שהוא מחובר ושלשונית Code נפתחת.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מי שלא יודע איזה מעבד יש לו: הגדרות ← מערכת ← אודות, בשורה „סוג מערכת”.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הודעה שצריך לשדרג אחרי לחיצה על Code: החשבון לא על מנוי מתאים.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בקשה להתחבר מחדש באתר: להשלים את ההתחברות ולהפעיל את האפליקציה מחדש.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לא צריך ‎Node.js‎ ולא צריך את גרסת הטרמינל.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Git נדרש רק לסשנים בתיקיית worktree נפרדת, ולא נשתמש בזה היום. אם גרסה ישנה מבקשת Git, לעדכן את האפליקציה.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„עכשיו פותחים את סביבת העבודה.”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https://code.claude.com/docs/en/desktop-quickstart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 (Windows, Troubleshooting)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הורדה ‎x64‎: ‎https://claude.ai/api/desktop/win32/x64/setup/latest/redirect‎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הורדה ‎ARM64‎: ‎https://claude.ai/api/desktop/win32/arm64/setup/latest/redirect‎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6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שכל משתתף יפתח שיחה מקומית על תיקיית התרגול.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„קודם יוצרים בסייר הקבצים תיקייה ריקה בשם ‎levi-case‎. אפשר במיקום אחר, העיקר שזו תיקייה נפרדת לתרגול.”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„לוחצים על Code בראש סרגל הצד. בשורה שמתחת לתיבת ההוראות פותחים את בורר הסביבה ובוחרים Local.”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„בבורר התיקייה שלידו בוחרים Open folder… ואת התיקייה שיצרתם. במצב ההרשאות בוחרים Manual.”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להדגים, ואז לתת למשתתפים לבצע. בדיקה: שם התיקייה ‎levi-case‎ מופיע ליד בורר הסביבה.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אם בורר הסביבה לא מופיע מתחת לתיבת ההוראות, זה המבנה הישן של המסך. התיעוד מסביר איך לזהות את הגרסה. שמות האפשרויות מופיעים באנגלית, כמו בממשק.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„בואו נכיר את המסך.”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https://code.claude.com/docs/en/desktop-quickstart (Start your first session)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 (Choose a permission mode)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5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שהמשתתפים יידעו איפה נמצא כל דבר במסך.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לעבור על המספרים בצילום לפי הסדר: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1 לשונית Code. 2 שיחה חדשה. 3 רשימת השיחות, ולכל שיחה הקשר משלה. 4 תיבת ההוראות, כאן כותבים בעברית.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5 בורר הסביבה. 6 התיקייה או המאגר שבהם Claude עובד. 7 מצב ההרשאות. 8 בורר המודל, ואפשר להחליף מודל גם באמצע שיחה.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„אחרי ש־Claude משנה קבצים, מופיע מחוון כמו ‎+12‎ -1. לחיצה עליו פותחת את תצוגת השינויים.”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להראות את אותם אזורים במסך האמיתי בשיתוף מסך.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בצילום נבחרו סביבת ענן (Default) ומאגר GitHub, ומצב ההרשאות הוא Auto. בתרגול בוחרים Local ואת תיקיית התרגול, ומתחילים ב־Manual. שמות השיחות והחשבון בצילום טושטשו.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מצבי ההרשאות באפליקציה: Manual, Accept edits, Plan, Auto ו־Bypass permissions (לא נשתמש בו).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„מי שמכיר את גרסת הטרמינל שואל: מה ההבדל?”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https://code.claude.com/docs/en/desktop-quickstart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3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להבהיר שהאפליקציה והטרמינל הם אותו Claude Code.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„טרמינל הוא חלון שבו כותבים טקסט במקום ללחוץ על כפתורים. האפליקציה היא ממשק גרפי עם חלונות וכפתורים.”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„בשתי הדרכים פונים ל־Claude בשפה רגילה, גם בעברית. גם בטרמינל לא חייבים לדעת פקודות.”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„‎CLAUDE.md‎, סקילים והרשאות עובדים בשתיהן.”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לא כל יכולת של הטרמינל קיימת באפליקציה. Agent Teams זמין בטרמינל ולא באפליקציה. גם קיצור Shift+Tab להחלפת מצב הרשאות לא עובד באפליקציה.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באפליקציה יש גם חלונית טרמינל (Ctrl+`), אבל היום לא נשתמש בה.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„איך Claude Code עובד מאחורי הקלעים?”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 (Coming from the CLI)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https://code.claude.com/docs/en/how-claude-code-works (Environments and interfaces)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3 דקות (שקפים 8–13: 20 דקות)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להבין את מנגנון העבודה בלי מושגים טכניים.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„אתם כותבים בקשה. Claude, המודל, מבין ומתכנן. הוא משתמש בכלים: קורא קבצים, מחפש, כותב ומריץ פעולות. הכול קורה בתיקייה שבחרתם.”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„מצב ההרשאות קובע מה Claude מבצע בלי לשאול אתכם.”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„בכל משימה יש לולאה: איסוף מידע, ביצוע ובדיקה, עד שהמשימה הושלמה.”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דוגמה מעולם היועץ: בבקשה „סדר את התיק”, Claude קודם קורא את כל הקבצים, אחר כך מעתיק אותם, ובסוף בודק שהכול במקום.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אפשר לעצור את Claude בכל רגע בכפתור העצירה, או לכתוב תיקון ולשלוח בלי לעצור.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„למה בחרנו תיקייה, ומה זה אומר?”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https://code.claude.com/docs/en/how-claude-code-works (The agentic loop, Tools)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2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להבין את תפקיד התיקייה, ומה היא לא מבטיחה.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„התיקייה מרכזת את חומרי התיק, שומרת את התוצרים כקבצים, ומפרידה בין לקוחות: תיקייה נפרדת לכל לקוח.”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„חשוב: התיקייה קובעת איפה Claude קורא וכותב. היא לא מבטיחה שהמידע מעובד רק במחשב שלכם.”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בסשן מקומי הקבצים והפעולות נמצאים במחשב, אבל המודל רץ בשרתי Anthropic, ולכן התוכן ש־Claude קורא נשלח לעיבוד. לכן בתרגול משתמשים רק בנתונים פיקטיביים.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עבודה עם מסמכים אמיתיים של לקוחות דורשת החלטה מסודרת על פרטיות, הסכמת לקוחות והגדרות החשבון. זה מחוץ להיקף השיעור.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„בואו נבנה את מבנה התיקייה.”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https://code.claude.com/docs/en/how-claude-code-works (Execution environments, What Claude can access)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4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שלכל משתתף יהיה מבנה תיקיות זהה.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„‎01_originals‎ למקורות, שלא משנים אף פעם. ‎02_organized‎ לעותקים המסודרים. ‎03_reports‎ לדוחות ולתוצרים.”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„‎CLAUDE.md‎ הוא קובץ ההוראות, ו־‎.claude‎ היא תיקיית ההגדרות, שבה יישמרו הסקיל וסוכן המשנה.”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המשתתפים שולחים את הבקשה שבשקף. במצב Manual, Claude יבקש אישור לפני שהוא יוצר את התיקיות. אחרי הביצוע בודקים בסייר הקבצים שנוצרו שלוש תיקיות.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את ‎CLAUDE.md‎ ניצור בשקף 12. התיקייה ‎‎.claude‎ תיווצר כשנשמור סקיל או סוכן משנה. אם היא לא מופיעה בסייר, ייתכן שהיא מוסתרת כי השם מתחיל בנקודה.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„מה Claude זוכר בין שיחות?”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https://code.claude.com/docs/en/memory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https://code.claude.com/docs/en/skills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https://code.claude.com/docs/en/sub-agents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3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להבין מה נשמר ומה נמחק בין שיחות.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„השיחה נשמרת רק בתוך אותה שיחה. שיחה חדשה מתחילה בלי ההיסטוריה של השיחות הקודמות.”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„קבצים שנשמרו נשארים בתיקייה, וכל שיחה חדשה יכולה לקרוא אותם.”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„‎CLAUDE.md‎ נטען אוטומטית בתחילת כל שיחה, ולכן שם שמים כללים קבועים.”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להראות את בקשת ההמשך שבשקף: מבקשים מ־Claude לקרוא את ‎03_reports‎ ולסכם מה הושלם ומה פתוח.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לפני שממשיכים לעבוד בודקים שלושה דברים: שהתיקייה הפעילה היא של הלקוח הנכון, ש־‎CLAUDE.md‎ קיים ומעודכן, ומה כבר נשמר ב־‎03_reports‎.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גם בשיחה ארוכה, Claude מסכם את השיחה כשההקשר מתמלא, והוראות מתחילת השיחה עלולות ללכת לאיבוד. לכן כלל חשוב כותבים ב־‎CLAUDE.md‎.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„אז בואו נכתוב את ‎CLAUDE.md‎.”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https://code.claude.com/docs/en/how-claude-code-works (Work with sessions, The context window)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https://code.claude.com/docs/en/memory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 (Sessions)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4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שלכל משתתף יהיה ‎CLAUDE.md‎ עם כללי העבודה.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„‎CLAUDE.md‎ הוא קובץ טקסט רגיל עם הנחיות. Claude קורא אותו בתחילת כל שיחה בתיקייה.”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לעבור על הכללים: עברית, לא נוגעים במקורות, מקור לכל נתון, מסמנים „חסר”, מציגים סתירות, שומרים תוצרים ב־‎03_reports‎.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המשתתפים שולחים את הבקשה שבשקף. אחר כך פותחים את הקובץ ובודקים שהכללים כתובים בו.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שאלה לקהל: „איזה כלל קבוע הייתם מוסיפים לתיקים שלכם?”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‎CLAUDE.md‎ הוא הקשר ולא נעילה: הוראות קצרות וברורות עובדות טוב יותר. כדי לחסום פעולה בכל מקרה משתמשים בהרשאות.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אפשר לשמור אותו בשורש הפרויקט או ב־‎‎.claude/CLAUDE.md‎. הפקודה ‎‎/init‎ יוצרת קובץ התחלתי, אבל היום כותבים אותו ידנית כדי להבין מה יש בו.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מומלץ להוסיף גם: „כל דוח הוא טיוטה לבדיקת היועץ.”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„איך מנסחים בקשה טובה?”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4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לנסח בקשה בארבעה חלקים ולבחור מצב הרשאות.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„בקשה טובה כוללת משימה, חומרי מקור, תוצר ומגבלות. לא חייבים ניסוח מושלם, אבל מגבלות ברורות חוסכות תיקונים.”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לקרוא את הדוגמה: תוכנית לסידור בלי לשנות קבצים.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„Manual: Claude שואל לפני כל שינוי. Plan: מציע תוכנית בלי לערוך. Accept edits: עורך בלי לשאול.”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בתרגול עובדים ב־Plan או ב־Manual. Auto ו־Bypass permissions לא מתאימים לשלב הלמידה.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את המצב בוחרים בשורה שמתחת לתיבת ההוראות. Shift+Tab לא מחליף מצב באפליקציה.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במצב Manual, Claude מציג מה הוא עומד לעשות. קוראים לפני שמאשרים.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„עכשיו נכיר את תיק הלקוח.”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 (Choose a permission mode)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https://code.claude.com/docs/en/desktop-quickstart (Review and accept changes)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https://code.claude.com/docs/en/how-claude-code-works (Control what Claude can do)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3 דקות (שקפים 14–22: 40 דקות)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להכיר את תיק משפחת לוי ואת שני האתגרים בו.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„משה לוי רוצה לרכוש דירה. בתיק ארבעה מסמכים: שאלון, סיכום שיחה, נתוני הכנסה והתחייבויות.”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„שני אתגרים: הסכום המבוקש הוא 1,200,000 ₪ בשאלון ו־1,300,000 ₪ בסיכום השיחה, ודפי העו״ש חסרים.”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שאלה לקהל: „מה הייתם עושים כשיש בתיק שני סכומים שונים?”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כל הנתונים פיקטיביים. רשימת המסמכים בתרגיל היא דוגמה שהיועץ מגדיר, ולא רשימת דרישות רשמית או אחידה של הבנקים.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פרטים נוספים: מחיר הנכס 1,900,000 ₪, הון עצמי 700,000 ₪, הכנסה נטו 14,500 ₪, הלוואת רכב ביתרה של 38,000 ₪ והחזר של 1,150 ₪, שיחה מ־12.10.2026. וגם קובץ כפול: ‎doc1_copy.txt‎.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„בואו ניצור את הקבצים האלה.”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5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שלכל משתתף יהיו אותם 5 קבצים פיקטיביים.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„אין לנו תיק אמיתי, אז נבקש מ־Claude ליצור קבצים פיקטיביים, עם הסימון ‚לתרגול בלבד’ בכל קובץ.”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להדביק מראש את הבקשה בצ׳אט של הזום, והמשתתפים מעתיקים אותה משם. אחרי הביצוע פותחים את ‎01_originals‎ בסייר: בדיוק 5 קבצים, ובראש כל אחד כתוב „לתרגול בלבד”.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שמות הקבצים באנגלית בכוונה: כך הנתיבים מוצגים נכון גם בתוך טקסט בעברית. אפשר לעבוד גם עם שמות בעברית.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אם Claude הוסיף נתונים שלא נתבקשו, מבקשים ממנו להסיר אותם. זו הזדמנות לתרגל בקשת תיקון.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„עכשיו נבקש מ־Claude לקרוא את התיק.”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4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לקבל מפה של התיק לפני שמשנים משהו.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„הבקשה הזו אוסרת במפורש לשנות קבצים. Claude רק קורא ומתאר.”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המשתתפים שולחים את הבקשה. במצב Manual, Claude יבקש אישור רק לשמירת הטבלה ב־‎03_reports‎.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תוצאה צפויה: ‎doc1.txt‎ שאלון, ‎doc1_copy.txt‎ שאלון כפול, ‎scan_0012.txt‎ הכנסה, new ‎file.txt‎ התחייבויות, ‎notes.txt‎ סיכום שיחה.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בדיקה מול סייר הקבצים: 5 קבצים בתיקייה = 5 שורות בטבלה.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אם קובץ חסר בטבלה, Claude לא קרא אותו. התיקון בשקף 28.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„אחרי שיודעים מה יש, מתכננים את הסידור.”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4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לבנות תוכנית סידור ולבדוק אותה לפני ביצוע.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„מבקשים מ־Claude להציע קטגוריה ושם חדש לכל קובץ, בלי לבצע.”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„קובץ לא מזוהה: לא מנחשים. כפילות: משווים את התוכן ומעתיקים פעם אחת. לפני ביצוע: קוראים ומאשרים.”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משתמשים בבקשה משקף 13, במצב Plan או Manual. אם רוצים שינוי בתוכנית, מבקשים מ־Claude לעדכן לפני הביצוע.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שאלה לקהל: „מה הייתם משנים בשמות? איזו שיטה אתם רגילים לה?”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שמות הקבצים החדשים הם דוגמה. כל יועץ יכול לקבוע שיטה משלו, וכדאי לכתוב אותה ב־‎CLAUDE.md‎.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„אישרנו. עכשיו מבצעים.”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5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ליצור עותקים מסודרים ולשמור על המקורות.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„המילה החשובה בבקשה היא ‚העתק’. לא מעבירים ולא מוחקים: המקורות נשארים כמו שהם.”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„קובץ ‎name_map.md‎ מראה איזה עותק הגיע מאיזה קובץ מקורי.”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המשתתפים שולחים את הבקשה. בדיקה בסייר: ב־‎01_originals‎ עדיין 5 קבצים, וב־‎02_organized‎ יש 4 עותקים.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ב־‎name_map.md‎ גם ‎doc1_copy.txt‎ מופיע, ומסומן ככפול שלא הועתק.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„עכשיו נוציא מהמסמכים את הנתונים.”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5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לרכז נתונים בטבלה, עם מקור לכל נתון.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„כלל המפתח מ־‎CLAUDE.md‎: לכל נתון יש קובץ מקור. בלי מקור, הנתון לא נכנס.”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„השורות המסומנות דורשות פעולה של היועץ: הסתירה בסכום והמסמך החסר.”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המשתתפים שולחים את הבקשה. אחר כך משתתף אחד משווה שורה אחת מהטבלה מול הקובץ עצמו. זו בדיקה שהיועץ עושה בכל תיק.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שורות נוספות בטבלה המלאה: הון עצמי 700,000 ₪, יתרת הלוואת רכב 38,000 ₪.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„נעצור רגע על הסתירה ועל מה שחסר.”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4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להפנים את הכלל: מציגים את שני המקורות ומסמנים לבירור.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„מה Claude אמור לעשות כשהוא מוצא שני סכומים? לא לבחור ולא למצע. מציגים את שניהם, עם המקור של כל אחד, ומסמנים לבירור.”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„דפי העו״ש נזכרו בסיכום השיחה, אבל אין קובץ. הם נכנסים לרשימת החוסרים ולשאלות ללקוח.”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אם בטבלה של משתתף מופיע רק סכום אחד, מבקשים: „בטבלה מופיע רק 1,200,000. הוסף את הסכום מסיכום השיחה וסמן לבירור.”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ההחלטה על הסכום הנכון היא של היועץ, אחרי בירור עם הלקוח.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„עכשיו יש לנו מספיק כדי לבנות טיוטה.”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5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להפיק טיוטה במבנה קבוע לקראת פנייה לבנק.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„לטיוטה שבעה חלקים: פרטי התיק, מטרת הפנייה, נתונים, מסמכים, חוסרים, שאלות לבירור ומקורות.”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„הטיוטה נשענת רק על קובץ הריכוז, ולכן כל נתון בה כבר מגיע עם מקור.”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המשתתפים שולחים את הבקשה ופותחים את ‎draft.md‎. בודקים שבראש הקובץ כתוב „טיוטה לבדיקת היועץ”.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להדגיש שוב: זו טיוטה לבדיקת היועץ. היא לא אישור מקצועי ולא המלצת אשראי, ולא נשלחת לבנק אוטומטית.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„לפני שמסיימים, בודקים את הטיוטה.”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5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לבדוק את הטיוטה ולתקן לפי המקורות.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„ארבע בדיקות: סכומים תואמים למקור, תאריכים נכונים, לכל נתון יש מקור, והחוסרים והשאלות מופיעים.”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„גם אחרי ש־Claude בודק את עצמו, היועץ בודק בעצמו לפחות שני נתונים מול המקור.”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המשתתפים שולחים את בקשת הבדיקה ובודקים מה Claude שינה.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בקשת המשך לדוגמה, אחרי שמגיע מסמך: „דפי העו״ש התקבלו ונשמרו ב־‎01_originals‎. קרא אותם, עדכן את רשימת המסמכים והחוסרים, ושמור את הטיוטה מחדש.” בתרגול אין קובץ עו״ש; כדי להדגים, ליצור קודם קובץ פיקטיבי עם הסימון „לתרגול בלבד”.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את הסתירה בסכום לא פותרים בטיוטה. היא נשארת בשאלות לבירור עד שהיועץ מברר עם הלקוח.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„עשינו את כל התהליך פעם אחת. איך עושים אותו שוב בתיק הבא בלי לכתוב הכול מחדש?”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3 דקות (שקפים 23–27: 20 דקות)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להבין מהו סקיל.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„סקיל הוא הוראות כתובות לתהליך שחוזר, שמפעילים שוב בכל תיק.”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„הוא תיקייה עם קובץ ‎SKILL.md‎: שם, תיאור, ואחריהם השלבים והכללים. אפשר להוסיף לה תבניות ודוגמאות.”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„מפעילים אותו בפקודה עם השם שלו, או ש־Claude מפעיל אותו לבד כשהבקשה מתאימה לתיאור.”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סקיל של פרויקט נשמר ב־‎‎.claude/skills/&lt;שם&gt;/SKILL.md‎. סקיל אישי לכל הפרויקטים נשמר ב־‎‎~/.claude/skills/‎.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באפליקציה כותבים ‎/‎ בתיבת ההוראות, או לוחצים ‎+‎ ואז Slash commands.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ההבדל מ־‎CLAUDE.md‎: התוכן של סקיל נטען רק כשמשתמשים בו.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„ככה ייראה הסקיל שלנו.”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https://code.claude.com/docs/en/skills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 (Skills and slash commands)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3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לראות סקיל לדוגמה שאורז את התהליך של היום.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„הסקיל ‎prepare-bank-file‎ כולל את חמשת השלבים שעשינו: מיפוי, ארגון, חילוץ, חוסרים וטיוטה, יחד עם הכללים הקבועים.”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השדה ‎disable-model-invocation‎: true קובע ש־Claude לא יפעיל את הסקיל לבד, אלא רק כשהיועץ כותב ‎‎/prepare-bank-file‎. זה מתאים לתהליך שיוצר ומשנה קבצים.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השדה description עוזר ל־Claude ולמשתמש להבין מתי להשתמש בסקיל.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„עכשיו ניצור אותו מתוך מה שעשינו.”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https://code.claude.com/docs/en/skills (Frontmatter reference, Control who invokes a skill)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6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שכל משתתף ישמור את התהליך כסקיל בפרויקט.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„מבקשים מ־Claude לשמור את מה שעשינו היום כסקיל, עם הכללים מ־‎CLAUDE.md‎, ולא להריץ אותו עכשיו.”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המשתתפים שולחים את הבקשה. אחר כך פותחים את ‎SKILL.md‎ וקוראים אותו: מה שכתוב בו הוא מה ש־Claude יעשה בתיק הבא. לבדוק שהסקיל מופיע כשכותבים ‎/‎ בתיבת ההוראות.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הנתיב מוצג עם ‎/‎ כמו בתיעוד. ב־Windows הסייר מציג אותו עם \, וזו אותה תיקייה.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אם התיקייה ‎‎.claude‎ לא מופיעה בסייר, ייתכן שהיא מוסתרת.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כדי להשתמש בסקיל בתיקיות של לקוחות אחרים, אפשר לשמור אותו כסקיל אישי ב־‎‎~/.claude/skills/‎ (בהמשך, לא היום). את הסקיל נריץ בפעם הראשונה בתרגיל ההמשך.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„יש עוד כלי: סוכן משנה.”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https://code.claude.com/docs/en/skills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4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להבין מהו סוכן משנה, ומה ההבדל מ־Agent Teams.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„סוכן משנה מקבל משימה ממוקדת, עובד בהקשר נפרד ומחזיר לשיחה רק סיכום. אפשר להגביל אותו לכלים מסוימים, למשל לקריאה בלבד.”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„‎report-checker‎ משווה את הטיוטה למקורות ומחזיר נתונים ללא מקור ונתונים שסותרים את המקור. הוא לא משנה קבצים.”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ליצור את הסוכן בבקשה מ־Claude: „צור סוכן משנה בשם ‎report-checker‎ בתיקייה ‎‎.claude/agents‎, עם כלי קריאה בלבד, שמשווה טיוטה למקורות.”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הקובץ נשמר ב־‎‎.claude/agents/report-checker.md‎. בראשו name, description ו־tools. הכלים Read, Grep ו־Glob מאפשרים רק לקרוא ולחפש.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באפליקציה, חלונית Background tasks מציגה את סוכני המשנה שרצים.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Agent Teams הוא צוות של כמה שיחות ש־Claude מתאם. הוא זמין בטרמינל ולא באפליקציה.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השימוש בסוכני משנה נספר באותן מגבלות שימוש של השיחה הראשית.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„מתי משתמשים בכל אחד מהכלים?”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https://code.claude.com/docs/en/sub-agents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 (Agent teams, Background tasks)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4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לדעת לבחור בין בקשה, ‎CLAUDE.md‎, סקיל וסוכן משנה.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„כלל אצבע: משהו שאומרים פעם אחת הוא בקשה. כלל שחל תמיד נכנס ל־‎CLAUDE.md‎. תהליך שחוזר הופך לסקיל. בדיקה ממוקדת עוברת לסוכן משנה.”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מי שיצר את ‎report-checker‎ שולח את בקשת ההאצלה שבשקף. התוצאה חוזרת לשיחה כסיכום, והיועץ מחליט מה לתקן.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אפשר להפעיל סוכן משנה בבקשה שמזכירה את השם שלו, או עם @ ובחירה מהרשימה. Claude יכול גם להאציל אליו לבד לפי התיאור.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„מה עושים כשמשהו לא עובד?”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https://code.claude.com/docs/en/sub-agents (Invoke subagents)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https://code.claude.com/docs/en/skills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4 דקות (שקפים 28–30: 10 דקות)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לדעת לזהות תקלה ולבקש תיקון ממוקד.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לעבור על הטבלה: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תיקייה שגויה: Claude לא מוצא את ‎01_originals‎. בודקים את בורר התיקייה.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קובץ שלא נקרא: הוא חסר ברשימת הקבצים.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תוצר במקום אחר: הדוח לא נמצא ב־‎03_reports‎.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מידע חסר: שדה ריק או ניחוש בטיוטה.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מגבלת שימוש: מופיעה הודעה. ממתינים לחידוש המכסה.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„לא כותבים ‚זה לא עובד’. מתארים מה ראיתם, מעתיקים את הודעת השגיאה, ומבקשים תיקון אחד.”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טבעת השימוש ליד בורר המודל מראה כמה מהמכסה נוצל, והמכסה משותפת לכל הדרכים שבהן עובדים עם Claude Code.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אפשר לעצור את Claude בכל רגע בכפתור העצירה, או לכתוב תיקון ולשלוח בלי לעצור.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„בואו נבדוק מה יצא לכל אחד.”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מקורות: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 (Usage, Troubleshooting)</a:t>
            </a:r>
          </a:p>
          <a:p>
            <a:pPr rtl="0" algn="l"/>
            <a:r>
              <a:rPr sz="1200" b="0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https://code.claude.com/docs/en/desktop-quickstart (Interrupt and steer)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3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שכל משתתף יבדוק את התיק שלו לפי רשימה.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„כל אחד בודק ארבעה דברים: המקורות שמורים, העותקים מסודרים, בטיוטה יש מקור לכל נתון, והחוסרים והשאלות מופיעים.”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הדגמה ותרגול: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הבדיקה נעשית בסייר הקבצים ובקבצים עצמם, ולא רק לפי מה ש־Claude כתב בשיחה. מי שחסר לו פריט, מבקש תיקון ממוקד לפי שקף 28.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רשימה מלאה: 5 קבצים ב־‎01_originals‎ ללא שינוי; 4 עותקים ב־‎02_organized‎ וקובץ ‎name_map.md‎, והכפילות מסומנת; ‎draft.md‎ עם הכותרת „טיוטה לבדיקת היועץ”; דפי העו״ש ברשימת החוסרים ושני הסכומים בשאלות לבירור.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מעבר לשקף הבא: „לסיום: שאלות ומשימה להמשך.”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זמן: 3 דקות</a:t>
            </a:r>
          </a:p>
          <a:p>
            <a:pPr rtl="1" algn="r"/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מטרה: לסכם, לענות על שאלות ולתת משימת המשך.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 אומרים: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לשאול את שלוש שאלות ההבנה ולשמוע תשובות.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„משימת ההמשך: לפתוח תיקייה חדשה לתיק פיקטיבי נוסף, ליצור קבצים עם מסמך חסר וסתירה אחת, להעתיק את ‎CLAUDE.md‎ ואת התיקייה ‎‎.claude‎, להפעיל את ‎‎/prepare-bank-file‎ ולבדוק את התוצאה לפי הרשימה.”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„תודה רבה לכולם.”</a:t>
            </a:r>
          </a:p>
          <a:p>
            <a:pPr rtl="1" algn="r"/>
          </a:p>
          <a:p>
            <a:pPr rtl="1" algn="r"/>
            <a:r>
              <a:rPr sz="1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לשים לב: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תשובות קצרות לשאלות: (1) כלל שחל תמיד נכנס ל־‎CLAUDE.md‎; תהליך עם שלבים הופך לסקיל. (2) ההחלטה של היועץ, אחרי בירור עם הלקוח. (3) סיכום של ממצאים, והוא לא משנה קבצים.</a:t>
            </a:r>
          </a:p>
          <a:p>
            <a:pPr rtl="1" algn="r"/>
            <a:r>
              <a:rPr sz="12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העתקת ‎‎.claude‎ מביאה איתה את הסקיל ואת סוכן המשנה. נתונים פיקטיביים בלבד.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claude.ai/api/desktop/win32/x64/setup/latest/redirect" TargetMode="External"/><Relationship Id="rId4" Type="http://schemas.openxmlformats.org/officeDocument/2006/relationships/hyperlink" Target="https://claude.ai/api/desktop/win32/arm64/setup/latest/redirect" TargetMode="Externa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095" y="502920"/>
            <a:ext cx="3108854" cy="1810512"/>
          </a:xfrm>
          <a:prstGeom prst="rect">
            <a:avLst/>
          </a:prstGeom>
        </p:spPr>
      </p:pic>
      <p:pic>
        <p:nvPicPr>
          <p:cNvPr id="3" name="Picture 2" descr="character-fu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59"/>
            <a:ext cx="3838443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43400" y="2606040"/>
            <a:ext cx="7299655" cy="16459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00000"/>
              </a:lnSpc>
            </a:pPr>
            <a:r>
              <a:rPr sz="48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Claude Code</a:t>
            </a:r>
          </a:p>
          <a:p>
            <a:pPr rtl="1" algn="r">
              <a:lnSpc>
                <a:spcPct val="100000"/>
              </a:lnSpc>
            </a:pPr>
            <a:r>
              <a:rPr sz="48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ליועצי משכנתאות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4206240"/>
            <a:ext cx="7299655" cy="8229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</a:pPr>
            <a:r>
              <a:rPr sz="2200" b="0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עבודה עם קבצים והכנת תיק לקוח</a:t>
            </a:r>
          </a:p>
          <a:p>
            <a:pPr rtl="1" algn="r">
              <a:lnSpc>
                <a:spcPct val="110000"/>
              </a:lnSpc>
            </a:pPr>
            <a:r>
              <a:rPr sz="2200" b="0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באמצעות הוראות בעברית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45775" y="5138928"/>
            <a:ext cx="1097280" cy="54864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5321808"/>
            <a:ext cx="7299655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יוחנן שבדרון</a:t>
            </a:r>
            <a:r>
              <a:rPr sz="22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  |  ‎SHWADRON.AI‎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5833872"/>
            <a:ext cx="729965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6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שיעור מעשי בזום  ·  שעתיים  ·  התקנה, הדגמות ותרגול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פתיחה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העבודה שנבצע היום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81933" y="1600200"/>
            <a:ext cx="548640" cy="548640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20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76093" y="2240280"/>
            <a:ext cx="2560320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קבלת מסמכים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94129" y="1874519"/>
            <a:ext cx="1950644" cy="0"/>
          </a:xfrm>
          <a:prstGeom prst="line">
            <a:avLst/>
          </a:prstGeom>
          <a:ln w="31750">
            <a:solidFill>
              <a:srgbClr val="64C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208329" y="1600200"/>
            <a:ext cx="548640" cy="548640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20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2489" y="2240280"/>
            <a:ext cx="2560320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הבנת התוכן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20525" y="1874519"/>
            <a:ext cx="1950644" cy="0"/>
          </a:xfrm>
          <a:prstGeom prst="line">
            <a:avLst/>
          </a:prstGeom>
          <a:ln w="31750">
            <a:solidFill>
              <a:srgbClr val="64C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434725" y="1600200"/>
            <a:ext cx="548640" cy="548640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20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885" y="2240280"/>
            <a:ext cx="2560320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ארגון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46921" y="1874519"/>
            <a:ext cx="1950644" cy="0"/>
          </a:xfrm>
          <a:prstGeom prst="line">
            <a:avLst/>
          </a:prstGeom>
          <a:ln w="31750">
            <a:solidFill>
              <a:srgbClr val="64C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661121" y="1600200"/>
            <a:ext cx="548640" cy="548640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20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281" y="2240280"/>
            <a:ext cx="2560320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ריכוז נתונים</a:t>
            </a:r>
          </a:p>
        </p:txBody>
      </p:sp>
      <p:pic>
        <p:nvPicPr>
          <p:cNvPr id="16" name="Picture 15" descr="art-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26080"/>
            <a:ext cx="3722501" cy="3383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0" y="3154680"/>
            <a:ext cx="505937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המצב בהתחלה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611880"/>
            <a:ext cx="5059375" cy="2377440"/>
          </a:xfrm>
          <a:prstGeom prst="roundRect">
            <a:avLst>
              <a:gd name="adj" fmla="val 6000"/>
            </a:avLst>
          </a:prstGeom>
          <a:solidFill>
            <a:srgbClr val="0A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721608"/>
            <a:ext cx="4785055" cy="21945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8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01_originals\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8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  doc1.txt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8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  doc1_copy.txt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8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  scan_0012.txt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8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  new file.txt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8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  notes.txt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2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פתיחה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התוצר בסוף השיעור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art-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48839"/>
            <a:ext cx="3492574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47507" y="1645920"/>
            <a:ext cx="3695547" cy="182880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57255" y="1920240"/>
            <a:ext cx="402336" cy="402336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5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1827" y="1901952"/>
            <a:ext cx="2598267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מסמכים מסודרים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1827" y="2377440"/>
            <a:ext cx="3146907" cy="10058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2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עותקים בשמות ברורים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40" y="1645920"/>
            <a:ext cx="3695547" cy="182880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87387" y="1920240"/>
            <a:ext cx="402336" cy="402336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5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901952"/>
            <a:ext cx="2598267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רשימת קבצים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377440"/>
            <a:ext cx="3146907" cy="10058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2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מה יש בכל קובץ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7507" y="3749039"/>
            <a:ext cx="3695547" cy="182880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57255" y="4023359"/>
            <a:ext cx="402336" cy="402336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5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1827" y="4005072"/>
            <a:ext cx="2598267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ריכוז נתונים וחוסרים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1827" y="4480559"/>
            <a:ext cx="3146907" cy="10058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2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כל נתון עם קובץ המקור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40" y="3749039"/>
            <a:ext cx="3695547" cy="18288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87387" y="4023359"/>
            <a:ext cx="402336" cy="402336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5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005072"/>
            <a:ext cx="2598267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טיוטה לבדיקת היועץ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480559"/>
            <a:ext cx="3146907" cy="10058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2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לא אישור ולא המלצת אשראי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3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התקנה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הכנות והתקנה ב־Windows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77639" y="429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בצעו עכשיו במחשב</a:t>
            </a:r>
          </a:p>
        </p:txBody>
      </p:sp>
      <p:pic>
        <p:nvPicPr>
          <p:cNvPr id="6" name="Picture 5" descr="pose-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19"/>
            <a:ext cx="2572124" cy="49377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1185855" y="1618488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581912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מנוי בתשלום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984248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Pro, Max, Team או Enterprise</a:t>
            </a:r>
          </a:p>
        </p:txBody>
      </p:sp>
      <p:sp>
        <p:nvSpPr>
          <p:cNvPr id="10" name="Oval 9"/>
          <p:cNvSpPr/>
          <p:nvPr/>
        </p:nvSpPr>
        <p:spPr>
          <a:xfrm>
            <a:off x="11185855" y="2514600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78024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הורדה מהאתר הרשמי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880360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קובץ ההתקנה ל־Windows</a:t>
            </a:r>
          </a:p>
        </p:txBody>
      </p:sp>
      <p:sp>
        <p:nvSpPr>
          <p:cNvPr id="13" name="Oval 12"/>
          <p:cNvSpPr/>
          <p:nvPr/>
        </p:nvSpPr>
        <p:spPr>
          <a:xfrm>
            <a:off x="11185855" y="3410712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374136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התקנה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776472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מריצים ופותחים מתפריט התחל</a:t>
            </a:r>
          </a:p>
        </p:txBody>
      </p:sp>
      <p:sp>
        <p:nvSpPr>
          <p:cNvPr id="16" name="Oval 15"/>
          <p:cNvSpPr/>
          <p:nvPr/>
        </p:nvSpPr>
        <p:spPr>
          <a:xfrm>
            <a:off x="11185855" y="4306823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270248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התחברות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672583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עם החשבון שיש בו המנוי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5257800"/>
            <a:ext cx="7482535" cy="38404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הורדה:  </a:t>
            </a:r>
            <a:r>
              <a:rPr sz="1800" b="1" i="0" lang="he-IL">
                <a:solidFill>
                  <a:srgbClr val="435FB5"/>
                </a:solidFill>
                <a:latin typeface="Rubik"/>
                <a:ea typeface="Rubik"/>
                <a:cs typeface="Rubik"/>
                <a:hlinkClick r:id="rId3"/>
              </a:rPr>
              <a:t>‎x64‎</a:t>
            </a:r>
            <a:r>
              <a:rPr sz="18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 |   </a:t>
            </a:r>
            <a:r>
              <a:rPr sz="1800" b="1" i="0" lang="he-IL">
                <a:solidFill>
                  <a:srgbClr val="435FB5"/>
                </a:solidFill>
                <a:latin typeface="Rubik"/>
                <a:ea typeface="Rubik"/>
                <a:cs typeface="Rubik"/>
                <a:hlinkClick r:id="rId4"/>
              </a:rPr>
              <a:t>‎ARM64‎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71055" y="5669280"/>
            <a:ext cx="4572000" cy="438912"/>
          </a:xfrm>
          <a:prstGeom prst="roundRect">
            <a:avLst>
              <a:gd name="adj" fmla="val 6000"/>
            </a:avLst>
          </a:prstGeom>
          <a:solidFill>
            <a:srgbClr val="0A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8215" y="5779008"/>
            <a:ext cx="4297680" cy="256031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25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code.claude.com/docs/en/desktop-quickstart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4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התקנה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פתיחת סביבת העבודה הראשונה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29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בצעו עכשיו במחשב</a:t>
            </a:r>
          </a:p>
        </p:txBody>
      </p:sp>
      <p:sp>
        <p:nvSpPr>
          <p:cNvPr id="6" name="Oval 5"/>
          <p:cNvSpPr/>
          <p:nvPr/>
        </p:nvSpPr>
        <p:spPr>
          <a:xfrm>
            <a:off x="11185855" y="1664208"/>
            <a:ext cx="420624" cy="420624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627632"/>
            <a:ext cx="496793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לשונית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029968"/>
            <a:ext cx="496793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בראש סרגל הצד</a:t>
            </a:r>
          </a:p>
        </p:txBody>
      </p:sp>
      <p:sp>
        <p:nvSpPr>
          <p:cNvPr id="9" name="Oval 8"/>
          <p:cNvSpPr/>
          <p:nvPr/>
        </p:nvSpPr>
        <p:spPr>
          <a:xfrm>
            <a:off x="11185855" y="2688336"/>
            <a:ext cx="420624" cy="420624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651760"/>
            <a:ext cx="496793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עבודה מקומית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054096"/>
            <a:ext cx="496793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בורר הסביבה ← Local</a:t>
            </a:r>
          </a:p>
        </p:txBody>
      </p:sp>
      <p:sp>
        <p:nvSpPr>
          <p:cNvPr id="12" name="Oval 11"/>
          <p:cNvSpPr/>
          <p:nvPr/>
        </p:nvSpPr>
        <p:spPr>
          <a:xfrm>
            <a:off x="11185855" y="3712463"/>
            <a:ext cx="420624" cy="420624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675888"/>
            <a:ext cx="496793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תיקיית התרגול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078224"/>
            <a:ext cx="496793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בורר התיקייה ← Open folder…</a:t>
            </a:r>
          </a:p>
        </p:txBody>
      </p:sp>
      <p:sp>
        <p:nvSpPr>
          <p:cNvPr id="15" name="Oval 14"/>
          <p:cNvSpPr/>
          <p:nvPr/>
        </p:nvSpPr>
        <p:spPr>
          <a:xfrm>
            <a:off x="11185855" y="4736592"/>
            <a:ext cx="420624" cy="420624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700016"/>
            <a:ext cx="496793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מצב הרשאות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102352"/>
            <a:ext cx="496793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בתחילת התרגול: Manual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645920"/>
            <a:ext cx="4754880" cy="2743200"/>
          </a:xfrm>
          <a:prstGeom prst="roundRect">
            <a:avLst>
              <a:gd name="adj" fmla="val 6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1874519"/>
            <a:ext cx="4206240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לפני שמתחילים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2331720"/>
            <a:ext cx="4206240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יוצרים תיקייה ריקה לתרגול: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" y="2880360"/>
            <a:ext cx="4206240" cy="566928"/>
          </a:xfrm>
          <a:prstGeom prst="roundRect">
            <a:avLst>
              <a:gd name="adj" fmla="val 6000"/>
            </a:avLst>
          </a:prstGeom>
          <a:solidFill>
            <a:srgbClr val="0A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19" y="2990088"/>
            <a:ext cx="3931920" cy="384047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C:\Claude-Training\levi-case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611880"/>
            <a:ext cx="4206240" cy="640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אפשר גם מיקום אחר, העיקר תיקייה נפרדת.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5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25" name="Picture 24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התקנה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היכרות עם המסך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-code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675120" cy="459248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417320"/>
            <a:ext cx="6675120" cy="4592482"/>
          </a:xfrm>
          <a:prstGeom prst="rect">
            <a:avLst/>
          </a:prstGeom>
          <a:noFill/>
          <a:ln w="12700">
            <a:solidFill>
              <a:srgbClr val="D4D6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19072" y="1524182"/>
            <a:ext cx="329184" cy="329184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1741322" y="1849038"/>
            <a:ext cx="329184" cy="329184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1741322" y="3388766"/>
            <a:ext cx="329184" cy="329184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3499104" y="5551505"/>
            <a:ext cx="329184" cy="329184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3801709" y="6046378"/>
            <a:ext cx="329184" cy="329184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5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6046378"/>
            <a:ext cx="329184" cy="329184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6</a:t>
            </a:r>
          </a:p>
        </p:txBody>
      </p:sp>
      <p:sp>
        <p:nvSpPr>
          <p:cNvPr id="13" name="Oval 12"/>
          <p:cNvSpPr/>
          <p:nvPr/>
        </p:nvSpPr>
        <p:spPr>
          <a:xfrm>
            <a:off x="5167884" y="6046378"/>
            <a:ext cx="329184" cy="329184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7</a:t>
            </a:r>
          </a:p>
        </p:txBody>
      </p:sp>
      <p:sp>
        <p:nvSpPr>
          <p:cNvPr id="14" name="Oval 13"/>
          <p:cNvSpPr/>
          <p:nvPr/>
        </p:nvSpPr>
        <p:spPr>
          <a:xfrm>
            <a:off x="6560759" y="6046378"/>
            <a:ext cx="329184" cy="329184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8</a:t>
            </a:r>
          </a:p>
        </p:txBody>
      </p:sp>
      <p:sp>
        <p:nvSpPr>
          <p:cNvPr id="15" name="Oval 14"/>
          <p:cNvSpPr/>
          <p:nvPr/>
        </p:nvSpPr>
        <p:spPr>
          <a:xfrm>
            <a:off x="11259007" y="1463040"/>
            <a:ext cx="365760" cy="365760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426464"/>
            <a:ext cx="3459175" cy="43891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לשונית Code</a:t>
            </a:r>
          </a:p>
        </p:txBody>
      </p:sp>
      <p:sp>
        <p:nvSpPr>
          <p:cNvPr id="17" name="Oval 16"/>
          <p:cNvSpPr/>
          <p:nvPr/>
        </p:nvSpPr>
        <p:spPr>
          <a:xfrm>
            <a:off x="11259007" y="2011680"/>
            <a:ext cx="365760" cy="365760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975104"/>
            <a:ext cx="3459175" cy="43891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שיחה חדשה</a:t>
            </a:r>
          </a:p>
        </p:txBody>
      </p:sp>
      <p:sp>
        <p:nvSpPr>
          <p:cNvPr id="19" name="Oval 18"/>
          <p:cNvSpPr/>
          <p:nvPr/>
        </p:nvSpPr>
        <p:spPr>
          <a:xfrm>
            <a:off x="11259007" y="2560320"/>
            <a:ext cx="365760" cy="365760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523744"/>
            <a:ext cx="3459175" cy="43891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השיחות שלכם</a:t>
            </a:r>
          </a:p>
        </p:txBody>
      </p:sp>
      <p:sp>
        <p:nvSpPr>
          <p:cNvPr id="21" name="Oval 20"/>
          <p:cNvSpPr/>
          <p:nvPr/>
        </p:nvSpPr>
        <p:spPr>
          <a:xfrm>
            <a:off x="11259007" y="3108960"/>
            <a:ext cx="365760" cy="365760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072384"/>
            <a:ext cx="3459175" cy="43891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תיבת ההוראות</a:t>
            </a:r>
          </a:p>
        </p:txBody>
      </p:sp>
      <p:sp>
        <p:nvSpPr>
          <p:cNvPr id="23" name="Oval 22"/>
          <p:cNvSpPr/>
          <p:nvPr/>
        </p:nvSpPr>
        <p:spPr>
          <a:xfrm>
            <a:off x="11259007" y="3657600"/>
            <a:ext cx="365760" cy="365760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621024"/>
            <a:ext cx="3459175" cy="43891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בורר הסביבה</a:t>
            </a:r>
          </a:p>
        </p:txBody>
      </p:sp>
      <p:sp>
        <p:nvSpPr>
          <p:cNvPr id="25" name="Oval 24"/>
          <p:cNvSpPr/>
          <p:nvPr/>
        </p:nvSpPr>
        <p:spPr>
          <a:xfrm>
            <a:off x="11259007" y="4206240"/>
            <a:ext cx="365760" cy="365760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169663"/>
            <a:ext cx="3459175" cy="43891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תיקייה ‎/‎ מאגר</a:t>
            </a:r>
          </a:p>
        </p:txBody>
      </p:sp>
      <p:sp>
        <p:nvSpPr>
          <p:cNvPr id="27" name="Oval 26"/>
          <p:cNvSpPr/>
          <p:nvPr/>
        </p:nvSpPr>
        <p:spPr>
          <a:xfrm>
            <a:off x="11259007" y="4754879"/>
            <a:ext cx="365760" cy="365760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18303"/>
            <a:ext cx="3459175" cy="43891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מצב ההרשאות</a:t>
            </a:r>
          </a:p>
        </p:txBody>
      </p:sp>
      <p:sp>
        <p:nvSpPr>
          <p:cNvPr id="29" name="Oval 28"/>
          <p:cNvSpPr/>
          <p:nvPr/>
        </p:nvSpPr>
        <p:spPr>
          <a:xfrm>
            <a:off x="11259007" y="5303520"/>
            <a:ext cx="365760" cy="365760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5266944"/>
            <a:ext cx="3459175" cy="438912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בורר המודל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6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32" name="Picture 31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התקנה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האפליקציה והטרמינל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4415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בשתי הדרכים פונים ל־Claude בשפה רגילה, גם בעברית.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40280"/>
          <a:ext cx="11094415" cy="2926080"/>
        </p:xfrm>
        <a:graphic>
          <a:graphicData uri="http://schemas.openxmlformats.org/drawingml/2006/table">
            <a:tbl>
              <a:tblPr firstRow="1" bandRow="0" rtl="1">
                <a:tableStyleId>{5940675A-B579-460E-94D1-54222C63F5DA}</a:tableStyleId>
              </a:tblPr>
              <a:tblGrid>
                <a:gridCol w="2218883"/>
                <a:gridCol w="4437766"/>
                <a:gridCol w="4437766"/>
              </a:tblGrid>
              <a:tr h="585216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אפליקציה (לשונית Code)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טרמינל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איך זה נראה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חלונות וכפתורים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חלון טקסט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איך מבקשים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בתיבת ההוראות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בשורת הטקסט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בחירת תיקייה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בורר התיקייה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פותחים בתיקייה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משותף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‎CLAUDE.md‎, סקילים, הרשאות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‎CLAUDE.md‎, סקילים, הרשאות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6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לא כל יכולת של הטרמינל קיימת באפליקציה. לדוגמה: Agent Teams.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7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9" name="Picture 8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64CAAD"/>
                </a:solidFill>
                <a:latin typeface="Rubik"/>
                <a:ea typeface="Rubik"/>
                <a:cs typeface="Rubik"/>
              </a:rPr>
              <a:t>איך זה עובד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מבנה העבודה של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11335" y="1691640"/>
            <a:ext cx="2331720" cy="1325880"/>
          </a:xfrm>
          <a:prstGeom prst="roundRect">
            <a:avLst>
              <a:gd name="adj" fmla="val 10000"/>
            </a:avLst>
          </a:prstGeom>
          <a:solidFill>
            <a:srgbClr val="142A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4215" y="1828800"/>
            <a:ext cx="196596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הבקשה שלכם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94215" y="2331720"/>
            <a:ext cx="196596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1600" b="0" i="0" lang="he-IL">
                <a:solidFill>
                  <a:srgbClr val="D4D6D8"/>
                </a:solidFill>
                <a:latin typeface="Rubik"/>
                <a:ea typeface="Rubik"/>
                <a:cs typeface="Rubik"/>
              </a:rPr>
              <a:t>בעברית רגילה</a:t>
            </a:r>
          </a:p>
        </p:txBody>
      </p:sp>
      <p:sp>
        <p:nvSpPr>
          <p:cNvPr id="8" name="Left Arrow 7"/>
          <p:cNvSpPr/>
          <p:nvPr/>
        </p:nvSpPr>
        <p:spPr>
          <a:xfrm>
            <a:off x="8872423" y="2212848"/>
            <a:ext cx="329184" cy="274320"/>
          </a:xfrm>
          <a:prstGeom prst="leftArrow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30975" y="1691640"/>
            <a:ext cx="2331720" cy="1325880"/>
          </a:xfrm>
          <a:prstGeom prst="roundRect">
            <a:avLst>
              <a:gd name="adj" fmla="val 10000"/>
            </a:avLst>
          </a:prstGeom>
          <a:solidFill>
            <a:srgbClr val="142A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3855" y="1828800"/>
            <a:ext cx="196596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Claude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3855" y="2331720"/>
            <a:ext cx="196596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1600" b="0" i="0" lang="he-IL">
                <a:solidFill>
                  <a:srgbClr val="D4D6D8"/>
                </a:solidFill>
                <a:latin typeface="Rubik"/>
                <a:ea typeface="Rubik"/>
                <a:cs typeface="Rubik"/>
              </a:rPr>
              <a:t>מבין ומתכנן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5992063" y="2212848"/>
            <a:ext cx="329184" cy="274320"/>
          </a:xfrm>
          <a:prstGeom prst="leftArrow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50615" y="1691640"/>
            <a:ext cx="2331720" cy="1325880"/>
          </a:xfrm>
          <a:prstGeom prst="roundRect">
            <a:avLst>
              <a:gd name="adj" fmla="val 10000"/>
            </a:avLst>
          </a:prstGeom>
          <a:solidFill>
            <a:srgbClr val="142A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3495" y="1828800"/>
            <a:ext cx="196596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כלים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495" y="2331720"/>
            <a:ext cx="196596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1600" b="0" i="0" lang="he-IL">
                <a:solidFill>
                  <a:srgbClr val="D4D6D8"/>
                </a:solidFill>
                <a:latin typeface="Rubik"/>
                <a:ea typeface="Rubik"/>
                <a:cs typeface="Rubik"/>
              </a:rPr>
              <a:t>קורא, כותב, מריץ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3111703" y="2212848"/>
            <a:ext cx="329184" cy="274320"/>
          </a:xfrm>
          <a:prstGeom prst="leftArrow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0255" y="1691640"/>
            <a:ext cx="2331720" cy="1325880"/>
          </a:xfrm>
          <a:prstGeom prst="roundRect">
            <a:avLst>
              <a:gd name="adj" fmla="val 10000"/>
            </a:avLst>
          </a:prstGeom>
          <a:solidFill>
            <a:srgbClr val="142A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" y="1828800"/>
            <a:ext cx="196596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קבצים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" y="2331720"/>
            <a:ext cx="196596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1600" b="0" i="0" lang="he-IL">
                <a:solidFill>
                  <a:srgbClr val="D4D6D8"/>
                </a:solidFill>
                <a:latin typeface="Rubik"/>
                <a:ea typeface="Rubik"/>
                <a:cs typeface="Rubik"/>
              </a:rPr>
              <a:t>בתיקייה שבחרתם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45075" y="3246120"/>
            <a:ext cx="4846320" cy="457200"/>
          </a:xfrm>
          <a:prstGeom prst="roundRect">
            <a:avLst>
              <a:gd name="adj" fmla="val 50000"/>
            </a:avLst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מצב ההרשאות קובע מה מתבצע בלי לשאול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בכל משימה: לולאה עד שהמשימה הושלמה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42655" y="475488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48695" y="4965192"/>
            <a:ext cx="457200" cy="457200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5535" y="4754880"/>
            <a:ext cx="2286000" cy="86868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איסוף מידע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7848295" y="5047488"/>
            <a:ext cx="457200" cy="274320"/>
          </a:xfrm>
          <a:prstGeom prst="leftArrow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10735" y="475488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16775" y="4965192"/>
            <a:ext cx="457200" cy="457200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3615" y="4754880"/>
            <a:ext cx="2286000" cy="86868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ביצוע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3916375" y="5047488"/>
            <a:ext cx="457200" cy="274320"/>
          </a:xfrm>
          <a:prstGeom prst="leftArrow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8815" y="475488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84855" y="4965192"/>
            <a:ext cx="457200" cy="457200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" y="4754880"/>
            <a:ext cx="2286000" cy="86868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בדיקה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8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איך זה עובד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תפקיד התיקייה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character-ch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8760"/>
            <a:ext cx="2860300" cy="48463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1185855" y="1664208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627632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מרכזת את החומרים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029968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כל מסמכי התיק במקום אחד</a:t>
            </a:r>
          </a:p>
        </p:txBody>
      </p:sp>
      <p:sp>
        <p:nvSpPr>
          <p:cNvPr id="9" name="Oval 8"/>
          <p:cNvSpPr/>
          <p:nvPr/>
        </p:nvSpPr>
        <p:spPr>
          <a:xfrm>
            <a:off x="11185855" y="2624328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587752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שומרת את התוצרים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990088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רשימות ודוחות נשמרים כקבצים</a:t>
            </a:r>
          </a:p>
        </p:txBody>
      </p:sp>
      <p:sp>
        <p:nvSpPr>
          <p:cNvPr id="12" name="Oval 11"/>
          <p:cNvSpPr/>
          <p:nvPr/>
        </p:nvSpPr>
        <p:spPr>
          <a:xfrm>
            <a:off x="11185855" y="3584448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547872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מפרידה בין לקוחות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950208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תיקייה נפרדת לכל לקוח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4663440"/>
            <a:ext cx="7665415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0A7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4754880"/>
            <a:ext cx="7116775" cy="118872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שימו לב: </a:t>
            </a:r>
            <a:r>
              <a:rPr sz="17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התיקייה קובעת איפה Claude עובד. היא לא מבטיחה שהמידע מעובד רק במחשב שלכם.</a:t>
            </a:r>
          </a:p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1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לכן בתרגול: נתונים פיקטיביים בלבד.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9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איך זה עובד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מבנה תיקיית התרגול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29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בצעו עכשיו במחשב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4572000" cy="2743200"/>
          </a:xfrm>
          <a:prstGeom prst="roundRect">
            <a:avLst>
              <a:gd name="adj" fmla="val 6000"/>
            </a:avLst>
          </a:prstGeom>
          <a:solidFill>
            <a:srgbClr val="0A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64207"/>
            <a:ext cx="4297680" cy="25603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21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levi-case\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2100" b="0" i="0" lang="en-US">
                <a:solidFill>
                  <a:srgbClr val="64CAAD"/>
                </a:solidFill>
                <a:latin typeface="Consolas"/>
                <a:ea typeface="Consolas"/>
                <a:cs typeface="Rubik"/>
              </a:rPr>
              <a:t>├── 01_originals\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2100" b="0" i="0" lang="en-US">
                <a:solidFill>
                  <a:srgbClr val="64CAAD"/>
                </a:solidFill>
                <a:latin typeface="Consolas"/>
                <a:ea typeface="Consolas"/>
                <a:cs typeface="Rubik"/>
              </a:rPr>
              <a:t>├── 02_organized\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2100" b="0" i="0" lang="en-US">
                <a:solidFill>
                  <a:srgbClr val="64CAAD"/>
                </a:solidFill>
                <a:latin typeface="Consolas"/>
                <a:ea typeface="Consolas"/>
                <a:cs typeface="Rubik"/>
              </a:rPr>
              <a:t>├── 03_reports\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21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├── CLAUDE.md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21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└── .claude\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2815" y="1600200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0">
              <a:lnSpc>
                <a:spcPct val="110000"/>
              </a:lnSpc>
            </a:pPr>
            <a:r>
              <a:rPr sz="1500" b="1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01_originals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572768"/>
            <a:ext cx="3870655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מקורות, ללא שינוי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22815" y="2167127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0">
              <a:lnSpc>
                <a:spcPct val="110000"/>
              </a:lnSpc>
            </a:pPr>
            <a:r>
              <a:rPr sz="1500" b="1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02_organized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139696"/>
            <a:ext cx="3870655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עותקים מסודרים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22815" y="2734056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0">
              <a:lnSpc>
                <a:spcPct val="110000"/>
              </a:lnSpc>
            </a:pPr>
            <a:r>
              <a:rPr sz="1500" b="1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03_reports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706624"/>
            <a:ext cx="3870655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דוחות ותוצרים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22815" y="3300983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0">
              <a:lnSpc>
                <a:spcPct val="110000"/>
              </a:lnSpc>
            </a:pPr>
            <a:r>
              <a:rPr sz="1500" b="1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CLAUDE.md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273551"/>
            <a:ext cx="3870655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הוראות קבועות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22815" y="3867911"/>
            <a:ext cx="1920240" cy="40233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0">
              <a:lnSpc>
                <a:spcPct val="110000"/>
              </a:lnSpc>
            </a:pPr>
            <a:r>
              <a:rPr sz="1500" b="1" i="0" lang="en-US">
                <a:solidFill>
                  <a:srgbClr val="0A1A33"/>
                </a:solidFill>
                <a:latin typeface="Rubik"/>
                <a:ea typeface="Rubik"/>
                <a:cs typeface="Rubik"/>
              </a:rPr>
              <a:t>.claude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840479"/>
            <a:ext cx="3870655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סקילים וסוכנים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E8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69903" y="4709160"/>
            <a:ext cx="73152" cy="118872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18888"/>
            <a:ext cx="1068293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בקשה ל־Claude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48072"/>
            <a:ext cx="10682935" cy="6858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צור בתיקייה הזו שלוש תיקיות: ‎01_originals‎, ‎02_organized‎ ו־‎03_reports‎.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10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23" name="Picture 2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איך זה עובד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ההקשר של השיחה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7796" y="16459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02116" y="1901952"/>
            <a:ext cx="2966618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השיחה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02116" y="2377440"/>
            <a:ext cx="2966618" cy="8686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2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נשמרת רק בתוך אותה שיחה</a:t>
            </a:r>
          </a:p>
        </p:txBody>
      </p:sp>
      <p:sp>
        <p:nvSpPr>
          <p:cNvPr id="8" name="Rectangle 7"/>
          <p:cNvSpPr/>
          <p:nvPr/>
        </p:nvSpPr>
        <p:spPr>
          <a:xfrm>
            <a:off x="8402116" y="1645920"/>
            <a:ext cx="2966618" cy="64008"/>
          </a:xfrm>
          <a:prstGeom prst="rect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8218" y="16459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2538" y="1901952"/>
            <a:ext cx="2966618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קבצים שנשמרו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538" y="2377440"/>
            <a:ext cx="2966618" cy="8686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2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נשארים בתיקייה לשיחה הבאה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2538" y="1645920"/>
            <a:ext cx="2966618" cy="64008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39" y="16459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1901952"/>
            <a:ext cx="2966618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‎CLAUDE.md‎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377440"/>
            <a:ext cx="2966618" cy="8686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2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נטען בתחילת כל שיחה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1645920"/>
            <a:ext cx="2966618" cy="64008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11094415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חוזרים להמשך עבודה? מתחילים כך: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43400"/>
            <a:ext cx="11094415" cy="1280160"/>
          </a:xfrm>
          <a:prstGeom prst="roundRect">
            <a:avLst>
              <a:gd name="adj" fmla="val 5000"/>
            </a:avLst>
          </a:prstGeom>
          <a:solidFill>
            <a:srgbClr val="E8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69903" y="4343400"/>
            <a:ext cx="73152" cy="128016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53128"/>
            <a:ext cx="1068293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בקשה ל־Claude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82312"/>
            <a:ext cx="10682935" cy="777239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קרא את הקבצים ב־‎03_reports‎ וסכם בקצרה מה הושלם ומה עוד פתוח.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11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23" name="Picture 2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איך זה עובד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קובץ ההוראות ‎CLAUDE.md‎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77639" y="429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בצעו עכשיו במחשב</a:t>
            </a:r>
          </a:p>
        </p:txBody>
      </p:sp>
      <p:pic>
        <p:nvPicPr>
          <p:cNvPr id="6" name="Picture 5" descr="pose-whit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00200"/>
            <a:ext cx="3155511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977639" y="1554480"/>
            <a:ext cx="7665415" cy="342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4D6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7639" y="1554480"/>
            <a:ext cx="7665415" cy="45720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618488"/>
            <a:ext cx="2743200" cy="329184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l">
              <a:lnSpc>
                <a:spcPct val="110000"/>
              </a:lnSpc>
              <a:spcAft>
                <a:spcPts val="600"/>
              </a:spcAft>
            </a:pPr>
            <a:r>
              <a:rPr sz="14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176272"/>
            <a:ext cx="7025335" cy="2743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# הוראות לתיק הלקוח</a:t>
            </a:r>
          </a:p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- כתוב תמיד בעברית.</a:t>
            </a:r>
          </a:p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- אל תשנה קבצים ב־‎01_originals‎.</a:t>
            </a:r>
          </a:p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- לכל נתון ציין את קובץ המקור.</a:t>
            </a:r>
          </a:p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- מידע חסר: סמן „חסר”. סתירה: הצג את שני המקורות.</a:t>
            </a:r>
          </a:p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- שמור תוצרים ב־‎03_reports‎.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5166360"/>
            <a:ext cx="7665415" cy="914400"/>
          </a:xfrm>
          <a:prstGeom prst="roundRect">
            <a:avLst>
              <a:gd name="adj" fmla="val 5000"/>
            </a:avLst>
          </a:prstGeom>
          <a:solidFill>
            <a:srgbClr val="E8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69903" y="5166360"/>
            <a:ext cx="73152" cy="9144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5276088"/>
            <a:ext cx="725393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בקשה ל־Claude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5605272"/>
            <a:ext cx="7253935" cy="411479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צור בתיקייה קובץ ‎CLAUDE.md‎ עם ההוראות שבשקף, בדיוק כך.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12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איך זה עובד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ניסוח בקשה והרשאות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06611" y="1554480"/>
            <a:ext cx="2636443" cy="54864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900" b="1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משימה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7287" y="1554480"/>
            <a:ext cx="2636443" cy="54864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900" b="1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חומרי מקור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3" y="1554480"/>
            <a:ext cx="2636443" cy="54864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900" b="1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תוצר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39" y="1554480"/>
            <a:ext cx="2636443" cy="54864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900" b="1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מגבלות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468880"/>
            <a:ext cx="6156655" cy="3429000"/>
          </a:xfrm>
          <a:prstGeom prst="roundRect">
            <a:avLst>
              <a:gd name="adj" fmla="val 5000"/>
            </a:avLst>
          </a:prstGeom>
          <a:solidFill>
            <a:srgbClr val="E8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69903" y="2468880"/>
            <a:ext cx="73152" cy="34290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578608"/>
            <a:ext cx="574517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דוגמה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907792"/>
            <a:ext cx="5745175" cy="2926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משימה: </a:t>
            </a: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הכן תוכנית לסידור התיק.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מקור: </a:t>
            </a: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הקבצים ב־‎01_originals‎.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תוצר: </a:t>
            </a: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טבלה עם שם מוצע לכל קובץ.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מגבלות: </a:t>
            </a: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אל תשנה קבצים. רק הצג את התוכנית.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468880"/>
          <a:ext cx="4572000" cy="2267712"/>
        </p:xfrm>
        <a:graphic>
          <a:graphicData uri="http://schemas.openxmlformats.org/drawingml/2006/table">
            <a:tbl>
              <a:tblPr firstRow="1" bandRow="0" rtl="1">
                <a:tableStyleId>{5940675A-B579-460E-94D1-54222C63F5DA}</a:tableStyleId>
              </a:tblPr>
              <a:tblGrid>
                <a:gridCol w="1965960"/>
                <a:gridCol w="2606040"/>
              </a:tblGrid>
              <a:tr h="566928"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מצב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מה קורה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Manual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שואל לפני כל שינוי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Plan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מציע תוכנית, בלי לערוך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Accept edits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עורך בלי לשאול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4937760"/>
            <a:ext cx="457200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בתרגול: Plan או 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13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16" name="Picture 15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תרגול: תיק לקוח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תיק הלקוח הפיקטיבי: משפחת לוי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pose-b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19"/>
            <a:ext cx="1894304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47507" y="1600200"/>
            <a:ext cx="3695547" cy="146304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1827" y="1801368"/>
            <a:ext cx="3146907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שאלון לקוח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1827" y="2240280"/>
            <a:ext cx="3146907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סכום מבוקש: 1,200,000 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1827" y="2606040"/>
            <a:ext cx="3146907" cy="3200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r">
              <a:lnSpc>
                <a:spcPct val="110000"/>
              </a:lnSpc>
              <a:spcAft>
                <a:spcPts val="600"/>
              </a:spcAft>
            </a:pPr>
            <a:r>
              <a:rPr sz="1300" b="0" i="0" lang="en-US">
                <a:solidFill>
                  <a:srgbClr val="8D9299"/>
                </a:solidFill>
                <a:latin typeface="Consolas"/>
                <a:ea typeface="Consolas"/>
                <a:cs typeface="Rubik"/>
              </a:rPr>
              <a:t>doc1.txt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40" y="1600200"/>
            <a:ext cx="3695547" cy="146304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801368"/>
            <a:ext cx="3146907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סיכום שיחה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240280"/>
            <a:ext cx="3146907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סכום מבוקש: 1,300,000 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606040"/>
            <a:ext cx="3146907" cy="3200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r">
              <a:lnSpc>
                <a:spcPct val="110000"/>
              </a:lnSpc>
              <a:spcAft>
                <a:spcPts val="600"/>
              </a:spcAft>
            </a:pPr>
            <a:r>
              <a:rPr sz="1300" b="0" i="0" lang="en-US">
                <a:solidFill>
                  <a:srgbClr val="8D9299"/>
                </a:solidFill>
                <a:latin typeface="Consolas"/>
                <a:ea typeface="Consolas"/>
                <a:cs typeface="Rubik"/>
              </a:rPr>
              <a:t>notes.txt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7507" y="3337560"/>
            <a:ext cx="3695547" cy="146304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1827" y="3538728"/>
            <a:ext cx="3146907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נתוני הכנסה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1827" y="3977640"/>
            <a:ext cx="3146907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נטו לחודש: 14,500 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1827" y="4343400"/>
            <a:ext cx="3146907" cy="3200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r">
              <a:lnSpc>
                <a:spcPct val="110000"/>
              </a:lnSpc>
              <a:spcAft>
                <a:spcPts val="600"/>
              </a:spcAft>
            </a:pPr>
            <a:r>
              <a:rPr sz="1300" b="0" i="0" lang="en-US">
                <a:solidFill>
                  <a:srgbClr val="8D9299"/>
                </a:solidFill>
                <a:latin typeface="Consolas"/>
                <a:ea typeface="Consolas"/>
                <a:cs typeface="Rubik"/>
              </a:rPr>
              <a:t>scan_0012.txt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40" y="3337560"/>
            <a:ext cx="3695547" cy="146304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3538728"/>
            <a:ext cx="3146907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התחייבויות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977640"/>
            <a:ext cx="3146907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החזר חודשי: 1,150 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343400"/>
            <a:ext cx="3146907" cy="3200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r">
              <a:lnSpc>
                <a:spcPct val="110000"/>
              </a:lnSpc>
              <a:spcAft>
                <a:spcPts val="600"/>
              </a:spcAft>
            </a:pPr>
            <a:r>
              <a:rPr sz="1300" b="0" i="0" lang="en-US">
                <a:solidFill>
                  <a:srgbClr val="8D9299"/>
                </a:solidFill>
                <a:latin typeface="Consolas"/>
                <a:ea typeface="Consolas"/>
                <a:cs typeface="Rubik"/>
              </a:rPr>
              <a:t>new file.txt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9855" y="525780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7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חסר: דפי עו״ש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82335" y="525780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7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סתירה: סכום הבקשה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14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תרגול: תיק לקוח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יצירת חומרי התרגול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29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בצעו עכשיו במחשב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4572000"/>
          </a:xfrm>
          <a:prstGeom prst="roundRect">
            <a:avLst>
              <a:gd name="adj" fmla="val 5000"/>
            </a:avLst>
          </a:prstGeom>
          <a:solidFill>
            <a:srgbClr val="E8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69903" y="1463040"/>
            <a:ext cx="73152" cy="45720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1068293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העתיקו כמו שהיא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10682935" cy="4069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צור ב־‎01_originals‎ חמישה קובצי טקסט פיקטיביים. בשורה הראשונה של כל קובץ: „לתרגול בלבד, נתונים פיקטיביים”.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1. ‎doc1.txt‎</a:t>
            </a: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: שאלון. משה לוי, רכישת דירה, מחיר 1,900,000 ₪, הון עצמי 700,000 ₪, סכום מבוקש 1,200,000 ₪.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2. ‎notes.txt‎</a:t>
            </a: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: סיכום שיחה מ־12.10.2026. הלקוח ביקש 1,300,000 ₪, דפי העו״ש יישלחו בהמשך.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3. ‎scan_0012.txt‎</a:t>
            </a: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: הכנסה. שכיר, נטו 14,500 ₪ לחודש.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4. new ‎file.txt‎</a:t>
            </a: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: התחייבויות. הלוואת רכב, יתרה 38,000 ₪, החזר 1,150 ₪.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5. ‎doc1_copy.txt‎</a:t>
            </a: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: עותק זהה של ‎doc1.txt‎.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אל תיצור קובץ דפי עו״ש. אל תוסיף נתונים שלא ביקשתי.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15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11" name="Picture 10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תרגול: תיק לקוח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מיפוי הקבצים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77639" y="429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בצעו עכשיו במחשב</a:t>
            </a:r>
          </a:p>
        </p:txBody>
      </p:sp>
      <p:pic>
        <p:nvPicPr>
          <p:cNvPr id="6" name="Picture 5" descr="pose-pres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3008542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977639" y="1554480"/>
            <a:ext cx="7665415" cy="2971800"/>
          </a:xfrm>
          <a:prstGeom prst="roundRect">
            <a:avLst>
              <a:gd name="adj" fmla="val 5000"/>
            </a:avLst>
          </a:prstGeom>
          <a:solidFill>
            <a:srgbClr val="E8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9903" y="1554480"/>
            <a:ext cx="73152" cy="29718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664207"/>
            <a:ext cx="725393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בקשה ל־Claude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993391"/>
            <a:ext cx="7253935" cy="24688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קרא את כל הקבצים ב־‎01_originals‎.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צור טבלה: שם קובץ, סוג מסמך, תקציר.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סמן קבצים שלא נקראו וקבצים כפולים.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אל תשנה קבצים. שמור ב־‎03_reports/file_list.md‎.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4892040"/>
            <a:ext cx="7665415" cy="86868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4892040"/>
            <a:ext cx="7116775" cy="86868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בדיקה בסייר הקבצים: </a:t>
            </a: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5 קבצים = 5 שורות בטבלה.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16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תרגול: תיק לקוח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תוכנית הסידור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29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בצעו עכשיו במחשב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4413" cy="3072384"/>
        </p:xfrm>
        <a:graphic>
          <a:graphicData uri="http://schemas.openxmlformats.org/drawingml/2006/table">
            <a:tbl>
              <a:tblPr firstRow="1" bandRow="0" rtl="1">
                <a:tableStyleId>{5940675A-B579-460E-94D1-54222C63F5DA}</a:tableStyleId>
              </a:tblPr>
              <a:tblGrid>
                <a:gridCol w="3328324"/>
                <a:gridCol w="2662659"/>
                <a:gridCol w="5103430"/>
              </a:tblGrid>
              <a:tr h="512064"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קובץ מקורי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קטגוריה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שם חדש מוצע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doc1.txt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שאלון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01_questionnaire.txt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notes.txt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שיחה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02_call_summary.txt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scan_0012.txt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הכנסה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03_income.txt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new file.txt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התחייבויות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04_liabilities.txt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doc1_copy.txt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כפילות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לא מעתיקים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DF5E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27796" y="4754880"/>
            <a:ext cx="3515258" cy="118872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02116" y="5010912"/>
            <a:ext cx="2966618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קובץ לא מזוהה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2116" y="5486400"/>
            <a:ext cx="2966618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2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לא מנחשים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4754880"/>
            <a:ext cx="3515258" cy="118872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2538" y="5010912"/>
            <a:ext cx="2966618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כפילות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2538" y="5486400"/>
            <a:ext cx="2966618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2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מעתיקים פעם אחת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39" y="4754880"/>
            <a:ext cx="3515258" cy="118872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010912"/>
            <a:ext cx="2966618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לפני ביצוע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486400"/>
            <a:ext cx="2966618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2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קוראים ומאשרים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17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17" name="Picture 16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תרגול: תיק לקוח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ארגון המסמכים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77639" y="429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בצעו עכשיו במחשב</a:t>
            </a:r>
          </a:p>
        </p:txBody>
      </p:sp>
      <p:pic>
        <p:nvPicPr>
          <p:cNvPr id="6" name="Picture 5" descr="art-princ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39"/>
            <a:ext cx="3404753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977639" y="1554480"/>
            <a:ext cx="7665415" cy="2103120"/>
          </a:xfrm>
          <a:prstGeom prst="roundRect">
            <a:avLst>
              <a:gd name="adj" fmla="val 5000"/>
            </a:avLst>
          </a:prstGeom>
          <a:solidFill>
            <a:srgbClr val="E8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9903" y="1554480"/>
            <a:ext cx="73152" cy="210312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664207"/>
            <a:ext cx="725393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בקשה ל־Claude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993391"/>
            <a:ext cx="7253935" cy="1600199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בצע את התוכנית שאישרתי: העתק את הקבצים ל־‎02_organized‎ בשמות החדשים.</a:t>
            </a:r>
          </a:p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אל תעביר ואל תמחק מקורות. צור את ‎03_reports/name_map.md‎.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3886200"/>
            <a:ext cx="7665415" cy="2103120"/>
          </a:xfrm>
          <a:prstGeom prst="roundRect">
            <a:avLst>
              <a:gd name="adj" fmla="val 6000"/>
            </a:avLst>
          </a:prstGeom>
          <a:solidFill>
            <a:srgbClr val="0A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3977639"/>
            <a:ext cx="729965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64CAAD"/>
                </a:solidFill>
                <a:latin typeface="Rubik"/>
                <a:ea typeface="Rubik"/>
                <a:cs typeface="Rubik"/>
              </a:rPr>
              <a:t>אחרי הביצוע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297680"/>
            <a:ext cx="7391095" cy="1618487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64CAAD"/>
                </a:solidFill>
                <a:latin typeface="Consolas"/>
                <a:ea typeface="Consolas"/>
                <a:cs typeface="Rubik"/>
              </a:rPr>
              <a:t>02_organized\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  01_questionnaire.txt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  02_call_summary.txt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  03_income.txt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  04_liabilities.txt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18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תרגול: תיק לקוח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חילוץ נתונים עם מקורות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29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בצעו עכשיו במחשב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94413" cy="3200400"/>
        </p:xfrm>
        <a:graphic>
          <a:graphicData uri="http://schemas.openxmlformats.org/drawingml/2006/table">
            <a:tbl>
              <a:tblPr firstRow="1" bandRow="0" rtl="1">
                <a:tableStyleId>{5940675A-B579-460E-94D1-54222C63F5DA}</a:tableStyleId>
              </a:tblPr>
              <a:tblGrid>
                <a:gridCol w="2430205"/>
                <a:gridCol w="2747188"/>
                <a:gridCol w="3169832"/>
                <a:gridCol w="2747188"/>
              </a:tblGrid>
              <a:tr h="457200"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נושא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נתון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מקור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הערה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מחיר הנכס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1,900,000 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01_questionnaire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סכום מבוקש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1,200,000 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01_questionnaire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סתירה, לבירור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DF5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סכום מבוקש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1,300,000 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02_call_summary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סתירה, לבירור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DF5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הכנסה נטו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14,500 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03_income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החזר הלוואה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1,150 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>04_liabilities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דפי עו״ש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לא נמצא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0" algn="l"/>
                      <a:r>
                        <a:rPr sz="1700" b="0" i="0" lang="en-US">
                          <a:solidFill>
                            <a:srgbClr val="0A1A33"/>
                          </a:solidFill>
                          <a:latin typeface="Consolas"/>
                          <a:ea typeface="Consolas"/>
                          <a:cs typeface="Rubik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DF5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7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חסר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DF5E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937760"/>
            <a:ext cx="11094415" cy="1051560"/>
          </a:xfrm>
          <a:prstGeom prst="roundRect">
            <a:avLst>
              <a:gd name="adj" fmla="val 5000"/>
            </a:avLst>
          </a:prstGeom>
          <a:solidFill>
            <a:srgbClr val="E8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69903" y="4937760"/>
            <a:ext cx="73152" cy="105156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47488"/>
            <a:ext cx="1068293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בקשה ל־Claude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76672"/>
            <a:ext cx="10682935" cy="548639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7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חלץ לטבלה: נושא, נתון, מקור, הערה. הפרד בין מה שנמצא למה שחסר. שמור ב־‎03_reports/data_summary.md‎.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19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12" name="Picture 1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תרגול: תיק לקוח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מסמכים חסרים ונתונים סותרים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pose-conf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19"/>
            <a:ext cx="2437458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93227" y="1600200"/>
            <a:ext cx="3649827" cy="192024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67547" y="1755648"/>
            <a:ext cx="3101187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לפי השאלון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67547" y="2212848"/>
            <a:ext cx="3101187" cy="640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200" b="1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1,200,000 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7547" y="2971800"/>
            <a:ext cx="3101187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r">
              <a:lnSpc>
                <a:spcPct val="110000"/>
              </a:lnSpc>
              <a:spcAft>
                <a:spcPts val="600"/>
              </a:spcAft>
            </a:pPr>
            <a:r>
              <a:rPr sz="1300" b="0" i="0" lang="en-US">
                <a:solidFill>
                  <a:srgbClr val="8D9299"/>
                </a:solidFill>
                <a:latin typeface="Consolas"/>
                <a:ea typeface="Consolas"/>
                <a:cs typeface="Rubik"/>
              </a:rPr>
              <a:t>01_questionnaire.txt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600200"/>
            <a:ext cx="3649827" cy="192024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755648"/>
            <a:ext cx="3101187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לפי סיכום השיחה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212848"/>
            <a:ext cx="3101187" cy="640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200" b="1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1,300,000 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971800"/>
            <a:ext cx="3101187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r">
              <a:lnSpc>
                <a:spcPct val="110000"/>
              </a:lnSpc>
              <a:spcAft>
                <a:spcPts val="600"/>
              </a:spcAft>
            </a:pPr>
            <a:r>
              <a:rPr sz="1300" b="0" i="0" lang="en-US">
                <a:solidFill>
                  <a:srgbClr val="8D9299"/>
                </a:solidFill>
                <a:latin typeface="Consolas"/>
                <a:ea typeface="Consolas"/>
                <a:cs typeface="Rubik"/>
              </a:rPr>
              <a:t>02_call_summary.txt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24547" y="3310128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E0A72E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לבירור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886200"/>
            <a:ext cx="7665415" cy="9144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3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לא בוחרים מספר. מציגים את שני המקורות ומסמנים לבירור.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4983480"/>
            <a:ext cx="7665415" cy="868680"/>
          </a:xfrm>
          <a:prstGeom prst="roundRect">
            <a:avLst>
              <a:gd name="adj" fmla="val 10000"/>
            </a:avLst>
          </a:prstGeom>
          <a:solidFill>
            <a:srgbClr val="FDF0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59" y="4983480"/>
            <a:ext cx="7116775" cy="86868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חסר: </a:t>
            </a: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דפי עו״ש. נכנסים לרשימת החוסרים ולשאלות ללקוח.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20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תרגול: תיק לקוח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טיוטת התיק לקראת פנייה לבנק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29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בצעו עכשיו במחשב</a:t>
            </a:r>
          </a:p>
        </p:txBody>
      </p:sp>
      <p:sp>
        <p:nvSpPr>
          <p:cNvPr id="6" name="Oval 5"/>
          <p:cNvSpPr/>
          <p:nvPr/>
        </p:nvSpPr>
        <p:spPr>
          <a:xfrm>
            <a:off x="11204143" y="1600200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5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1581912"/>
            <a:ext cx="2468880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פרטי התיק</a:t>
            </a:r>
          </a:p>
        </p:txBody>
      </p:sp>
      <p:sp>
        <p:nvSpPr>
          <p:cNvPr id="8" name="Oval 7"/>
          <p:cNvSpPr/>
          <p:nvPr/>
        </p:nvSpPr>
        <p:spPr>
          <a:xfrm>
            <a:off x="11204143" y="2350008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5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535" y="2331720"/>
            <a:ext cx="2468880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מטרת הפנייה</a:t>
            </a:r>
          </a:p>
        </p:txBody>
      </p:sp>
      <p:sp>
        <p:nvSpPr>
          <p:cNvPr id="10" name="Oval 9"/>
          <p:cNvSpPr/>
          <p:nvPr/>
        </p:nvSpPr>
        <p:spPr>
          <a:xfrm>
            <a:off x="11204143" y="3099815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5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5535" y="3081527"/>
            <a:ext cx="2468880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נתונים</a:t>
            </a:r>
          </a:p>
        </p:txBody>
      </p:sp>
      <p:sp>
        <p:nvSpPr>
          <p:cNvPr id="12" name="Oval 11"/>
          <p:cNvSpPr/>
          <p:nvPr/>
        </p:nvSpPr>
        <p:spPr>
          <a:xfrm>
            <a:off x="11204143" y="3849624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5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5535" y="3831336"/>
            <a:ext cx="2468880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מסמכים</a:t>
            </a:r>
          </a:p>
        </p:txBody>
      </p:sp>
      <p:sp>
        <p:nvSpPr>
          <p:cNvPr id="14" name="Oval 13"/>
          <p:cNvSpPr/>
          <p:nvPr/>
        </p:nvSpPr>
        <p:spPr>
          <a:xfrm>
            <a:off x="8003743" y="1600200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5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5135" y="1581912"/>
            <a:ext cx="2468880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חוסרים</a:t>
            </a:r>
          </a:p>
        </p:txBody>
      </p:sp>
      <p:sp>
        <p:nvSpPr>
          <p:cNvPr id="16" name="Oval 15"/>
          <p:cNvSpPr/>
          <p:nvPr/>
        </p:nvSpPr>
        <p:spPr>
          <a:xfrm>
            <a:off x="8003743" y="2350008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5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5135" y="2331720"/>
            <a:ext cx="2468880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שאלות לבירור</a:t>
            </a:r>
          </a:p>
        </p:txBody>
      </p:sp>
      <p:sp>
        <p:nvSpPr>
          <p:cNvPr id="18" name="Oval 17"/>
          <p:cNvSpPr/>
          <p:nvPr/>
        </p:nvSpPr>
        <p:spPr>
          <a:xfrm>
            <a:off x="8003743" y="3099815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5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5135" y="3081527"/>
            <a:ext cx="2468880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554480"/>
            <a:ext cx="4572000" cy="3063240"/>
          </a:xfrm>
          <a:prstGeom prst="roundRect">
            <a:avLst>
              <a:gd name="adj" fmla="val 5000"/>
            </a:avLst>
          </a:prstGeom>
          <a:solidFill>
            <a:srgbClr val="E8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554480"/>
            <a:ext cx="73152" cy="306324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1664207"/>
            <a:ext cx="4160520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בקשה ל־Claude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993391"/>
            <a:ext cx="4160520" cy="25603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הכן טיוטה לפי שבעת החלקים, רק מתוך ‎data_summary.md‎. בראש הקובץ: „טיוטה לבדיקת היועץ”. שמור ב־‎03_reports/draft.md‎.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83480"/>
            <a:ext cx="11094415" cy="86868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983480"/>
            <a:ext cx="10545775" cy="86868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טיוטה לבדיקת היועץ. </a:t>
            </a: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לא אישור מקצועי, לא המלצת אשראי, ולא נשלחת לבנק אוטומטית.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21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27" name="Picture 26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תרגול: תיק לקוח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בדיקת הטיוטה ותיקון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77639" y="429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בצעו עכשיו במחשב</a:t>
            </a:r>
          </a:p>
        </p:txBody>
      </p:sp>
      <p:pic>
        <p:nvPicPr>
          <p:cNvPr id="6" name="Picture 5" descr="pose-magnif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19"/>
            <a:ext cx="2159148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259007" y="1655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64CA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600200"/>
            <a:ext cx="6933895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סכומים תואמים למקור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259007" y="227685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64CA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2221992"/>
            <a:ext cx="6933895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תאריכים נכונים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59007" y="28986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64CA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843784"/>
            <a:ext cx="6933895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לכל נתון יש מקור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59007" y="352044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64CA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3465576"/>
            <a:ext cx="6933895" cy="4572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חוסרים ושאלות מופיעים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4206240"/>
            <a:ext cx="7665415" cy="1783080"/>
          </a:xfrm>
          <a:prstGeom prst="roundRect">
            <a:avLst>
              <a:gd name="adj" fmla="val 5000"/>
            </a:avLst>
          </a:prstGeom>
          <a:solidFill>
            <a:srgbClr val="E8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69903" y="4206240"/>
            <a:ext cx="73152" cy="178308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4315968"/>
            <a:ext cx="725393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בקשה ל־Claude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645152"/>
            <a:ext cx="7253935" cy="12801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בדוק שכל סכום ותאריך בטיוטה מופיע בקובץ המקור. תקן מה שלא תואם, ופרט מה שינית.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22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64CAAD"/>
                </a:solidFill>
                <a:latin typeface="Rubik"/>
                <a:ea typeface="Rubik"/>
                <a:cs typeface="Rubik"/>
              </a:rPr>
              <a:t>סקילים וסוכני משנה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מהו סקיל (Skill)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4415" cy="640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הוראות כתובות לתהליך שחוזר, שמפעילים שוב בכל תיק.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796" y="2606040"/>
            <a:ext cx="3515258" cy="141732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02116" y="2788920"/>
            <a:ext cx="2966618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64CAAD"/>
                </a:solidFill>
                <a:latin typeface="Rubik"/>
                <a:ea typeface="Rubik"/>
                <a:cs typeface="Rubik"/>
              </a:rPr>
              <a:t>‎SKILL.md‎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2116" y="3291840"/>
            <a:ext cx="2966618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D4D6D8"/>
                </a:solidFill>
                <a:latin typeface="Rubik"/>
                <a:ea typeface="Rubik"/>
                <a:cs typeface="Rubik"/>
              </a:rPr>
              <a:t>השלבים והכללים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606040"/>
            <a:ext cx="3515258" cy="141732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2538" y="2788920"/>
            <a:ext cx="2966618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64CAAD"/>
                </a:solidFill>
                <a:latin typeface="Rubik"/>
                <a:ea typeface="Rubik"/>
                <a:cs typeface="Rubik"/>
              </a:rPr>
              <a:t>קבצי עזר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538" y="3291840"/>
            <a:ext cx="2966618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D4D6D8"/>
                </a:solidFill>
                <a:latin typeface="Rubik"/>
                <a:ea typeface="Rubik"/>
                <a:cs typeface="Rubik"/>
              </a:rPr>
              <a:t>תבניות ודוגמאות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39" y="2606040"/>
            <a:ext cx="3515258" cy="1417320"/>
          </a:xfrm>
          <a:prstGeom prst="roundRect">
            <a:avLst>
              <a:gd name="adj" fmla="val 8000"/>
            </a:avLst>
          </a:prstGeom>
          <a:solidFill>
            <a:srgbClr val="142A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2966618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64CAAD"/>
                </a:solidFill>
                <a:latin typeface="Rubik"/>
                <a:ea typeface="Rubik"/>
                <a:cs typeface="Rubik"/>
              </a:rPr>
              <a:t>הפעלה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291840"/>
            <a:ext cx="2966618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D4D6D8"/>
                </a:solidFill>
                <a:latin typeface="Rubik"/>
                <a:ea typeface="Rubik"/>
                <a:cs typeface="Rubik"/>
              </a:rPr>
              <a:t>פקודה עם שם הסקיל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11094415" cy="1097280"/>
          </a:xfrm>
          <a:prstGeom prst="roundRect">
            <a:avLst>
              <a:gd name="adj" fmla="val 6000"/>
            </a:avLst>
          </a:prstGeom>
          <a:solidFill>
            <a:srgbClr val="142A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44568"/>
            <a:ext cx="10820095" cy="914399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20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.claude\skills\prepare-bank-file\SKILL.md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23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סקילים וסוכני משנה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סקיל לדוגמה: הכנת תיק לבנק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59293" y="1600200"/>
            <a:ext cx="548640" cy="548640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20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7773" y="2240280"/>
            <a:ext cx="2011680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מיפוי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26210" y="1874519"/>
            <a:ext cx="1395923" cy="0"/>
          </a:xfrm>
          <a:prstGeom prst="line">
            <a:avLst/>
          </a:prstGeom>
          <a:ln w="31750">
            <a:solidFill>
              <a:srgbClr val="64C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040410" y="1600200"/>
            <a:ext cx="548640" cy="548640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20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890" y="2240280"/>
            <a:ext cx="2011680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ארגון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07327" y="1874519"/>
            <a:ext cx="1395923" cy="0"/>
          </a:xfrm>
          <a:prstGeom prst="line">
            <a:avLst/>
          </a:prstGeom>
          <a:ln w="31750">
            <a:solidFill>
              <a:srgbClr val="64C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821527" y="1600200"/>
            <a:ext cx="548640" cy="548640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20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0007" y="2240280"/>
            <a:ext cx="2011680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חילוץ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88444" y="1874519"/>
            <a:ext cx="1395923" cy="0"/>
          </a:xfrm>
          <a:prstGeom prst="line">
            <a:avLst/>
          </a:prstGeom>
          <a:ln w="31750">
            <a:solidFill>
              <a:srgbClr val="64C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602644" y="1600200"/>
            <a:ext cx="548640" cy="548640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20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124" y="2240280"/>
            <a:ext cx="2011680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חוסרים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69561" y="1874519"/>
            <a:ext cx="1395923" cy="0"/>
          </a:xfrm>
          <a:prstGeom prst="line">
            <a:avLst/>
          </a:prstGeom>
          <a:ln w="31750">
            <a:solidFill>
              <a:srgbClr val="64CA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383761" y="1600200"/>
            <a:ext cx="548640" cy="548640"/>
          </a:xfrm>
          <a:prstGeom prst="ellipse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41" y="2240280"/>
            <a:ext cx="2011680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ct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טיוטה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17520"/>
            <a:ext cx="5120640" cy="2926080"/>
          </a:xfrm>
          <a:prstGeom prst="roundRect">
            <a:avLst>
              <a:gd name="adj" fmla="val 6000"/>
            </a:avLst>
          </a:prstGeom>
          <a:solidFill>
            <a:srgbClr val="0A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4754879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64CAAD"/>
                </a:solidFill>
                <a:latin typeface="Rubik"/>
                <a:ea typeface="Rubik"/>
                <a:cs typeface="Rubik"/>
              </a:rPr>
              <a:t>ראש הקובץ ‎SKILL.md‎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4846320" cy="244144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---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name: prepare-bank-file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description: הכנת תיק לבנק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  לבדיקת היועץ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disable-model-invocation: true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---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5425135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כללים קבועים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66160"/>
            <a:ext cx="5425135" cy="23774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12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 המקורות לא משתנים</a:t>
            </a:r>
          </a:p>
          <a:p>
            <a:pPr rtl="1" algn="r">
              <a:lnSpc>
                <a:spcPct val="110000"/>
              </a:lnSpc>
              <a:spcAft>
                <a:spcPts val="12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 לכל נתון יש מקור</a:t>
            </a:r>
          </a:p>
          <a:p>
            <a:pPr rtl="1" algn="r">
              <a:lnSpc>
                <a:spcPct val="110000"/>
              </a:lnSpc>
              <a:spcAft>
                <a:spcPts val="12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 חוסרים וסתירות מסומנים</a:t>
            </a:r>
          </a:p>
          <a:p>
            <a:pPr rtl="1" algn="r">
              <a:lnSpc>
                <a:spcPct val="110000"/>
              </a:lnSpc>
              <a:spcAft>
                <a:spcPts val="12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•  הטיוטה לבדיקת היועץ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24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25" name="Picture 24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סקילים וסוכני משנה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יצירת סקיל מתוך התרגול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2976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45720" rIns="4572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3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בצעו עכשיו במחשב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94415" cy="1691640"/>
          </a:xfrm>
          <a:prstGeom prst="roundRect">
            <a:avLst>
              <a:gd name="adj" fmla="val 5000"/>
            </a:avLst>
          </a:prstGeom>
          <a:solidFill>
            <a:srgbClr val="E8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69903" y="1554480"/>
            <a:ext cx="73152" cy="169164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4207"/>
            <a:ext cx="1068293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בקשה ל־Claude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3391"/>
            <a:ext cx="10682935" cy="11887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שמור את התהליך שעשינו היום כסקיל בפרויקט בשם ‎prepare-bank-file‎, עם הכללים מ־‎CLAUDE.md‎. הסקיל יופעל רק כשאני מבקש. אל תריץ אותו עכשיו.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611880"/>
            <a:ext cx="533369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איפה הוא נשמר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069080"/>
            <a:ext cx="5333695" cy="685800"/>
          </a:xfrm>
          <a:prstGeom prst="roundRect">
            <a:avLst>
              <a:gd name="adj" fmla="val 6000"/>
            </a:avLst>
          </a:prstGeom>
          <a:solidFill>
            <a:srgbClr val="0A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78808"/>
            <a:ext cx="5059375" cy="502919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5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.claude/skills/prepare-bank-file/SKILL.md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11880"/>
            <a:ext cx="5212080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איך מפעילים אותו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5212080" cy="685800"/>
          </a:xfrm>
          <a:prstGeom prst="roundRect">
            <a:avLst>
              <a:gd name="adj" fmla="val 6000"/>
            </a:avLst>
          </a:prstGeom>
          <a:solidFill>
            <a:srgbClr val="0A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78808"/>
            <a:ext cx="4937760" cy="502919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22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/prepare-bank-file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כותבים ‎/‎ בתיבת ההוראות, או לוחצים ‎+‎ ואז Slash commands.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25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18" name="Picture 17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סקילים וסוכני משנה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מהו סוכן משנה (Subagent)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character-ar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4519"/>
            <a:ext cx="3447736" cy="44805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1185855" y="1618488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581912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משימה ממוקדת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984248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למשל: בדיקת הטיוטה</a:t>
            </a:r>
          </a:p>
        </p:txBody>
      </p:sp>
      <p:sp>
        <p:nvSpPr>
          <p:cNvPr id="9" name="Oval 8"/>
          <p:cNvSpPr/>
          <p:nvPr/>
        </p:nvSpPr>
        <p:spPr>
          <a:xfrm>
            <a:off x="11185855" y="2487168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450592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הקשר נפרד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852928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מחזיר לשיחה רק סיכום</a:t>
            </a:r>
          </a:p>
        </p:txBody>
      </p:sp>
      <p:sp>
        <p:nvSpPr>
          <p:cNvPr id="12" name="Oval 11"/>
          <p:cNvSpPr/>
          <p:nvPr/>
        </p:nvSpPr>
        <p:spPr>
          <a:xfrm>
            <a:off x="11185855" y="3355848"/>
            <a:ext cx="420624" cy="420624"/>
          </a:xfrm>
          <a:prstGeom prst="ellipse">
            <a:avLst/>
          </a:prstGeom>
          <a:solidFill>
            <a:srgbClr val="435FB5"/>
          </a:solidFill>
          <a:ln>
            <a:noFill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 rtl="1">
              <a:lnSpc>
                <a:spcPct val="110000"/>
              </a:lnSpc>
            </a:pPr>
            <a:r>
              <a:rPr sz="16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319272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1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כלים מוגדרים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721608"/>
            <a:ext cx="684245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למשל: קריאה בלבד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4297680"/>
            <a:ext cx="7665415" cy="1234440"/>
          </a:xfrm>
          <a:prstGeom prst="roundRect">
            <a:avLst>
              <a:gd name="adj" fmla="val 6000"/>
            </a:avLst>
          </a:prstGeom>
          <a:solidFill>
            <a:srgbClr val="0A1A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4389120"/>
            <a:ext cx="729965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64CAAD"/>
                </a:solidFill>
                <a:latin typeface="Rubik"/>
                <a:ea typeface="Rubik"/>
                <a:cs typeface="Rubik"/>
              </a:rPr>
              <a:t>‎.claude/agents/report-checker.md‎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709160"/>
            <a:ext cx="7391095" cy="7498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name: report-checker</a:t>
            </a:r>
          </a:p>
          <a:p>
            <a:pPr rtl="0" algn="l">
              <a:lnSpc>
                <a:spcPct val="115000"/>
              </a:lnSpc>
              <a:spcAft>
                <a:spcPts val="200"/>
              </a:spcAft>
            </a:pPr>
            <a:r>
              <a:rPr sz="1700" b="0" i="0" lang="en-US">
                <a:solidFill>
                  <a:srgbClr val="FFFFFF"/>
                </a:solidFill>
                <a:latin typeface="Consolas"/>
                <a:ea typeface="Consolas"/>
                <a:cs typeface="Rubik"/>
              </a:rPr>
              <a:t>tools: Read, Grep, Glob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5623560"/>
            <a:ext cx="7665415" cy="4114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6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Agent Teams הוא דבר אחר, וזמין רק בטרמינל.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26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סקילים וסוכני משנה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בקשה, הוראות, סקיל וסוכן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4414" cy="2834640"/>
        </p:xfrm>
        <a:graphic>
          <a:graphicData uri="http://schemas.openxmlformats.org/drawingml/2006/table">
            <a:tbl>
              <a:tblPr firstRow="1" bandRow="0" rtl="1">
                <a:tableStyleId>{5940675A-B579-460E-94D1-54222C63F5DA}</a:tableStyleId>
              </a:tblPr>
              <a:tblGrid>
                <a:gridCol w="2420599"/>
                <a:gridCol w="3630899"/>
                <a:gridCol w="5042916"/>
              </a:tblGrid>
              <a:tr h="566928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רכיב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מתי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דוגמה מתיק לוי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בקשה בשיחה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משימה אחת, עכשיו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„הצג את הסכומים שבשאלון”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‎CLAUDE.md‎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כלל שחל תמיד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„לכל נתון ציין מקור”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סקיל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תהליך שחוזר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‎‎/prepare-bank-file‎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סוכן משנה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בדיקה ממוקדת בנפרד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‎report-checker‎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572000"/>
            <a:ext cx="11094415" cy="1371600"/>
          </a:xfrm>
          <a:prstGeom prst="roundRect">
            <a:avLst>
              <a:gd name="adj" fmla="val 5000"/>
            </a:avLst>
          </a:prstGeom>
          <a:solidFill>
            <a:srgbClr val="E8FB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69903" y="4572000"/>
            <a:ext cx="73152" cy="13716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81728"/>
            <a:ext cx="10682935" cy="310896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3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האצלה לסוכן משנה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10912"/>
            <a:ext cx="10682935" cy="8686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5000"/>
              </a:lnSpc>
              <a:spcAft>
                <a:spcPts val="400"/>
              </a:spcAft>
            </a:pPr>
            <a:r>
              <a:rPr sz="18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השתמש בסוכן ‎report-checker‎ כדי להשוות את ‎03_reports/draft.md‎ למקורות. החזר רק נתונים ללא מקור וסתירות.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27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11" name="Picture 10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סיכום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תקלות נפוצות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08760"/>
          <a:ext cx="11094414" cy="3401568"/>
        </p:xfrm>
        <a:graphic>
          <a:graphicData uri="http://schemas.openxmlformats.org/drawingml/2006/table">
            <a:tbl>
              <a:tblPr firstRow="1" bandRow="0" rtl="1">
                <a:tableStyleId>{5940675A-B579-460E-94D1-54222C63F5DA}</a:tableStyleId>
              </a:tblPr>
              <a:tblGrid>
                <a:gridCol w="3025749"/>
                <a:gridCol w="8068665"/>
              </a:tblGrid>
              <a:tr h="566928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תקלה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FFFFFF"/>
                          </a:solidFill>
                          <a:latin typeface="Rubik"/>
                          <a:ea typeface="Rubik"/>
                          <a:cs typeface="Rubik"/>
                        </a:rPr>
                        <a:t>בקשת תיקון ממוקדת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0A1A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תיקייה שגויה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„באיזו תיקייה אתה עובד?”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קובץ שלא נקרא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„‎scan_0012.txt‎ חסר ברשימה. קרא אותו.”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תוצר במקום אחר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„העבר את הדוח ל־‎03_reports‎.”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מידע חסר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„סמן ׳חסר׳ והוסף לשאלות.”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7F8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1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מגבלת שימוש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/>
                      <a:r>
                        <a:rPr sz="1800" b="0" i="0" lang="he-IL">
                          <a:solidFill>
                            <a:srgbClr val="0A1A33"/>
                          </a:solidFill>
                          <a:latin typeface="Rubik"/>
                          <a:ea typeface="Rubik"/>
                          <a:cs typeface="Rubik"/>
                        </a:rPr>
                        <a:t>ממתינים לחידוש. טבעת השימוש ליד בורר המודל.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D6D8"/>
                      </a:solidFill>
                    </a:lnL>
                    <a:lnR w="9525">
                      <a:solidFill>
                        <a:srgbClr val="D4D6D8"/>
                      </a:solidFill>
                    </a:lnR>
                    <a:lnT w="9525">
                      <a:solidFill>
                        <a:srgbClr val="D4D6D8"/>
                      </a:solidFill>
                    </a:lnT>
                    <a:lnB w="9525">
                      <a:solidFill>
                        <a:srgbClr val="D4D6D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1" i="0" lang="he-IL">
                <a:solidFill>
                  <a:srgbClr val="435FB5"/>
                </a:solidFill>
                <a:latin typeface="Rubik"/>
                <a:ea typeface="Rubik"/>
                <a:cs typeface="Rubik"/>
              </a:rPr>
              <a:t>העיקרון: </a:t>
            </a:r>
            <a:r>
              <a:rPr sz="1900" b="0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מתארים מה קרה בפועל ומבקשים תיקון אחד.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28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  <p:pic>
        <p:nvPicPr>
          <p:cNvPr id="8" name="Picture 7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753661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158E78"/>
                </a:solidFill>
                <a:latin typeface="Rubik"/>
                <a:ea typeface="Rubik"/>
                <a:cs typeface="Rubik"/>
              </a:rPr>
              <a:t>סיכום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בדיקת התוצר של המשתתף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pose-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19"/>
            <a:ext cx="2235459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47507" y="1600200"/>
            <a:ext cx="3695547" cy="182880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048695" y="1892807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64CA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1827" y="1828800"/>
            <a:ext cx="2689707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מקורות שמורים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1827" y="2377440"/>
            <a:ext cx="3146907" cy="9144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5 קבצים ב־‎01_originals‎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40" y="1600200"/>
            <a:ext cx="3695547" cy="182880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78827" y="1892807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64CA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828800"/>
            <a:ext cx="2689707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עותקים מסודרים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377440"/>
            <a:ext cx="3146907" cy="9144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4 עותקים ב־‎02_organized‎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7507" y="3703320"/>
            <a:ext cx="3695547" cy="182880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048695" y="3995928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64CA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1827" y="3931920"/>
            <a:ext cx="2689707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טיוטה עם מקורות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1827" y="4480559"/>
            <a:ext cx="3146907" cy="9144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לכל נתון יש מקור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40" y="3703320"/>
            <a:ext cx="3695547" cy="1828800"/>
          </a:xfrm>
          <a:prstGeom prst="roundRect">
            <a:avLst>
              <a:gd name="adj" fmla="val 8000"/>
            </a:avLst>
          </a:prstGeom>
          <a:solidFill>
            <a:srgbClr val="F7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78827" y="3995928"/>
            <a:ext cx="347472" cy="3474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64CAA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931920"/>
            <a:ext cx="2689707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000" b="1" i="0" lang="he-IL">
                <a:solidFill>
                  <a:srgbClr val="0A1A33"/>
                </a:solidFill>
                <a:latin typeface="Rubik"/>
                <a:ea typeface="Rubik"/>
                <a:cs typeface="Rubik"/>
              </a:rPr>
              <a:t>חוסרים ושאלות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480559"/>
            <a:ext cx="3146907" cy="9144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700" b="0" i="0" lang="he-IL">
                <a:solidFill>
                  <a:srgbClr val="4C5058"/>
                </a:solidFill>
                <a:latin typeface="Rubik"/>
                <a:ea typeface="Rubik"/>
                <a:cs typeface="Rubik"/>
              </a:rPr>
              <a:t>עו״ש חסר, סתירה מסומנת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29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657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500" b="1" i="0" lang="he-IL">
                <a:solidFill>
                  <a:srgbClr val="64CAAD"/>
                </a:solidFill>
                <a:latin typeface="Rubik"/>
                <a:ea typeface="Rubik"/>
                <a:cs typeface="Rubik"/>
              </a:rPr>
              <a:t>סיכום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865815" cy="7315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שאלות והמשך תרגול</a:t>
            </a:r>
          </a:p>
        </p:txBody>
      </p:sp>
      <p:sp>
        <p:nvSpPr>
          <p:cNvPr id="4" name="Rectangle 3"/>
          <p:cNvSpPr/>
          <p:nvPr/>
        </p:nvSpPr>
        <p:spPr>
          <a:xfrm>
            <a:off x="11752783" y="768096"/>
            <a:ext cx="82296" cy="457200"/>
          </a:xfrm>
          <a:prstGeom prst="rect">
            <a:avLst/>
          </a:prstGeom>
          <a:solidFill>
            <a:srgbClr val="64CA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pose-thi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2425986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60520" y="1600200"/>
            <a:ext cx="7482535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64CAAD"/>
                </a:solidFill>
                <a:latin typeface="Rubik"/>
                <a:ea typeface="Rubik"/>
                <a:cs typeface="Rubik"/>
              </a:rPr>
              <a:t>שאלות הבנה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103120"/>
            <a:ext cx="7482535" cy="16459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1000"/>
              </a:spcAft>
            </a:pPr>
            <a:r>
              <a:rPr sz="1900" b="0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מתי כלל, ומתי סקיל?</a:t>
            </a:r>
          </a:p>
          <a:p>
            <a:pPr rtl="1" algn="r">
              <a:lnSpc>
                <a:spcPct val="110000"/>
              </a:lnSpc>
              <a:spcAft>
                <a:spcPts val="1000"/>
              </a:spcAft>
            </a:pPr>
            <a:r>
              <a:rPr sz="1900" b="0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למה לא בוחרים בין שני הסכומים?</a:t>
            </a:r>
          </a:p>
          <a:p>
            <a:pPr rtl="1" algn="r">
              <a:lnSpc>
                <a:spcPct val="110000"/>
              </a:lnSpc>
              <a:spcAft>
                <a:spcPts val="1000"/>
              </a:spcAft>
            </a:pPr>
            <a:r>
              <a:rPr sz="1900" b="0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מה סוכן המשנה מחזיר?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794760"/>
            <a:ext cx="7482535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2200" b="1" i="0" lang="he-IL">
                <a:solidFill>
                  <a:srgbClr val="64CAAD"/>
                </a:solidFill>
                <a:latin typeface="Rubik"/>
                <a:ea typeface="Rubik"/>
                <a:cs typeface="Rubik"/>
              </a:rPr>
              <a:t>משימת המשך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4297680"/>
            <a:ext cx="7482535" cy="11887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0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תיק פיקטיבי חדש בתיקייה חדשה,</a:t>
            </a:r>
          </a:p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900" b="0" i="0" lang="he-IL">
                <a:solidFill>
                  <a:srgbClr val="FFFFFF"/>
                </a:solidFill>
                <a:latin typeface="Rubik"/>
                <a:ea typeface="Rubik"/>
                <a:cs typeface="Rubik"/>
              </a:rPr>
              <a:t>הפעלת הסקיל ‎prepare-bank-file‎, ובדיקה לפי הרשימה.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5623560"/>
            <a:ext cx="7482535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800" b="1" i="0" lang="he-IL">
                <a:solidFill>
                  <a:srgbClr val="D4D6D8"/>
                </a:solidFill>
                <a:latin typeface="Rubik"/>
                <a:ea typeface="Rubik"/>
                <a:cs typeface="Rubik"/>
              </a:rPr>
              <a:t>יוחנן שבדרון</a:t>
            </a:r>
            <a:r>
              <a:rPr sz="1800" b="0" i="0" lang="he-IL">
                <a:solidFill>
                  <a:srgbClr val="D4D6D8"/>
                </a:solidFill>
                <a:latin typeface="Rubik"/>
                <a:ea typeface="Rubik"/>
                <a:cs typeface="Rubik"/>
              </a:rPr>
              <a:t>  |  ‎SHWADRON.AI‎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655" y="6400800"/>
            <a:ext cx="5486400" cy="292608"/>
          </a:xfrm>
          <a:prstGeom prst="rect">
            <a:avLst/>
          </a:prstGeom>
          <a:noFill/>
        </p:spPr>
        <p:txBody>
          <a:bodyPr wrap="square" lIns="73152" rIns="73152" tIns="54864" bIns="54864" anchor="t">
            <a:noAutofit/>
          </a:bodyPr>
          <a:lstStyle/>
          <a:p>
            <a:pPr rtl="1" algn="r">
              <a:lnSpc>
                <a:spcPct val="110000"/>
              </a:lnSpc>
              <a:spcAft>
                <a:spcPts val="600"/>
              </a:spcAft>
            </a:pPr>
            <a:r>
              <a:rPr sz="1200" b="1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30</a:t>
            </a:r>
            <a:r>
              <a:rPr sz="1200" b="0" i="0" lang="he-IL">
                <a:solidFill>
                  <a:srgbClr val="8D9299"/>
                </a:solidFill>
                <a:latin typeface="Rubik"/>
                <a:ea typeface="Rubik"/>
                <a:cs typeface="Rubik"/>
              </a:rPr>
              <a:t>  |  Claude Code ליועצי משכנתאות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