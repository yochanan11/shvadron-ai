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2 דקות (שקפים 1–3: 8 דקות).</a:t>
            </a:r>
          </a:p>
          <a:p>
            <a:r>
              <a:t>פתיחה: מי אני, מה נעשה היום ומה כל משתתף ייקח מהשיעור.</a:t>
            </a:r>
          </a:p>
          <a:p>
            <a:r>
              <a:t>להזכיר: כל הנתונים בשיעור פיקטיביים. לא עובדים היום על תיקים אמיתיים של לקוחות.</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להראות את המצב שכל יועץ מכיר: קבצים מוואטסאפ ומהמייל עם שמות כמו doc1 ו־scan.</a:t>
            </a:r>
          </a:p>
          <a:p>
            <a:r>
              <a:t>המטרה היום היא לא תיק אמיתי. בונים תהליך עבודה עם Claude Code על תיק פיקטיבי של משפחת לוי.</a:t>
            </a:r>
          </a:p>
          <a:p>
            <a:r>
              <a:t>הדוגמה עקבית לאורך כל השיעור: 5 קבצים, אחד מהם כפול. חסרים דפי העו״ש. הסכום המבוקש: 1,200,000 ₪ בשאלון, 1,300,000 ₪ בסיכום השיחה.</a:t>
            </a:r>
          </a:p>
          <a:p/>
          <a:p>
            <a:r>
              <a:t>על המסך: שמות שלא אומרים כלום, מסמך כפול, סכום שמופיע בשני מקומות עם שני ערכים שונים, ומסמך חסר.</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להראות את ארבעת חלקי התיק שנבנה עד סוף השיעור. הכול נשמר כקבצים בתיקייה של התרגול.</a:t>
            </a:r>
          </a:p>
          <a:p>
            <a:r>
              <a:t>להדגיש: Claude מכין טיוטה, והיועץ אחראי לבדוק ולהחליט. שום דבר לא יוצא לבנק בלי בדיקה ושליחה של היועץ.</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8 דקות, כולל זמן התקנה למשתתפים (שקפים 4–7: 22 דקות).</a:t>
            </a:r>
          </a:p>
          <a:p>
            <a:r>
              <a:t>משתתף שכבר התקין: לבדוק שהוא מחובר ושהלשונית Code נפתחת.</a:t>
            </a:r>
          </a:p>
          <a:p>
            <a:r>
              <a:t>אם אחרי הלחיצה על Code מופיעה בקשה לשדרג, החשבון לא על מנוי מתאים.</a:t>
            </a:r>
          </a:p>
          <a:p>
            <a:r>
              <a:t>Git: באפליקציה נדרש רק לסשנים שרצים ב־worktree נפרד, ולא נשתמש בזה היום. גרסאות ישנות של האפליקציה ב־Windows ביקשו Git לכל סשן מקומי; אם מופיעה הבקשה הזו, לעדכן את האפליקציה.</a:t>
            </a:r>
          </a:p>
          <a:p/>
          <a:p>
            <a:r>
              <a:t>מקורות:</a:t>
            </a:r>
          </a:p>
          <a:p>
            <a:r>
              <a:t>https://code.claude.com/docs/en/desktop-quickstart</a:t>
            </a:r>
          </a:p>
          <a:p>
            <a:r>
              <a:t>https://code.claude.com/docs/en/desktop (Windows requirements, Troubleshooting)</a:t>
            </a:r>
          </a:p>
          <a:p>
            <a:r>
              <a:t>הורדה ישירה x64: https://claude.ai/api/desktop/win32/x64/setup/latest/redirect</a:t>
            </a:r>
          </a:p>
          <a:p>
            <a:r>
              <a:t>ARM64: https://claude.ai/api/desktop/win32/arm64/setup/latest/redirect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6 דקות.</a:t>
            </a:r>
          </a:p>
          <a:p>
            <a:r>
              <a:t>להדגים בשיתוף מסך, ואז לתת למשתתפים לבצע. לוודא שכולם רואים את שם התיקייה levi-case ליד בורר הסביבה.</a:t>
            </a:r>
          </a:p>
          <a:p>
            <a:r>
              <a:t>אם בורר הסביבה לא מופיע מתחת לתיבת ההוראות, זה המבנה הישן של המסך. התיעוד מסביר איך לבדוק באיזו גרסה המשתתף נמצא.</a:t>
            </a:r>
          </a:p>
          <a:p>
            <a:r>
              <a:t>שמות האפשרויות מופיעים באנגלית, כמו בממשק.</a:t>
            </a:r>
          </a:p>
          <a:p/>
          <a:p>
            <a:r>
              <a:t>מקורות:</a:t>
            </a:r>
          </a:p>
          <a:p>
            <a:r>
              <a:t>https://code.claude.com/docs/en/desktop-quickstart (Start your first session)</a:t>
            </a:r>
          </a:p>
          <a:p>
            <a:r>
              <a:t>https://code.claude.com/docs/en/desktop (Choose a permission mode)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התרשים הוא המחשה ולא צילום מסך. בשיעור עוברים על המסך האמיתי בשיתוף מסך.</a:t>
            </a:r>
          </a:p>
          <a:p>
            <a:r>
              <a:t>שורת הבקרים שמתחת לתיבת ההוראות: בורר הסביבה הוא הבקר הראשון, בורר התיקייה לידו, ובורר המודל בקצה.</a:t>
            </a:r>
          </a:p>
          <a:p>
            <a:r>
              <a:t>מצבי הרשאות באפליקציה: Manual (שואל לפני עריכה או פקודה), Accept edits, Plan, Auto, וגם Bypass permissions, שלא נשתמש בו.</a:t>
            </a:r>
          </a:p>
          <a:p>
            <a:r>
              <a:t>בגרסאות קודמות המצבים נקראו Ask permissions,‏ Auto accept edits ו־Plan mode.</a:t>
            </a:r>
          </a:p>
          <a:p>
            <a:r>
              <a:t>המיקום המדויק של בורר ההרשאות בתוך השורה עשוי להשתנות בין גרסאות.</a:t>
            </a:r>
          </a:p>
          <a:p/>
          <a:p>
            <a:r>
              <a:t>מקורות:</a:t>
            </a:r>
          </a:p>
          <a:p>
            <a:r>
              <a:t>https://code.claude.com/docs/en/desktop-quickstart</a:t>
            </a:r>
          </a:p>
          <a:p>
            <a:r>
              <a:t>https://code.claude.com/docs/en/desktop</a:t>
            </a:r>
          </a:p>
          <a:p/>
          <a:p>
            <a:r>
              <a:t>צילום מסך אמיתי של לשונית Code. שמות השיחות והחשבון טושטשו. בצילום נבחרה סביבת ענן (Default) עם מאגר GitHub; בתרגול בוחרים דרך Choose environment את הסביבה המקומית (Local) ואת תיקיית התרגול. מצב ההרשאות בצילום הוא Auto; בתרגול מתחילים ב־Manual.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המסר: זה אותו Claude Code. האפליקציה היא דרך נוחה לעבוד בלי טרמינל.</a:t>
            </a:r>
          </a:p>
          <a:p>
            <a:r>
              <a:t>גם בטרמינל כותבים ל־Claude בשפה רגילה, ולא צריך לדעת פקודות.</a:t>
            </a:r>
          </a:p>
          <a:p>
            <a:r>
              <a:t>באפליקציה יש גם חלונית טרמינל (Ctrl+`), אבל היום לא נשתמש בה.</a:t>
            </a:r>
          </a:p>
          <a:p>
            <a:r>
              <a:t>הבדלים: קיצור Shift+Tab להחלפת מצב הרשאות לא עובד באפליקציה. Agent Teams זמין רק בטרמינל.</a:t>
            </a:r>
          </a:p>
          <a:p/>
          <a:p>
            <a:r>
              <a:t>מקורות:</a:t>
            </a:r>
          </a:p>
          <a:p>
            <a:r>
              <a:t>https://code.claude.com/docs/en/desktop (Coming from the CLI)</a:t>
            </a:r>
          </a:p>
          <a:p>
            <a:r>
              <a:t>https://code.claude.com/docs/en/how-claude-code-works (Environments and interfaces)</a:t>
            </a:r>
          </a:p>
          <a:p/>
          <a:p>
            <a:r>
              <a:t>טרמינל: חלון שבו כותבים טקסט במקום ללחוץ על כפתורים. ממשק גרפי: חלונות, כפתורים ותפריטים. התקנה: האפליקציה מותקנת בקובץ התקנה רגיל, והטרמינל דורש התקנה נפרדת.</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 (שקפים 8–13: 20 דקות).</a:t>
            </a:r>
          </a:p>
          <a:p>
            <a:r>
              <a:t>Claude Code הוא שכבה סביב המודל: הוא נותן למודל כלים ומנהל את ההקשר.</a:t>
            </a:r>
          </a:p>
          <a:p>
            <a:r>
              <a:t>התיעוד מתאר שלושה שלבים: איסוף מידע (gather context), ביצוע (take action) ובדיקה (verify results). השלבים חוזרים עד שהמשימה הושלמה.</a:t>
            </a:r>
          </a:p>
          <a:p>
            <a:r>
              <a:t>הכלים: פעולות על קבצים, חיפוש, הרצת פקודות ואינטרנט. מצב ההרשאות קובע מתי Claude שואל לפני פעולה.</a:t>
            </a:r>
          </a:p>
          <a:p>
            <a:r>
              <a:t>אפשר לעצור ולתקן בכל שלב: כפתור עצירה, או לכתוב תיקון ולשלוח.</a:t>
            </a:r>
          </a:p>
          <a:p/>
          <a:p>
            <a:r>
              <a:t>מקורות:</a:t>
            </a:r>
          </a:p>
          <a:p>
            <a:r>
              <a:t>https://code.claude.com/docs/en/how-claude-code-works (The agentic loop, Tools, Control what Claude can 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2 דקות.</a:t>
            </a:r>
          </a:p>
          <a:p>
            <a:r>
              <a:t>בסשן מקומי (Local) הקבצים והפקודות רצים במחשב שלכם, אבל המודל עצמו רץ בשרתי Anthropic, ולכן התוכן שנקרא נשלח לעיבוד.</a:t>
            </a:r>
          </a:p>
          <a:p>
            <a:r>
              <a:t>עבודה עם מסמכים אמיתיים של לקוחות דורשת החלטה מסודרת על מדיניות פרטיות, הסכמת לקוחות והגדרות החשבון. זה מחוץ להיקף השיעור.</a:t>
            </a:r>
          </a:p>
          <a:p/>
          <a:p>
            <a:r>
              <a:t>מקורות:</a:t>
            </a:r>
          </a:p>
          <a:p>
            <a:r>
              <a:t>https://code.claude.com/docs/en/how-claude-code-works (Execution environments, What Claude can access)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המשתתפים שולחים את הבקשה. במצב Manual, Claude יבקש אישור לפני שהוא יוצר את התיקיות.</a:t>
            </a:r>
          </a:p>
          <a:p>
            <a:r>
              <a:t>אחרי הביצוע בודקים בסייר הקבצים של Windows שנוצרו שלוש תיקיות.</a:t>
            </a:r>
          </a:p>
          <a:p>
            <a:r>
              <a:t>את CLAUDE.md ניצור בשקף 12. התיקייה ‎.claude תיווצר כשנשמור סקיל או סוכן משנה. אם היא לא מופיעה בסייר, ייתכן שהיא מוסתרת כי השם מתחיל בנקודה.</a:t>
            </a:r>
          </a:p>
          <a:p/>
          <a:p>
            <a:r>
              <a:t>מקורות:</a:t>
            </a:r>
          </a:p>
          <a:p>
            <a:r>
              <a:t>https://code.claude.com/docs/en/memory</a:t>
            </a:r>
          </a:p>
          <a:p>
            <a:r>
              <a:t>https://code.claude.com/docs/en/skills</a:t>
            </a:r>
          </a:p>
          <a:p>
            <a:r>
              <a:t>https://code.claude.com/docs/en/sub-agents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כל שיחה חדשה מתחילה עם הקשר ריק. מה שנשמר בין שיחות: הקבצים בתיקייה, CLAUDE.md, וזיכרון אוטומטי ש־Claude כותב לעצמו.</a:t>
            </a:r>
          </a:p>
          <a:p>
            <a:r>
              <a:t>לכן תוצר חשוב שומרים כקובץ, וכלל קבוע כותבים ב־CLAUDE.md ולא רק בשיחה.</a:t>
            </a:r>
          </a:p>
          <a:p>
            <a:r>
              <a:t>גם בתוך שיחה ארוכה, Claude מסכם את השיחה כשההקשר מתמלא, והוראות מתחילת השיחה עלולות ללכת לאיבוד.</a:t>
            </a:r>
          </a:p>
          <a:p/>
          <a:p>
            <a:r>
              <a:t>מקורות:</a:t>
            </a:r>
          </a:p>
          <a:p>
            <a:r>
              <a:t>https://code.claude.com/docs/en/how-claude-code-works (Work with sessions, The context window)</a:t>
            </a:r>
          </a:p>
          <a:p>
            <a:r>
              <a:t>https://code.claude.com/docs/en/memory</a:t>
            </a:r>
          </a:p>
          <a:p>
            <a:r>
              <a:t>https://code.claude.com/docs/en/desktop (Sessions)</a:t>
            </a:r>
          </a:p>
          <a:p/>
          <a:p>
            <a:r>
              <a:t>לפני ההמשך בודקים: שהתיקייה הפעילה היא תיקיית הלקוח הנכונה, ש־CLAUDE.md קיים ומעודכן, ומה כבר נשמר ב־03_reports.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המשתתפים מעתיקים את ההוראות לבקשה, או מבקשים מ־Claude ליצור את הקובץ ומקלידים את הכללים.</a:t>
            </a:r>
          </a:p>
          <a:p>
            <a:r>
              <a:t>אפשר לשמור את הקובץ בשורש הפרויקט (‎./CLAUDE.md) או ב־‎./.claude/CLAUDE.md. הקובץ נטען בתחילת כל שיחה.</a:t>
            </a:r>
          </a:p>
          <a:p>
            <a:r>
              <a:t>התיעוד מדגיש ש־Claude מתייחס ל־CLAUDE.md כהקשר ולא כהגדרה נאכפת. כדי לחסום פעולה בכל מקרה משתמשים בהרשאות.</a:t>
            </a:r>
          </a:p>
          <a:p>
            <a:r>
              <a:t>הפקודה ‎/init יוצרת קובץ התחלתי, אבל היום כותבים אותו ידנית כדי להבין מה יש בו.</a:t>
            </a:r>
          </a:p>
          <a:p/>
          <a:p>
            <a:r>
              <a:t>מקורות:</a:t>
            </a:r>
          </a:p>
          <a:p>
            <a:r>
              <a:t>https://code.claude.com/docs/en/memory</a:t>
            </a:r>
          </a:p>
          <a:p/>
          <a:p>
            <a:r>
              <a:t>CLAUDE.md הוא קובץ טקסט רגיל עם הנחיות, ו־Claude קורא אותו בתחילת כל שיחה. ההוראה „כל דוח הוא טיוטה לבדיקת היועץ” מומלצת גם היא.</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ארבעת חלקי הבקשה: משימה, חומרי מקור, תוצר ומגבלות. לא חייבים ניסוח מושלם, אבל מגבלות ברורות חוסכות תיקונים.</a:t>
            </a:r>
          </a:p>
          <a:p>
            <a:r>
              <a:t>מצב Plan: Claude בודק ומציע גישה בלי לערוך קבצים. זה טוב לפני שינוי גדול.</a:t>
            </a:r>
          </a:p>
          <a:p>
            <a:r>
              <a:t>מצב Manual: Claude מבקש אישור לפני עריכה או הרצת פקודה, ומציג מה ישתנה.</a:t>
            </a:r>
          </a:p>
          <a:p>
            <a:r>
              <a:t>את המצב בוחרים בשורה שמתחת לתיבת ההוראות. Shift+Tab לא מחליף מצב באפליקציה.</a:t>
            </a:r>
          </a:p>
          <a:p>
            <a:r>
              <a:t>Auto ו־Bypass permissions לא מתאימים לשלב הלמידה.</a:t>
            </a:r>
          </a:p>
          <a:p/>
          <a:p>
            <a:r>
              <a:t>מקורות:</a:t>
            </a:r>
          </a:p>
          <a:p>
            <a:r>
              <a:t>https://code.claude.com/docs/en/desktop (Choose a permission mode)</a:t>
            </a:r>
          </a:p>
          <a:p>
            <a:r>
              <a:t>https://code.claude.com/docs/en/desktop-quickstart (Review and accept changes)</a:t>
            </a:r>
          </a:p>
          <a:p>
            <a:r>
              <a:t>https://code.claude.com/docs/en/how-claude-code-works (Control what Claude can 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 (שקפים 14–22: 40 דקות).</a:t>
            </a:r>
          </a:p>
          <a:p>
            <a:r>
              <a:t>כל הנתונים פיקטיביים, לתרגול בלבד.</a:t>
            </a:r>
          </a:p>
          <a:p>
            <a:r>
              <a:t>רשימת המסמכים בתרגיל היא דוגמה שהיועץ מגדיר לעצמו. היא לא רשימת דרישות רשמית או אחידה של הבנקים.</a:t>
            </a:r>
          </a:p>
          <a:p>
            <a:r>
              <a:t>שני האתגרים המכוונים בתרגיל: הסכום המבוקש שונה בין השאלון לסיכום השיחה, ודפי העו״ש חסרים. וגם קובץ כפול: doc1_copy.txt.</a:t>
            </a:r>
          </a:p>
          <a:p/>
          <a:p>
            <a:r>
              <a:t>פרטים נוספים בתיק: רכישת דירה, מחיר הנכס 1,900,000 ₪, הון עצמי 700,000 ₪, הלוואת רכב ביתרה של 38,000 ₪, שיחה מתאריך 12.10.2026. וגם קובץ כפול: doc1_copy.txt.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שמות הקבצים באנגלית בכוונה: כך הנתיבים מוצגים נכון גם בתוך טקסט בעברית. אפשר לעבוד גם עם שמות בעברית.</a:t>
            </a:r>
          </a:p>
          <a:p>
            <a:r>
              <a:t>המשתתפים מעתיקים את הבקשה. אפשר להדביק אותה מהצ׳אט של הזום.</a:t>
            </a:r>
          </a:p>
          <a:p>
            <a:r>
              <a:t>אחרי הביצוע: לפתוח את 01_originals בסייר הקבצים ולוודא שיש בדיוק 5 קבצים, ושבראש כל אחד כתוב „לתרגול בלבד”.</a:t>
            </a:r>
          </a:p>
          <a:p>
            <a:r>
              <a:t>הנתונים כאן הם הבסיס לכל ההמשך: 1,200,000 מול 1,300,000, דפי עו״ש חסרים, ו־doc1 כפול.</a:t>
            </a:r>
          </a:p>
          <a:p>
            <a:r>
              <a:t>אם Claude הוסיף נתונים שלא נתבקשו, מבקשים ממנו להסיר אותם. זו הזדמנות טובה לתרגל בקשת תיקון.</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המטרה: לראות מה יש בתיק לפני שמשנים משהו. הבקשה אוסרת במפורש לשנות קבצים.</a:t>
            </a:r>
          </a:p>
          <a:p>
            <a:r>
              <a:t>במצב Manual, Claude יבקש אישור רק לשמירת הטבלה ב־03_reports.</a:t>
            </a:r>
          </a:p>
          <a:p>
            <a:r>
              <a:t>הבדיקה מול הסייר חשובה: אם קובץ חסר בטבלה, Claude לא קרא אותו. התיקון בשקף 28.</a:t>
            </a:r>
          </a:p>
          <a:p/>
          <a:p>
            <a:r>
              <a:t>התוצאה הצפויה בטבלה: doc1.txt – שאלון; doc1_copy.txt – שאלון (כפול); scan_0012.txt – הכנסה; new file.txt – התחייבויות; notes.txt – סיכום שיחה.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משתמשים בבקשה מהשקף 13 (תוכנית בלי לשנות קבצים), במצב Plan או Manual.</a:t>
            </a:r>
          </a:p>
          <a:p>
            <a:r>
              <a:t>שמות הקבצים החדשים הם דוגמה. כל יועץ יכול לקבוע שיטה משלו, וכדאי לכתוב אותה ב־CLAUDE.md.</a:t>
            </a:r>
          </a:p>
          <a:p>
            <a:r>
              <a:t>לשאול את המשתתפים: מה הייתם משנים בתוכנית? ולבקש מ־Claude לעדכן לפני ביצוע.</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המילה החשובה בבקשה היא „העתק”. לא מעבירים ולא מוחקים: המקורות נשארים כמו שהם.</a:t>
            </a:r>
          </a:p>
          <a:p>
            <a:r>
              <a:t>בודקים בסייר: ב־01_originals עדיין 5 קבצים, וב־02_organized יש 4 עותקים.</a:t>
            </a:r>
          </a:p>
          <a:p>
            <a:r>
              <a:t>קובץ המיפוי מאפשר לכל אחד לדעת מאיזה קובץ מקורי הגיע כל עותק.</a:t>
            </a:r>
          </a:p>
          <a:p/>
          <a:p>
            <a:r>
              <a:t>הקובץ name_map.md מראה שם מקורי מול שם חדש, ואת doc1_copy.txt מסומן ככפול שלא הועתק.</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כלל המפתח מ־CLAUDE.md: לכל נתון יש קובץ מקור. בלי מקור, הנתון לא נכנס.</a:t>
            </a:r>
          </a:p>
          <a:p>
            <a:r>
              <a:t>השורות המסומנות דורשות פעולה של היועץ: סתירה בסכום, ומסמך חסר.</a:t>
            </a:r>
          </a:p>
          <a:p>
            <a:r>
              <a:t>לבקש ממשתתף אחד להשוות שורה אחת מהטבלה מול הקובץ עצמו. זו בדיקה שהיועץ עושה בכל תיק.</a:t>
            </a:r>
          </a:p>
          <a:p/>
          <a:p>
            <a:r>
              <a:t>שורות נוספות בטבלה המלאה: הון עצמי 700,000 ₪, יתרת הלוואת רכב 38,000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השאלה למשתתפים: מה Claude היה אמור לעשות כשמצא שני סכומים? התשובה: לא לבחור ולא למצע. מציגים את שניהם, עם המקור של כל אחד.</a:t>
            </a:r>
          </a:p>
          <a:p>
            <a:r>
              <a:t>אם בטבלה של משתתף מופיע רק סכום אחד, מבקשים: „בטבלה מופיע רק 1,200,000. הוסף את הסכום מסיכום השיחה וסמן לבירור.”</a:t>
            </a:r>
          </a:p>
          <a:p>
            <a:r>
              <a:t>ההחלטה על הסכום הנכון היא של היועץ, אחרי בירור עם הלקוח.</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מבנה קבוע: פרטי התיק, מטרת הפנייה, נתונים, מסמכים, חוסרים, שאלות לבירור ומקורות.</a:t>
            </a:r>
          </a:p>
          <a:p>
            <a:r>
              <a:t>הטיוטה נשענת רק על קובץ הריכוז, כך שכל נתון בה כבר מגיע עם מקור.</a:t>
            </a:r>
          </a:p>
          <a:p>
            <a:r>
              <a:t>להדגיש שוב: זו טיוטה לבדיקת היועץ, לא מסמך לבנק.</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בקשה 1 מתרגלת בדיקה עצמית. בכל זאת, היועץ בודק בעצמו לפחות שני נתונים מול המקור.</a:t>
            </a:r>
          </a:p>
          <a:p>
            <a:r>
              <a:t>בקשה 2 היא דוגמה להמשך עבודה אחרי שמגיע מסמך. בתרגול אין קובץ עו״ש. אפשר להדגים אותה רק אם יוצרים קודם קובץ עו״ש פיקטיבי (עם הסימון „לתרגול בלבד”).</a:t>
            </a:r>
          </a:p>
          <a:p>
            <a:r>
              <a:t>את הסתירה בסכום לא פותרים בטיוטה. היא נשארת בשאלות לבירור עד שהיועץ מברר עם הלקוח.</a:t>
            </a:r>
          </a:p>
          <a:p/>
          <a:p>
            <a:r>
              <a:t>בקשת המשך לדוגמה, אחרי שמגיע מסמך: „דפי העו״ש התקבלו ונשמרו ב־01_originals. קרא אותם, עדכן את רשימת המסמכים והחוסרים, ושמור את הטיוטה מחדש.” (בתרגול אין קובץ עו״ש; ליצור קודם קובץ פיקטיבי עם הסימון „לתרגול בלבד”.)</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 (שקפים 23–27: 20 דקות).</a:t>
            </a:r>
          </a:p>
          <a:p>
            <a:r>
              <a:t>סקיל הוא תיקייה עם קובץ SKILL.md. בראש הקובץ יש name ו־description, ואחריהם ההוראות.</a:t>
            </a:r>
          </a:p>
          <a:p>
            <a:r>
              <a:t>סקיל של פרויקט נשמר ב־‎.claude/skills/&lt;שם&gt;/SKILL.md. סקיל אישי לכל הפרויקטים נשמר ב־‎~/.claude/skills/.</a:t>
            </a:r>
          </a:p>
          <a:p>
            <a:r>
              <a:t>יש שתי דרכים להפעיל: ‎/שם-הסקיל, או ש־Claude מפעיל אותו לבד לפי התיאור. באפליקציה כותבים / בתיבה, או לוחצים + ואז Slash commands.</a:t>
            </a:r>
          </a:p>
          <a:p>
            <a:r>
              <a:t>ההבדל מ־CLAUDE.md: התוכן של סקיל נטען רק כשמשתמשים בו.</a:t>
            </a:r>
          </a:p>
          <a:p/>
          <a:p>
            <a:r>
              <a:t>מקורות:</a:t>
            </a:r>
          </a:p>
          <a:p>
            <a:r>
              <a:t>https://code.claude.com/docs/en/skills</a:t>
            </a:r>
          </a:p>
          <a:p>
            <a:r>
              <a:t>https://code.claude.com/docs/en/desktop (Skills and slash commands)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הסקיל אורז את חמשת השלבים שעשינו בשקפים 16–22, יחד עם הכללים.</a:t>
            </a:r>
          </a:p>
          <a:p>
            <a:r>
              <a:t>השדה disable-model-invocation: true קובע ש־Claude לא יפעיל את הסקיל לבד, אלא רק כשהיועץ כותב ‎/prepare-bank-file. זה מתאים לתהליך שיוצר ומשנה קבצים.</a:t>
            </a:r>
          </a:p>
          <a:p>
            <a:r>
              <a:t>השדה description עוזר ל־Claude ולמשתמש להבין מתי להשתמש בסקיל.</a:t>
            </a:r>
          </a:p>
          <a:p/>
          <a:p>
            <a:r>
              <a:t>מקורות:</a:t>
            </a:r>
          </a:p>
          <a:p>
            <a:r>
              <a:t>https://code.claude.com/docs/en/skills (Frontmatter reference, Control who invokes a skill)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6 דקות.</a:t>
            </a:r>
          </a:p>
          <a:p>
            <a:r>
              <a:t>הנתיב מוצג עם / כמו בתיעוד. ב־Windows הסייר מציג אותו עם \, וזו אותה תיקייה: levi-case\.claude\skills\prepare-bank-file\SKILL.md.</a:t>
            </a:r>
          </a:p>
          <a:p>
            <a:r>
              <a:t>אם התיקייה ‎.claude לא מופיעה בסייר, ייתכן שהיא מוסתרת כי השם מתחיל בנקודה.</a:t>
            </a:r>
          </a:p>
          <a:p>
            <a:r>
              <a:t>סקיל של פרויקט זמין בתיקייה הזו. כדי להשתמש בו בתיקיות של לקוחות אחרים, אפשר לשמור אותו כסקיל אישי ב־‎~/.claude/skills/ (בהמשך, לא היום).</a:t>
            </a:r>
          </a:p>
          <a:p>
            <a:r>
              <a:t>את הסקיל נריץ בפעם הראשונה בתרגיל ההמשך (שקף 30), על תיק פיקטיבי חדש.</a:t>
            </a:r>
          </a:p>
          <a:p/>
          <a:p>
            <a:r>
              <a:t>מקורות:</a:t>
            </a:r>
          </a:p>
          <a:p>
            <a:r>
              <a:t>https://code.claude.com/docs/en/skills</a:t>
            </a:r>
          </a:p>
          <a:p>
            <a:r>
              <a:t>https://code.claude.com/docs/en/desktop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סוכן משנה נשמר כקובץ Markdown ב־‎.claude/agents/. בראש הקובץ: name,‏ description,‏ tools. גוף הקובץ הוא ההוראות שלו.</a:t>
            </a:r>
          </a:p>
          <a:p>
            <a:r>
              <a:t>הכלים Read,‏ Grep ו־Glob מאפשרים רק לקרוא ולחפש, כך שהסוכן לא יכול לשנות קבצים.</a:t>
            </a:r>
          </a:p>
          <a:p>
            <a:r>
              <a:t>יוצרים אותו בבקשה מ־Claude: „צור סוכן משנה בשם report-checker בתיקייה ‎.claude/agents, עם כלי קריאה בלבד, שמשווה טיוטה למקורות.”</a:t>
            </a:r>
          </a:p>
          <a:p>
            <a:r>
              <a:t>באפליקציה, חלונית Background tasks מציגה את סוכני המשנה שרצים.</a:t>
            </a:r>
          </a:p>
          <a:p>
            <a:r>
              <a:t>Agent Teams: צוות של שיחות ש־Claude מתאם. זמין בטרמינל ולא באפליקציה.</a:t>
            </a:r>
          </a:p>
          <a:p>
            <a:r>
              <a:t>השימוש בסוכני משנה נספר באותן מגבלות שימוש של השיחה הראשית.</a:t>
            </a:r>
          </a:p>
          <a:p/>
          <a:p>
            <a:r>
              <a:t>מקורות:</a:t>
            </a:r>
          </a:p>
          <a:p>
            <a:r>
              <a:t>https://code.claude.com/docs/en/sub-agents</a:t>
            </a:r>
          </a:p>
          <a:p>
            <a:r>
              <a:t>https://code.claude.com/docs/en/desktop (Agent teams, Background tasks)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כלל אצבע: משהו שאומרים פעם אחת הוא בקשה. כלל שחל תמיד נכנס ל־CLAUDE.md. תהליך שחוזר הופך לסקיל. בדיקה ממוקדת עוברת לסוכן משנה.</a:t>
            </a:r>
          </a:p>
          <a:p>
            <a:r>
              <a:t>אפשר להפעיל סוכן משנה בבקשה שמזכירה את השם שלו, כמו כאן, או עם @ ובחירה מהרשימה. Claude יכול גם להאציל אליו לבד לפי התיאור.</a:t>
            </a:r>
          </a:p>
          <a:p>
            <a:r>
              <a:t>התוצאה חוזרת לשיחה כסיכום. היועץ מחליט מה לתקן.</a:t>
            </a:r>
          </a:p>
          <a:p/>
          <a:p>
            <a:r>
              <a:t>מקורות:</a:t>
            </a:r>
          </a:p>
          <a:p>
            <a:r>
              <a:t>https://code.claude.com/docs/en/sub-agents (Invoke subagents)</a:t>
            </a:r>
          </a:p>
          <a:p>
            <a:r>
              <a:t>https://code.claude.com/docs/en/skills</a:t>
            </a:r>
          </a:p>
          <a:p>
            <a:r>
              <a:t>https://code.claude.com/docs/en/memory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 (שקפים 28–30: 10 דקות).</a:t>
            </a:r>
          </a:p>
          <a:p>
            <a:r>
              <a:t>לא כותבים „זה לא עובד”. מתארים מה ראיתם ומה ציפיתם לראות.</a:t>
            </a:r>
          </a:p>
          <a:p>
            <a:r>
              <a:t>מגבלת שימוש: המכסה משותפת לכל הדרכים שבהן עובדים עם Claude Code. טבעת השימוש ליד בורר המודל מראה כמה נוצל. הפקודה ‎/context מראה מה תופס מקום בהקשר של השיחה.</a:t>
            </a:r>
          </a:p>
          <a:p>
            <a:r>
              <a:t>אפשר לעצור את Claude בכל רגע בכפתור העצירה, או לכתוב תיקון ולשלוח בלי לעצור.</a:t>
            </a:r>
          </a:p>
          <a:p/>
          <a:p>
            <a:r>
              <a:t>מקורות:</a:t>
            </a:r>
          </a:p>
          <a:p>
            <a:r>
              <a:t>https://code.claude.com/docs/en/desktop (Usage, Troubleshooting)</a:t>
            </a:r>
          </a:p>
          <a:p>
            <a:r>
              <a:t>https://code.claude.com/docs/en/desktop-quickstart (Interrupt and steer)</a:t>
            </a:r>
          </a:p>
          <a:p/>
          <a:p>
            <a:r>
              <a:t>איך מזהים: תיקייה שגויה – Claude לא מוצא את 01_originals. קובץ שלא נקרא – הוא חסר ברשימת הקבצים. תוצר במקום אחר – הדוח לא נמצא ב־03_reports. מידע חסר – שדה ריק או ניחוש בטיוטה.</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הבדיקה נעשית בסייר הקבצים ובקבצים עצמם, ולא רק לפי מה ש־Claude כתב בשיחה.</a:t>
            </a:r>
          </a:p>
          <a:p>
            <a:r>
              <a:t>מי שחסר לו פריט, מבקש תיקון ממוקד לפי שקף 28.</a:t>
            </a:r>
          </a:p>
          <a:p/>
          <a:p>
            <a:r>
              <a:t>רשימה מלאה: מקורות ללא שינוי; קובץ name_map.md והכפילות מסומנת; קובץ draft.md עם הכותרת „טיוטה לבדיקת היועץ”; דפי העו״ש ברשימת החוסרים ושני הסכומים מוצגים בשאלות לבירור.</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תשובות קצרות: (1) כלל שחל תמיד נכנס ל־CLAUDE.md, ותהליך עם שלבים הופך לסקיל. (2) ההחלטה של היועץ, אחרי בירור עם הלקוח. (3) סיכום של ממצאים, והוא לא משנה קבצים. (4) שהמידע מעובד רק במחשב.</a:t>
            </a:r>
          </a:p>
          <a:p>
            <a:r>
              <a:t>משימת ההמשך: להעתיק את ‎.claude מביא איתו את הסקיל ואת סוכן המשנה. נתונים פיקטיביים בלבד.</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claude.ai/api/desktop/win32/x64/setup/latest/redirect" TargetMode="External"/><Relationship Id="rId4" Type="http://schemas.openxmlformats.org/officeDocument/2006/relationships/hyperlink" Target="https://claude.ai/api/desktop/win32/arm64/setup/latest/redirect" TargetMode="Externa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_crop.png"/>
          <p:cNvPicPr>
            <a:picLocks noChangeAspect="1"/>
          </p:cNvPicPr>
          <p:nvPr/>
        </p:nvPicPr>
        <p:blipFill>
          <a:blip r:embed="rId2"/>
          <a:stretch>
            <a:fillRect/>
          </a:stretch>
        </p:blipFill>
        <p:spPr>
          <a:xfrm>
            <a:off x="8534095" y="502920"/>
            <a:ext cx="3108854" cy="1810512"/>
          </a:xfrm>
          <a:prstGeom prst="rect">
            <a:avLst/>
          </a:prstGeom>
        </p:spPr>
      </p:pic>
      <p:pic>
        <p:nvPicPr>
          <p:cNvPr id="3" name="Picture 2" descr="character-future.png"/>
          <p:cNvPicPr>
            <a:picLocks noChangeAspect="1"/>
          </p:cNvPicPr>
          <p:nvPr/>
        </p:nvPicPr>
        <p:blipFill>
          <a:blip r:embed="rId3"/>
          <a:stretch>
            <a:fillRect/>
          </a:stretch>
        </p:blipFill>
        <p:spPr>
          <a:xfrm>
            <a:off x="457200" y="822959"/>
            <a:ext cx="3838443" cy="5669280"/>
          </a:xfrm>
          <a:prstGeom prst="rect">
            <a:avLst/>
          </a:prstGeom>
        </p:spPr>
      </p:pic>
      <p:sp>
        <p:nvSpPr>
          <p:cNvPr id="4" name="TextBox 3"/>
          <p:cNvSpPr txBox="1"/>
          <p:nvPr/>
        </p:nvSpPr>
        <p:spPr>
          <a:xfrm>
            <a:off x="4343400" y="2606040"/>
            <a:ext cx="7299655" cy="1645920"/>
          </a:xfrm>
          <a:prstGeom prst="rect">
            <a:avLst/>
          </a:prstGeom>
          <a:noFill/>
        </p:spPr>
        <p:txBody>
          <a:bodyPr wrap="square" lIns="73152" rIns="73152" tIns="54864" bIns="54864" anchor="t">
            <a:noAutofit/>
          </a:bodyPr>
          <a:lstStyle/>
          <a:p>
            <a:pPr rtl="1" algn="r">
              <a:lnSpc>
                <a:spcPct val="100000"/>
              </a:lnSpc>
            </a:pPr>
            <a:r>
              <a:rPr sz="4800" b="1" i="0" lang="he-IL">
                <a:solidFill>
                  <a:srgbClr val="0A1A33"/>
                </a:solidFill>
                <a:latin typeface="Rubik"/>
                <a:ea typeface="Rubik"/>
                <a:cs typeface="Rubik"/>
              </a:rPr>
              <a:t>Claude Code</a:t>
            </a:r>
          </a:p>
          <a:p>
            <a:pPr rtl="1" algn="r">
              <a:lnSpc>
                <a:spcPct val="100000"/>
              </a:lnSpc>
            </a:pPr>
            <a:r>
              <a:rPr sz="4800" b="1" i="0" lang="he-IL">
                <a:solidFill>
                  <a:srgbClr val="0A1A33"/>
                </a:solidFill>
                <a:latin typeface="Rubik"/>
                <a:ea typeface="Rubik"/>
                <a:cs typeface="Rubik"/>
              </a:rPr>
              <a:t>ליועצי משכנתאות</a:t>
            </a:r>
          </a:p>
        </p:txBody>
      </p:sp>
      <p:sp>
        <p:nvSpPr>
          <p:cNvPr id="5" name="TextBox 4"/>
          <p:cNvSpPr txBox="1"/>
          <p:nvPr/>
        </p:nvSpPr>
        <p:spPr>
          <a:xfrm>
            <a:off x="4343400" y="4206240"/>
            <a:ext cx="7299655" cy="822960"/>
          </a:xfrm>
          <a:prstGeom prst="rect">
            <a:avLst/>
          </a:prstGeom>
          <a:noFill/>
        </p:spPr>
        <p:txBody>
          <a:bodyPr wrap="square" lIns="73152" rIns="73152" tIns="54864" bIns="54864" anchor="t">
            <a:noAutofit/>
          </a:bodyPr>
          <a:lstStyle/>
          <a:p>
            <a:pPr rtl="1" algn="r">
              <a:lnSpc>
                <a:spcPct val="110000"/>
              </a:lnSpc>
            </a:pPr>
            <a:r>
              <a:rPr sz="2200" b="0" i="0" lang="he-IL">
                <a:solidFill>
                  <a:srgbClr val="435FB5"/>
                </a:solidFill>
                <a:latin typeface="Rubik"/>
                <a:ea typeface="Rubik"/>
                <a:cs typeface="Rubik"/>
              </a:rPr>
              <a:t>עבודה עם קבצים והכנת תיק לקוח</a:t>
            </a:r>
          </a:p>
          <a:p>
            <a:pPr rtl="1" algn="r">
              <a:lnSpc>
                <a:spcPct val="110000"/>
              </a:lnSpc>
            </a:pPr>
            <a:r>
              <a:rPr sz="2200" b="0" i="0" lang="he-IL">
                <a:solidFill>
                  <a:srgbClr val="435FB5"/>
                </a:solidFill>
                <a:latin typeface="Rubik"/>
                <a:ea typeface="Rubik"/>
                <a:cs typeface="Rubik"/>
              </a:rPr>
              <a:t>באמצעות הוראות בעברית</a:t>
            </a:r>
          </a:p>
        </p:txBody>
      </p:sp>
      <p:sp>
        <p:nvSpPr>
          <p:cNvPr id="6" name="Rectangle 5"/>
          <p:cNvSpPr/>
          <p:nvPr/>
        </p:nvSpPr>
        <p:spPr>
          <a:xfrm>
            <a:off x="10545775" y="5138928"/>
            <a:ext cx="1097280" cy="54864"/>
          </a:xfrm>
          <a:prstGeom prst="rect">
            <a:avLst/>
          </a:prstGeom>
          <a:solidFill>
            <a:srgbClr val="64CAAD"/>
          </a:solidFill>
          <a:ln>
            <a:noFill/>
          </a:ln>
          <a:effectLst/>
        </p:spPr>
        <p:txBody>
          <a:bodyPr rtlCol="0" anchor="ctr"/>
          <a:lstStyle/>
          <a:p>
            <a:pPr algn="ctr"/>
          </a:p>
        </p:txBody>
      </p:sp>
      <p:sp>
        <p:nvSpPr>
          <p:cNvPr id="7" name="TextBox 6"/>
          <p:cNvSpPr txBox="1"/>
          <p:nvPr/>
        </p:nvSpPr>
        <p:spPr>
          <a:xfrm>
            <a:off x="4343400" y="5321808"/>
            <a:ext cx="7299655"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0A1A33"/>
                </a:solidFill>
                <a:latin typeface="Rubik"/>
                <a:ea typeface="Rubik"/>
                <a:cs typeface="Rubik"/>
              </a:rPr>
              <a:t>יוחנן שבדרון</a:t>
            </a:r>
            <a:r>
              <a:rPr sz="2200" b="0" i="0" lang="he-IL">
                <a:solidFill>
                  <a:srgbClr val="4C5058"/>
                </a:solidFill>
                <a:latin typeface="Rubik"/>
                <a:ea typeface="Rubik"/>
                <a:cs typeface="Rubik"/>
              </a:rPr>
              <a:t>  |  ‎SHWADRON.AI‎</a:t>
            </a:r>
          </a:p>
        </p:txBody>
      </p:sp>
      <p:sp>
        <p:nvSpPr>
          <p:cNvPr id="8" name="TextBox 7"/>
          <p:cNvSpPr txBox="1"/>
          <p:nvPr/>
        </p:nvSpPr>
        <p:spPr>
          <a:xfrm>
            <a:off x="4343400" y="5833872"/>
            <a:ext cx="7299655" cy="36576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8D9299"/>
                </a:solidFill>
                <a:latin typeface="Rubik"/>
                <a:ea typeface="Rubik"/>
                <a:cs typeface="Rubik"/>
              </a:rPr>
              <a:t>שיעור מעשי בזום  ·  שעתיים  ·  התקנה, הדגמות ותרגול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פתיחה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העבודה שנבצע היום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Oval 4"/>
          <p:cNvSpPr/>
          <p:nvPr/>
        </p:nvSpPr>
        <p:spPr>
          <a:xfrm>
            <a:off x="9981933"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1</a:t>
            </a:r>
          </a:p>
        </p:txBody>
      </p:sp>
      <p:sp>
        <p:nvSpPr>
          <p:cNvPr id="6" name="TextBox 5"/>
          <p:cNvSpPr txBox="1"/>
          <p:nvPr/>
        </p:nvSpPr>
        <p:spPr>
          <a:xfrm>
            <a:off x="8976093" y="2240280"/>
            <a:ext cx="256032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קבלת מסמכים</a:t>
            </a:r>
          </a:p>
        </p:txBody>
      </p:sp>
      <p:cxnSp>
        <p:nvCxnSpPr>
          <p:cNvPr id="7" name="Connector 6"/>
          <p:cNvCxnSpPr/>
          <p:nvPr/>
        </p:nvCxnSpPr>
        <p:spPr>
          <a:xfrm>
            <a:off x="7894129" y="1874519"/>
            <a:ext cx="1950644"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7208329"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2</a:t>
            </a:r>
          </a:p>
        </p:txBody>
      </p:sp>
      <p:sp>
        <p:nvSpPr>
          <p:cNvPr id="9" name="TextBox 8"/>
          <p:cNvSpPr txBox="1"/>
          <p:nvPr/>
        </p:nvSpPr>
        <p:spPr>
          <a:xfrm>
            <a:off x="6202489" y="2240280"/>
            <a:ext cx="256032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הבנת התוכן</a:t>
            </a:r>
          </a:p>
        </p:txBody>
      </p:sp>
      <p:cxnSp>
        <p:nvCxnSpPr>
          <p:cNvPr id="10" name="Connector 9"/>
          <p:cNvCxnSpPr/>
          <p:nvPr/>
        </p:nvCxnSpPr>
        <p:spPr>
          <a:xfrm>
            <a:off x="5120525" y="1874519"/>
            <a:ext cx="1950644"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4434725"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3</a:t>
            </a:r>
          </a:p>
        </p:txBody>
      </p:sp>
      <p:sp>
        <p:nvSpPr>
          <p:cNvPr id="12" name="TextBox 11"/>
          <p:cNvSpPr txBox="1"/>
          <p:nvPr/>
        </p:nvSpPr>
        <p:spPr>
          <a:xfrm>
            <a:off x="3428885" y="2240280"/>
            <a:ext cx="256032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ארגון</a:t>
            </a:r>
          </a:p>
        </p:txBody>
      </p:sp>
      <p:cxnSp>
        <p:nvCxnSpPr>
          <p:cNvPr id="13" name="Connector 12"/>
          <p:cNvCxnSpPr/>
          <p:nvPr/>
        </p:nvCxnSpPr>
        <p:spPr>
          <a:xfrm>
            <a:off x="2346921" y="1874519"/>
            <a:ext cx="1950644"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661121"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4</a:t>
            </a:r>
          </a:p>
        </p:txBody>
      </p:sp>
      <p:sp>
        <p:nvSpPr>
          <p:cNvPr id="15" name="TextBox 14"/>
          <p:cNvSpPr txBox="1"/>
          <p:nvPr/>
        </p:nvSpPr>
        <p:spPr>
          <a:xfrm>
            <a:off x="655281" y="2240280"/>
            <a:ext cx="256032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ריכוז נתונים</a:t>
            </a:r>
          </a:p>
        </p:txBody>
      </p:sp>
      <p:pic>
        <p:nvPicPr>
          <p:cNvPr id="16" name="Picture 15" descr="art-shift.png"/>
          <p:cNvPicPr>
            <a:picLocks noChangeAspect="1"/>
          </p:cNvPicPr>
          <p:nvPr/>
        </p:nvPicPr>
        <p:blipFill>
          <a:blip r:embed="rId2"/>
          <a:stretch>
            <a:fillRect/>
          </a:stretch>
        </p:blipFill>
        <p:spPr>
          <a:xfrm>
            <a:off x="502920" y="2926080"/>
            <a:ext cx="3722501" cy="3383280"/>
          </a:xfrm>
          <a:prstGeom prst="rect">
            <a:avLst/>
          </a:prstGeom>
        </p:spPr>
      </p:pic>
      <p:sp>
        <p:nvSpPr>
          <p:cNvPr id="17" name="TextBox 16"/>
          <p:cNvSpPr txBox="1"/>
          <p:nvPr/>
        </p:nvSpPr>
        <p:spPr>
          <a:xfrm>
            <a:off x="6583680" y="3154680"/>
            <a:ext cx="5059375"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המצב בהתחלה</a:t>
            </a:r>
          </a:p>
        </p:txBody>
      </p:sp>
      <p:sp>
        <p:nvSpPr>
          <p:cNvPr id="18" name="Rounded Rectangle 17"/>
          <p:cNvSpPr/>
          <p:nvPr/>
        </p:nvSpPr>
        <p:spPr>
          <a:xfrm>
            <a:off x="6583680" y="3611880"/>
            <a:ext cx="5059375" cy="2377440"/>
          </a:xfrm>
          <a:prstGeom prst="roundRect">
            <a:avLst>
              <a:gd name="adj" fmla="val 6000"/>
            </a:avLst>
          </a:prstGeom>
          <a:solidFill>
            <a:srgbClr val="0A1A33"/>
          </a:solidFill>
          <a:ln>
            <a:noFill/>
          </a:ln>
          <a:effectLst/>
        </p:spPr>
        <p:txBody>
          <a:bodyPr rtlCol="0" anchor="ctr"/>
          <a:lstStyle/>
          <a:p>
            <a:pPr algn="ctr"/>
          </a:p>
        </p:txBody>
      </p:sp>
      <p:sp>
        <p:nvSpPr>
          <p:cNvPr id="19" name="TextBox 18"/>
          <p:cNvSpPr txBox="1"/>
          <p:nvPr/>
        </p:nvSpPr>
        <p:spPr>
          <a:xfrm>
            <a:off x="6720840" y="3721608"/>
            <a:ext cx="4785055" cy="2194560"/>
          </a:xfrm>
          <a:prstGeom prst="rect">
            <a:avLst/>
          </a:prstGeom>
          <a:noFill/>
        </p:spPr>
        <p:txBody>
          <a:bodyPr wrap="square" lIns="73152" rIns="73152" tIns="54864" bIns="54864" anchor="t">
            <a:noAutofit/>
          </a:bodyPr>
          <a:lstStyle/>
          <a:p>
            <a:pPr rtl="0" algn="l">
              <a:lnSpc>
                <a:spcPct val="115000"/>
              </a:lnSpc>
              <a:spcAft>
                <a:spcPts val="200"/>
              </a:spcAft>
            </a:pPr>
            <a:r>
              <a:rPr sz="1800" b="0" i="0" lang="en-US">
                <a:solidFill>
                  <a:srgbClr val="FFFFFF"/>
                </a:solidFill>
                <a:latin typeface="Consolas"/>
                <a:ea typeface="Consolas"/>
                <a:cs typeface="Rubik"/>
              </a:rPr>
              <a:t>01_originals\</a:t>
            </a:r>
          </a:p>
          <a:p>
            <a:pPr rtl="0" algn="l">
              <a:lnSpc>
                <a:spcPct val="115000"/>
              </a:lnSpc>
              <a:spcAft>
                <a:spcPts val="200"/>
              </a:spcAft>
            </a:pPr>
            <a:r>
              <a:rPr sz="1800" b="0" i="0" lang="en-US">
                <a:solidFill>
                  <a:srgbClr val="FFFFFF"/>
                </a:solidFill>
                <a:latin typeface="Consolas"/>
                <a:ea typeface="Consolas"/>
                <a:cs typeface="Rubik"/>
              </a:rPr>
              <a:t>  doc1.txt</a:t>
            </a:r>
          </a:p>
          <a:p>
            <a:pPr rtl="0" algn="l">
              <a:lnSpc>
                <a:spcPct val="115000"/>
              </a:lnSpc>
              <a:spcAft>
                <a:spcPts val="200"/>
              </a:spcAft>
            </a:pPr>
            <a:r>
              <a:rPr sz="1800" b="0" i="0" lang="en-US">
                <a:solidFill>
                  <a:srgbClr val="FFFFFF"/>
                </a:solidFill>
                <a:latin typeface="Consolas"/>
                <a:ea typeface="Consolas"/>
                <a:cs typeface="Rubik"/>
              </a:rPr>
              <a:t>  doc1_copy.txt</a:t>
            </a:r>
          </a:p>
          <a:p>
            <a:pPr rtl="0" algn="l">
              <a:lnSpc>
                <a:spcPct val="115000"/>
              </a:lnSpc>
              <a:spcAft>
                <a:spcPts val="200"/>
              </a:spcAft>
            </a:pPr>
            <a:r>
              <a:rPr sz="1800" b="0" i="0" lang="en-US">
                <a:solidFill>
                  <a:srgbClr val="FFFFFF"/>
                </a:solidFill>
                <a:latin typeface="Consolas"/>
                <a:ea typeface="Consolas"/>
                <a:cs typeface="Rubik"/>
              </a:rPr>
              <a:t>  scan_0012.txt</a:t>
            </a:r>
          </a:p>
          <a:p>
            <a:pPr rtl="0" algn="l">
              <a:lnSpc>
                <a:spcPct val="115000"/>
              </a:lnSpc>
              <a:spcAft>
                <a:spcPts val="200"/>
              </a:spcAft>
            </a:pPr>
            <a:r>
              <a:rPr sz="1800" b="0" i="0" lang="en-US">
                <a:solidFill>
                  <a:srgbClr val="FFFFFF"/>
                </a:solidFill>
                <a:latin typeface="Consolas"/>
                <a:ea typeface="Consolas"/>
                <a:cs typeface="Rubik"/>
              </a:rPr>
              <a:t>  new file.txt</a:t>
            </a:r>
          </a:p>
          <a:p>
            <a:pPr rtl="0" algn="l">
              <a:lnSpc>
                <a:spcPct val="115000"/>
              </a:lnSpc>
              <a:spcAft>
                <a:spcPts val="200"/>
              </a:spcAft>
            </a:pPr>
            <a:r>
              <a:rPr sz="1800" b="0" i="0" lang="en-US">
                <a:solidFill>
                  <a:srgbClr val="FFFFFF"/>
                </a:solidFill>
                <a:latin typeface="Consolas"/>
                <a:ea typeface="Consolas"/>
                <a:cs typeface="Rubik"/>
              </a:rPr>
              <a:t>  notes.txt</a:t>
            </a:r>
          </a:p>
        </p:txBody>
      </p:sp>
      <p:sp>
        <p:nvSpPr>
          <p:cNvPr id="20" name="TextBox 1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פתיחה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התוצר בסוף השיעור</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art-able.png"/>
          <p:cNvPicPr>
            <a:picLocks noChangeAspect="1"/>
          </p:cNvPicPr>
          <p:nvPr/>
        </p:nvPicPr>
        <p:blipFill>
          <a:blip r:embed="rId2"/>
          <a:stretch>
            <a:fillRect/>
          </a:stretch>
        </p:blipFill>
        <p:spPr>
          <a:xfrm>
            <a:off x="411480" y="2148839"/>
            <a:ext cx="3492574" cy="4023360"/>
          </a:xfrm>
          <a:prstGeom prst="rect">
            <a:avLst/>
          </a:prstGeom>
        </p:spPr>
      </p:pic>
      <p:sp>
        <p:nvSpPr>
          <p:cNvPr id="6" name="Rounded Rectangle 5"/>
          <p:cNvSpPr/>
          <p:nvPr/>
        </p:nvSpPr>
        <p:spPr>
          <a:xfrm>
            <a:off x="7947507" y="1645920"/>
            <a:ext cx="3695547" cy="1828800"/>
          </a:xfrm>
          <a:prstGeom prst="roundRect">
            <a:avLst>
              <a:gd name="adj" fmla="val 8000"/>
            </a:avLst>
          </a:prstGeom>
          <a:solidFill>
            <a:srgbClr val="F7F8F8"/>
          </a:solidFill>
          <a:ln>
            <a:noFill/>
          </a:ln>
          <a:effectLst/>
        </p:spPr>
        <p:txBody>
          <a:bodyPr rtlCol="0" anchor="ctr"/>
          <a:lstStyle/>
          <a:p>
            <a:pPr algn="ctr"/>
          </a:p>
        </p:txBody>
      </p:sp>
      <p:sp>
        <p:nvSpPr>
          <p:cNvPr id="7" name="Oval 6"/>
          <p:cNvSpPr/>
          <p:nvPr/>
        </p:nvSpPr>
        <p:spPr>
          <a:xfrm>
            <a:off x="10957255" y="1920240"/>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1</a:t>
            </a:r>
          </a:p>
        </p:txBody>
      </p:sp>
      <p:sp>
        <p:nvSpPr>
          <p:cNvPr id="8" name="TextBox 7"/>
          <p:cNvSpPr txBox="1"/>
          <p:nvPr/>
        </p:nvSpPr>
        <p:spPr>
          <a:xfrm>
            <a:off x="8221827" y="1901952"/>
            <a:ext cx="259826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מסמכים מסודרים</a:t>
            </a:r>
          </a:p>
        </p:txBody>
      </p:sp>
      <p:sp>
        <p:nvSpPr>
          <p:cNvPr id="9" name="TextBox 8"/>
          <p:cNvSpPr txBox="1"/>
          <p:nvPr/>
        </p:nvSpPr>
        <p:spPr>
          <a:xfrm>
            <a:off x="8221827" y="2377440"/>
            <a:ext cx="3146907" cy="100584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עותקים בשמות ברורים</a:t>
            </a:r>
          </a:p>
        </p:txBody>
      </p:sp>
      <p:sp>
        <p:nvSpPr>
          <p:cNvPr id="10" name="Rounded Rectangle 9"/>
          <p:cNvSpPr/>
          <p:nvPr/>
        </p:nvSpPr>
        <p:spPr>
          <a:xfrm>
            <a:off x="3977640" y="1645920"/>
            <a:ext cx="3695547" cy="1828800"/>
          </a:xfrm>
          <a:prstGeom prst="roundRect">
            <a:avLst>
              <a:gd name="adj" fmla="val 8000"/>
            </a:avLst>
          </a:prstGeom>
          <a:solidFill>
            <a:srgbClr val="F7F8F8"/>
          </a:solidFill>
          <a:ln>
            <a:noFill/>
          </a:ln>
          <a:effectLst/>
        </p:spPr>
        <p:txBody>
          <a:bodyPr rtlCol="0" anchor="ctr"/>
          <a:lstStyle/>
          <a:p>
            <a:pPr algn="ctr"/>
          </a:p>
        </p:txBody>
      </p:sp>
      <p:sp>
        <p:nvSpPr>
          <p:cNvPr id="11" name="Oval 10"/>
          <p:cNvSpPr/>
          <p:nvPr/>
        </p:nvSpPr>
        <p:spPr>
          <a:xfrm>
            <a:off x="6987387" y="1920240"/>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2</a:t>
            </a:r>
          </a:p>
        </p:txBody>
      </p:sp>
      <p:sp>
        <p:nvSpPr>
          <p:cNvPr id="12" name="TextBox 11"/>
          <p:cNvSpPr txBox="1"/>
          <p:nvPr/>
        </p:nvSpPr>
        <p:spPr>
          <a:xfrm>
            <a:off x="4251960" y="1901952"/>
            <a:ext cx="259826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רשימת קבצים</a:t>
            </a:r>
          </a:p>
        </p:txBody>
      </p:sp>
      <p:sp>
        <p:nvSpPr>
          <p:cNvPr id="13" name="TextBox 12"/>
          <p:cNvSpPr txBox="1"/>
          <p:nvPr/>
        </p:nvSpPr>
        <p:spPr>
          <a:xfrm>
            <a:off x="4251960" y="2377440"/>
            <a:ext cx="3146907" cy="100584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מה יש בכל קובץ</a:t>
            </a:r>
          </a:p>
        </p:txBody>
      </p:sp>
      <p:sp>
        <p:nvSpPr>
          <p:cNvPr id="14" name="Rounded Rectangle 13"/>
          <p:cNvSpPr/>
          <p:nvPr/>
        </p:nvSpPr>
        <p:spPr>
          <a:xfrm>
            <a:off x="7947507" y="3749039"/>
            <a:ext cx="3695547" cy="1828800"/>
          </a:xfrm>
          <a:prstGeom prst="roundRect">
            <a:avLst>
              <a:gd name="adj" fmla="val 8000"/>
            </a:avLst>
          </a:prstGeom>
          <a:solidFill>
            <a:srgbClr val="F7F8F8"/>
          </a:solidFill>
          <a:ln>
            <a:noFill/>
          </a:ln>
          <a:effectLst/>
        </p:spPr>
        <p:txBody>
          <a:bodyPr rtlCol="0" anchor="ctr"/>
          <a:lstStyle/>
          <a:p>
            <a:pPr algn="ctr"/>
          </a:p>
        </p:txBody>
      </p:sp>
      <p:sp>
        <p:nvSpPr>
          <p:cNvPr id="15" name="Oval 14"/>
          <p:cNvSpPr/>
          <p:nvPr/>
        </p:nvSpPr>
        <p:spPr>
          <a:xfrm>
            <a:off x="10957255" y="4023359"/>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3</a:t>
            </a:r>
          </a:p>
        </p:txBody>
      </p:sp>
      <p:sp>
        <p:nvSpPr>
          <p:cNvPr id="16" name="TextBox 15"/>
          <p:cNvSpPr txBox="1"/>
          <p:nvPr/>
        </p:nvSpPr>
        <p:spPr>
          <a:xfrm>
            <a:off x="8221827" y="4005072"/>
            <a:ext cx="259826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ריכוז נתונים וחוסרים</a:t>
            </a:r>
          </a:p>
        </p:txBody>
      </p:sp>
      <p:sp>
        <p:nvSpPr>
          <p:cNvPr id="17" name="TextBox 16"/>
          <p:cNvSpPr txBox="1"/>
          <p:nvPr/>
        </p:nvSpPr>
        <p:spPr>
          <a:xfrm>
            <a:off x="8221827" y="4480559"/>
            <a:ext cx="3146907" cy="100584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כל נתון עם קובץ המקור</a:t>
            </a:r>
          </a:p>
        </p:txBody>
      </p:sp>
      <p:sp>
        <p:nvSpPr>
          <p:cNvPr id="18" name="Rounded Rectangle 17"/>
          <p:cNvSpPr/>
          <p:nvPr/>
        </p:nvSpPr>
        <p:spPr>
          <a:xfrm>
            <a:off x="3977640" y="3749039"/>
            <a:ext cx="3695547" cy="1828800"/>
          </a:xfrm>
          <a:prstGeom prst="roundRect">
            <a:avLst>
              <a:gd name="adj" fmla="val 8000"/>
            </a:avLst>
          </a:prstGeom>
          <a:solidFill>
            <a:srgbClr val="EAF3FF"/>
          </a:solidFill>
          <a:ln>
            <a:noFill/>
          </a:ln>
          <a:effectLst/>
        </p:spPr>
        <p:txBody>
          <a:bodyPr rtlCol="0" anchor="ctr"/>
          <a:lstStyle/>
          <a:p>
            <a:pPr algn="ctr"/>
          </a:p>
        </p:txBody>
      </p:sp>
      <p:sp>
        <p:nvSpPr>
          <p:cNvPr id="19" name="Oval 18"/>
          <p:cNvSpPr/>
          <p:nvPr/>
        </p:nvSpPr>
        <p:spPr>
          <a:xfrm>
            <a:off x="6987387" y="4023359"/>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4</a:t>
            </a:r>
          </a:p>
        </p:txBody>
      </p:sp>
      <p:sp>
        <p:nvSpPr>
          <p:cNvPr id="20" name="TextBox 19"/>
          <p:cNvSpPr txBox="1"/>
          <p:nvPr/>
        </p:nvSpPr>
        <p:spPr>
          <a:xfrm>
            <a:off x="4251960" y="4005072"/>
            <a:ext cx="259826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טיוטה לבדיקת היועץ</a:t>
            </a:r>
          </a:p>
        </p:txBody>
      </p:sp>
      <p:sp>
        <p:nvSpPr>
          <p:cNvPr id="21" name="TextBox 20"/>
          <p:cNvSpPr txBox="1"/>
          <p:nvPr/>
        </p:nvSpPr>
        <p:spPr>
          <a:xfrm>
            <a:off x="4251960" y="4480559"/>
            <a:ext cx="3146907" cy="100584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לא אישור ולא המלצת אשראי</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3</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הכנות והתקנה ב־Windows</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3977639"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pic>
        <p:nvPicPr>
          <p:cNvPr id="6" name="Picture 5" descr="pose-laptop.png"/>
          <p:cNvPicPr>
            <a:picLocks noChangeAspect="1"/>
          </p:cNvPicPr>
          <p:nvPr/>
        </p:nvPicPr>
        <p:blipFill>
          <a:blip r:embed="rId2"/>
          <a:stretch>
            <a:fillRect/>
          </a:stretch>
        </p:blipFill>
        <p:spPr>
          <a:xfrm>
            <a:off x="548640" y="1417319"/>
            <a:ext cx="2572124" cy="4937760"/>
          </a:xfrm>
          <a:prstGeom prst="rect">
            <a:avLst/>
          </a:prstGeom>
        </p:spPr>
      </p:pic>
      <p:sp>
        <p:nvSpPr>
          <p:cNvPr id="7" name="Oval 6"/>
          <p:cNvSpPr/>
          <p:nvPr/>
        </p:nvSpPr>
        <p:spPr>
          <a:xfrm>
            <a:off x="11185855" y="161848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8" name="TextBox 7"/>
          <p:cNvSpPr txBox="1"/>
          <p:nvPr/>
        </p:nvSpPr>
        <p:spPr>
          <a:xfrm>
            <a:off x="4160520" y="158191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מנוי בתשלום</a:t>
            </a:r>
          </a:p>
        </p:txBody>
      </p:sp>
      <p:sp>
        <p:nvSpPr>
          <p:cNvPr id="9" name="TextBox 8"/>
          <p:cNvSpPr txBox="1"/>
          <p:nvPr/>
        </p:nvSpPr>
        <p:spPr>
          <a:xfrm>
            <a:off x="4160520" y="198424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Pro, Max, Team או Enterprise</a:t>
            </a:r>
          </a:p>
        </p:txBody>
      </p:sp>
      <p:sp>
        <p:nvSpPr>
          <p:cNvPr id="10" name="Oval 9"/>
          <p:cNvSpPr/>
          <p:nvPr/>
        </p:nvSpPr>
        <p:spPr>
          <a:xfrm>
            <a:off x="11185855" y="251460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11" name="TextBox 10"/>
          <p:cNvSpPr txBox="1"/>
          <p:nvPr/>
        </p:nvSpPr>
        <p:spPr>
          <a:xfrm>
            <a:off x="4160520" y="2478024"/>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הורדה מהאתר הרשמי</a:t>
            </a:r>
          </a:p>
        </p:txBody>
      </p:sp>
      <p:sp>
        <p:nvSpPr>
          <p:cNvPr id="12" name="TextBox 11"/>
          <p:cNvSpPr txBox="1"/>
          <p:nvPr/>
        </p:nvSpPr>
        <p:spPr>
          <a:xfrm>
            <a:off x="4160520" y="2880360"/>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קובץ ההתקנה ל־Windows</a:t>
            </a:r>
          </a:p>
        </p:txBody>
      </p:sp>
      <p:sp>
        <p:nvSpPr>
          <p:cNvPr id="13" name="Oval 12"/>
          <p:cNvSpPr/>
          <p:nvPr/>
        </p:nvSpPr>
        <p:spPr>
          <a:xfrm>
            <a:off x="11185855" y="3410712"/>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14" name="TextBox 13"/>
          <p:cNvSpPr txBox="1"/>
          <p:nvPr/>
        </p:nvSpPr>
        <p:spPr>
          <a:xfrm>
            <a:off x="4160520" y="3374136"/>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התקנה</a:t>
            </a:r>
          </a:p>
        </p:txBody>
      </p:sp>
      <p:sp>
        <p:nvSpPr>
          <p:cNvPr id="15" name="TextBox 14"/>
          <p:cNvSpPr txBox="1"/>
          <p:nvPr/>
        </p:nvSpPr>
        <p:spPr>
          <a:xfrm>
            <a:off x="4160520" y="377647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מריצים ופותחים מתפריט התחל</a:t>
            </a:r>
          </a:p>
        </p:txBody>
      </p:sp>
      <p:sp>
        <p:nvSpPr>
          <p:cNvPr id="16" name="Oval 15"/>
          <p:cNvSpPr/>
          <p:nvPr/>
        </p:nvSpPr>
        <p:spPr>
          <a:xfrm>
            <a:off x="11185855" y="4306823"/>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4</a:t>
            </a:r>
          </a:p>
        </p:txBody>
      </p:sp>
      <p:sp>
        <p:nvSpPr>
          <p:cNvPr id="17" name="TextBox 16"/>
          <p:cNvSpPr txBox="1"/>
          <p:nvPr/>
        </p:nvSpPr>
        <p:spPr>
          <a:xfrm>
            <a:off x="4160520" y="427024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התחברות</a:t>
            </a:r>
          </a:p>
        </p:txBody>
      </p:sp>
      <p:sp>
        <p:nvSpPr>
          <p:cNvPr id="18" name="TextBox 17"/>
          <p:cNvSpPr txBox="1"/>
          <p:nvPr/>
        </p:nvSpPr>
        <p:spPr>
          <a:xfrm>
            <a:off x="4160520" y="4672583"/>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עם החשבון שיש בו המנוי</a:t>
            </a:r>
          </a:p>
        </p:txBody>
      </p:sp>
      <p:sp>
        <p:nvSpPr>
          <p:cNvPr id="19" name="TextBox 18"/>
          <p:cNvSpPr txBox="1"/>
          <p:nvPr/>
        </p:nvSpPr>
        <p:spPr>
          <a:xfrm>
            <a:off x="4160520" y="5257800"/>
            <a:ext cx="7482535" cy="384048"/>
          </a:xfrm>
          <a:prstGeom prst="rect">
            <a:avLst/>
          </a:prstGeom>
          <a:noFill/>
        </p:spPr>
        <p:txBody>
          <a:bodyPr wrap="square" lIns="73152" rIns="73152" tIns="54864" bIns="54864" anchor="t">
            <a:noAutofit/>
          </a:bodyPr>
          <a:lstStyle/>
          <a:p>
            <a:pPr rtl="1" algn="r">
              <a:lnSpc>
                <a:spcPct val="110000"/>
              </a:lnSpc>
              <a:spcAft>
                <a:spcPts val="600"/>
              </a:spcAft>
            </a:pPr>
            <a:r>
              <a:rPr sz="1800" b="1" i="0" lang="he-IL">
                <a:solidFill>
                  <a:srgbClr val="0A1A33"/>
                </a:solidFill>
                <a:latin typeface="Rubik"/>
                <a:ea typeface="Rubik"/>
                <a:cs typeface="Rubik"/>
              </a:rPr>
              <a:t>הורדה:  </a:t>
            </a:r>
            <a:r>
              <a:rPr sz="1800" b="1" i="0" lang="he-IL">
                <a:solidFill>
                  <a:srgbClr val="435FB5"/>
                </a:solidFill>
                <a:latin typeface="Rubik"/>
                <a:ea typeface="Rubik"/>
                <a:cs typeface="Rubik"/>
                <a:hlinkClick r:id="rId3"/>
              </a:rPr>
              <a:t>‎x64‎</a:t>
            </a:r>
            <a:r>
              <a:rPr sz="1800" b="0" i="0" lang="he-IL">
                <a:solidFill>
                  <a:srgbClr val="8D9299"/>
                </a:solidFill>
                <a:latin typeface="Rubik"/>
                <a:ea typeface="Rubik"/>
                <a:cs typeface="Rubik"/>
              </a:rPr>
              <a:t>   |   </a:t>
            </a:r>
            <a:r>
              <a:rPr sz="1800" b="1" i="0" lang="he-IL">
                <a:solidFill>
                  <a:srgbClr val="435FB5"/>
                </a:solidFill>
                <a:latin typeface="Rubik"/>
                <a:ea typeface="Rubik"/>
                <a:cs typeface="Rubik"/>
                <a:hlinkClick r:id="rId4"/>
              </a:rPr>
              <a:t>‎ARM64‎</a:t>
            </a:r>
          </a:p>
        </p:txBody>
      </p:sp>
      <p:sp>
        <p:nvSpPr>
          <p:cNvPr id="20" name="Rounded Rectangle 19"/>
          <p:cNvSpPr/>
          <p:nvPr/>
        </p:nvSpPr>
        <p:spPr>
          <a:xfrm>
            <a:off x="7071055" y="5669280"/>
            <a:ext cx="4572000" cy="438912"/>
          </a:xfrm>
          <a:prstGeom prst="roundRect">
            <a:avLst>
              <a:gd name="adj" fmla="val 6000"/>
            </a:avLst>
          </a:prstGeom>
          <a:solidFill>
            <a:srgbClr val="0A1A33"/>
          </a:solidFill>
          <a:ln>
            <a:noFill/>
          </a:ln>
          <a:effectLst/>
        </p:spPr>
        <p:txBody>
          <a:bodyPr rtlCol="0" anchor="ctr"/>
          <a:lstStyle/>
          <a:p>
            <a:pPr algn="ctr"/>
          </a:p>
        </p:txBody>
      </p:sp>
      <p:sp>
        <p:nvSpPr>
          <p:cNvPr id="21" name="TextBox 20"/>
          <p:cNvSpPr txBox="1"/>
          <p:nvPr/>
        </p:nvSpPr>
        <p:spPr>
          <a:xfrm>
            <a:off x="7208215" y="5779008"/>
            <a:ext cx="4297680" cy="256031"/>
          </a:xfrm>
          <a:prstGeom prst="rect">
            <a:avLst/>
          </a:prstGeom>
          <a:noFill/>
        </p:spPr>
        <p:txBody>
          <a:bodyPr wrap="square" lIns="73152" rIns="73152" tIns="54864" bIns="54864" anchor="t">
            <a:noAutofit/>
          </a:bodyPr>
          <a:lstStyle/>
          <a:p>
            <a:pPr rtl="0" algn="l">
              <a:lnSpc>
                <a:spcPct val="115000"/>
              </a:lnSpc>
              <a:spcAft>
                <a:spcPts val="200"/>
              </a:spcAft>
            </a:pPr>
            <a:r>
              <a:rPr sz="1250" b="0" i="0" lang="en-US">
                <a:solidFill>
                  <a:srgbClr val="FFFFFF"/>
                </a:solidFill>
                <a:latin typeface="Consolas"/>
                <a:ea typeface="Consolas"/>
                <a:cs typeface="Rubik"/>
              </a:rPr>
              <a:t>code.claude.com/docs/en/desktop-quickstart</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4</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פתיחת סביבת העבודה הראשונה</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Oval 5"/>
          <p:cNvSpPr/>
          <p:nvPr/>
        </p:nvSpPr>
        <p:spPr>
          <a:xfrm>
            <a:off x="11185855" y="1664208"/>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1</a:t>
            </a:r>
          </a:p>
        </p:txBody>
      </p:sp>
      <p:sp>
        <p:nvSpPr>
          <p:cNvPr id="7" name="TextBox 6"/>
          <p:cNvSpPr txBox="1"/>
          <p:nvPr/>
        </p:nvSpPr>
        <p:spPr>
          <a:xfrm>
            <a:off x="6035040" y="1627632"/>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לשונית Code</a:t>
            </a:r>
          </a:p>
        </p:txBody>
      </p:sp>
      <p:sp>
        <p:nvSpPr>
          <p:cNvPr id="8" name="TextBox 7"/>
          <p:cNvSpPr txBox="1"/>
          <p:nvPr/>
        </p:nvSpPr>
        <p:spPr>
          <a:xfrm>
            <a:off x="6035040" y="2029968"/>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בראש סרגל הצד</a:t>
            </a:r>
          </a:p>
        </p:txBody>
      </p:sp>
      <p:sp>
        <p:nvSpPr>
          <p:cNvPr id="9" name="Oval 8"/>
          <p:cNvSpPr/>
          <p:nvPr/>
        </p:nvSpPr>
        <p:spPr>
          <a:xfrm>
            <a:off x="11185855" y="2688336"/>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2</a:t>
            </a:r>
          </a:p>
        </p:txBody>
      </p:sp>
      <p:sp>
        <p:nvSpPr>
          <p:cNvPr id="10" name="TextBox 9"/>
          <p:cNvSpPr txBox="1"/>
          <p:nvPr/>
        </p:nvSpPr>
        <p:spPr>
          <a:xfrm>
            <a:off x="6035040" y="2651760"/>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עבודה מקומית</a:t>
            </a:r>
          </a:p>
        </p:txBody>
      </p:sp>
      <p:sp>
        <p:nvSpPr>
          <p:cNvPr id="11" name="TextBox 10"/>
          <p:cNvSpPr txBox="1"/>
          <p:nvPr/>
        </p:nvSpPr>
        <p:spPr>
          <a:xfrm>
            <a:off x="6035040" y="3054096"/>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בורר הסביבה ← Local</a:t>
            </a:r>
          </a:p>
        </p:txBody>
      </p:sp>
      <p:sp>
        <p:nvSpPr>
          <p:cNvPr id="12" name="Oval 11"/>
          <p:cNvSpPr/>
          <p:nvPr/>
        </p:nvSpPr>
        <p:spPr>
          <a:xfrm>
            <a:off x="11185855" y="3712463"/>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3</a:t>
            </a:r>
          </a:p>
        </p:txBody>
      </p:sp>
      <p:sp>
        <p:nvSpPr>
          <p:cNvPr id="13" name="TextBox 12"/>
          <p:cNvSpPr txBox="1"/>
          <p:nvPr/>
        </p:nvSpPr>
        <p:spPr>
          <a:xfrm>
            <a:off x="6035040" y="3675888"/>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תיקיית התרגול</a:t>
            </a:r>
          </a:p>
        </p:txBody>
      </p:sp>
      <p:sp>
        <p:nvSpPr>
          <p:cNvPr id="14" name="TextBox 13"/>
          <p:cNvSpPr txBox="1"/>
          <p:nvPr/>
        </p:nvSpPr>
        <p:spPr>
          <a:xfrm>
            <a:off x="6035040" y="4078224"/>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בורר התיקייה ← Open folder…</a:t>
            </a:r>
          </a:p>
        </p:txBody>
      </p:sp>
      <p:sp>
        <p:nvSpPr>
          <p:cNvPr id="15" name="Oval 14"/>
          <p:cNvSpPr/>
          <p:nvPr/>
        </p:nvSpPr>
        <p:spPr>
          <a:xfrm>
            <a:off x="11185855" y="4736592"/>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4</a:t>
            </a:r>
          </a:p>
        </p:txBody>
      </p:sp>
      <p:sp>
        <p:nvSpPr>
          <p:cNvPr id="16" name="TextBox 15"/>
          <p:cNvSpPr txBox="1"/>
          <p:nvPr/>
        </p:nvSpPr>
        <p:spPr>
          <a:xfrm>
            <a:off x="6035040" y="4700016"/>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מצב הרשאות</a:t>
            </a:r>
          </a:p>
        </p:txBody>
      </p:sp>
      <p:sp>
        <p:nvSpPr>
          <p:cNvPr id="17" name="TextBox 16"/>
          <p:cNvSpPr txBox="1"/>
          <p:nvPr/>
        </p:nvSpPr>
        <p:spPr>
          <a:xfrm>
            <a:off x="6035040" y="5102352"/>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בתחילת התרגול: Manual</a:t>
            </a:r>
          </a:p>
        </p:txBody>
      </p:sp>
      <p:sp>
        <p:nvSpPr>
          <p:cNvPr id="18" name="Rounded Rectangle 17"/>
          <p:cNvSpPr/>
          <p:nvPr/>
        </p:nvSpPr>
        <p:spPr>
          <a:xfrm>
            <a:off x="548640" y="1645920"/>
            <a:ext cx="4754880" cy="2743200"/>
          </a:xfrm>
          <a:prstGeom prst="roundRect">
            <a:avLst>
              <a:gd name="adj" fmla="val 6000"/>
            </a:avLst>
          </a:prstGeom>
          <a:solidFill>
            <a:srgbClr val="F7F8F8"/>
          </a:solidFill>
          <a:ln>
            <a:noFill/>
          </a:ln>
          <a:effectLst/>
        </p:spPr>
        <p:txBody>
          <a:bodyPr rtlCol="0" anchor="ctr"/>
          <a:lstStyle/>
          <a:p>
            <a:pPr algn="ctr"/>
          </a:p>
        </p:txBody>
      </p:sp>
      <p:sp>
        <p:nvSpPr>
          <p:cNvPr id="19" name="TextBox 18"/>
          <p:cNvSpPr txBox="1"/>
          <p:nvPr/>
        </p:nvSpPr>
        <p:spPr>
          <a:xfrm>
            <a:off x="822959" y="1874519"/>
            <a:ext cx="4206240"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לפני שמתחילים</a:t>
            </a:r>
          </a:p>
        </p:txBody>
      </p:sp>
      <p:sp>
        <p:nvSpPr>
          <p:cNvPr id="20" name="TextBox 19"/>
          <p:cNvSpPr txBox="1"/>
          <p:nvPr/>
        </p:nvSpPr>
        <p:spPr>
          <a:xfrm>
            <a:off x="822959" y="2331720"/>
            <a:ext cx="4206240"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יוצרים תיקייה ריקה לתרגול:</a:t>
            </a:r>
          </a:p>
        </p:txBody>
      </p:sp>
      <p:sp>
        <p:nvSpPr>
          <p:cNvPr id="21" name="Rounded Rectangle 20"/>
          <p:cNvSpPr/>
          <p:nvPr/>
        </p:nvSpPr>
        <p:spPr>
          <a:xfrm>
            <a:off x="822959" y="2880360"/>
            <a:ext cx="4206240" cy="566928"/>
          </a:xfrm>
          <a:prstGeom prst="roundRect">
            <a:avLst>
              <a:gd name="adj" fmla="val 6000"/>
            </a:avLst>
          </a:prstGeom>
          <a:solidFill>
            <a:srgbClr val="0A1A33"/>
          </a:solidFill>
          <a:ln>
            <a:noFill/>
          </a:ln>
          <a:effectLst/>
        </p:spPr>
        <p:txBody>
          <a:bodyPr rtlCol="0" anchor="ctr"/>
          <a:lstStyle/>
          <a:p>
            <a:pPr algn="ctr"/>
          </a:p>
        </p:txBody>
      </p:sp>
      <p:sp>
        <p:nvSpPr>
          <p:cNvPr id="22" name="TextBox 21"/>
          <p:cNvSpPr txBox="1"/>
          <p:nvPr/>
        </p:nvSpPr>
        <p:spPr>
          <a:xfrm>
            <a:off x="960119" y="2990088"/>
            <a:ext cx="3931920" cy="384047"/>
          </a:xfrm>
          <a:prstGeom prst="rect">
            <a:avLst/>
          </a:prstGeom>
          <a:noFill/>
        </p:spPr>
        <p:txBody>
          <a:bodyPr wrap="square" lIns="73152" rIns="73152" tIns="54864" bIns="54864" anchor="t">
            <a:noAutofit/>
          </a:bodyPr>
          <a:lstStyle/>
          <a:p>
            <a:pPr rtl="0" algn="l">
              <a:lnSpc>
                <a:spcPct val="115000"/>
              </a:lnSpc>
              <a:spcAft>
                <a:spcPts val="200"/>
              </a:spcAft>
            </a:pPr>
            <a:r>
              <a:rPr sz="1700" b="0" i="0" lang="en-US">
                <a:solidFill>
                  <a:srgbClr val="FFFFFF"/>
                </a:solidFill>
                <a:latin typeface="Consolas"/>
                <a:ea typeface="Consolas"/>
                <a:cs typeface="Rubik"/>
              </a:rPr>
              <a:t>C:\Claude-Training\levi-case</a:t>
            </a:r>
          </a:p>
        </p:txBody>
      </p:sp>
      <p:sp>
        <p:nvSpPr>
          <p:cNvPr id="23" name="TextBox 22"/>
          <p:cNvSpPr txBox="1"/>
          <p:nvPr/>
        </p:nvSpPr>
        <p:spPr>
          <a:xfrm>
            <a:off x="822959" y="3611880"/>
            <a:ext cx="4206240" cy="64008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4C5058"/>
                </a:solidFill>
                <a:latin typeface="Rubik"/>
                <a:ea typeface="Rubik"/>
                <a:cs typeface="Rubik"/>
              </a:rPr>
              <a:t>אפשר גם מיקום אחר, העיקר תיקייה נפרדת.</a:t>
            </a:r>
          </a:p>
        </p:txBody>
      </p:sp>
      <p:sp>
        <p:nvSpPr>
          <p:cNvPr id="24" name="TextBox 23"/>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5</a:t>
            </a:r>
            <a:r>
              <a:rPr sz="1200" b="0" i="0" lang="he-IL">
                <a:solidFill>
                  <a:srgbClr val="8D9299"/>
                </a:solidFill>
                <a:latin typeface="Rubik"/>
                <a:ea typeface="Rubik"/>
                <a:cs typeface="Rubik"/>
              </a:rPr>
              <a:t>  |  Claude Code ליועצי משכנתאות</a:t>
            </a:r>
          </a:p>
        </p:txBody>
      </p:sp>
      <p:pic>
        <p:nvPicPr>
          <p:cNvPr id="25" name="Picture 24"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היכרות עם המסך</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screen-code-tab.png"/>
          <p:cNvPicPr>
            <a:picLocks noChangeAspect="1"/>
          </p:cNvPicPr>
          <p:nvPr/>
        </p:nvPicPr>
        <p:blipFill>
          <a:blip r:embed="rId2"/>
          <a:stretch>
            <a:fillRect/>
          </a:stretch>
        </p:blipFill>
        <p:spPr>
          <a:xfrm>
            <a:off x="548640" y="1417320"/>
            <a:ext cx="6675120" cy="4592483"/>
          </a:xfrm>
          <a:prstGeom prst="rect">
            <a:avLst/>
          </a:prstGeom>
        </p:spPr>
      </p:pic>
      <p:sp>
        <p:nvSpPr>
          <p:cNvPr id="6" name="Rectangle 5"/>
          <p:cNvSpPr/>
          <p:nvPr/>
        </p:nvSpPr>
        <p:spPr>
          <a:xfrm>
            <a:off x="548640" y="1417320"/>
            <a:ext cx="6675120" cy="4592482"/>
          </a:xfrm>
          <a:prstGeom prst="rect">
            <a:avLst/>
          </a:prstGeom>
          <a:noFill/>
          <a:ln w="12700">
            <a:solidFill>
              <a:srgbClr val="D4D6D8"/>
            </a:solidFill>
          </a:ln>
          <a:effectLst/>
        </p:spPr>
        <p:txBody>
          <a:bodyPr rtlCol="0" anchor="ctr"/>
          <a:lstStyle/>
          <a:p>
            <a:pPr algn="ctr"/>
          </a:p>
        </p:txBody>
      </p:sp>
      <p:sp>
        <p:nvSpPr>
          <p:cNvPr id="7" name="Oval 6"/>
          <p:cNvSpPr/>
          <p:nvPr/>
        </p:nvSpPr>
        <p:spPr>
          <a:xfrm>
            <a:off x="1719072" y="1524182"/>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1</a:t>
            </a:r>
          </a:p>
        </p:txBody>
      </p:sp>
      <p:sp>
        <p:nvSpPr>
          <p:cNvPr id="8" name="Oval 7"/>
          <p:cNvSpPr/>
          <p:nvPr/>
        </p:nvSpPr>
        <p:spPr>
          <a:xfrm>
            <a:off x="1741322" y="1849038"/>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2</a:t>
            </a:r>
          </a:p>
        </p:txBody>
      </p:sp>
      <p:sp>
        <p:nvSpPr>
          <p:cNvPr id="9" name="Oval 8"/>
          <p:cNvSpPr/>
          <p:nvPr/>
        </p:nvSpPr>
        <p:spPr>
          <a:xfrm>
            <a:off x="1741322" y="3388766"/>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3</a:t>
            </a:r>
          </a:p>
        </p:txBody>
      </p:sp>
      <p:sp>
        <p:nvSpPr>
          <p:cNvPr id="10" name="Oval 9"/>
          <p:cNvSpPr/>
          <p:nvPr/>
        </p:nvSpPr>
        <p:spPr>
          <a:xfrm>
            <a:off x="3499104" y="5551505"/>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4</a:t>
            </a:r>
          </a:p>
        </p:txBody>
      </p:sp>
      <p:sp>
        <p:nvSpPr>
          <p:cNvPr id="11" name="Oval 10"/>
          <p:cNvSpPr/>
          <p:nvPr/>
        </p:nvSpPr>
        <p:spPr>
          <a:xfrm>
            <a:off x="3801709" y="6046378"/>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5</a:t>
            </a:r>
          </a:p>
        </p:txBody>
      </p:sp>
      <p:sp>
        <p:nvSpPr>
          <p:cNvPr id="12" name="Oval 11"/>
          <p:cNvSpPr/>
          <p:nvPr/>
        </p:nvSpPr>
        <p:spPr>
          <a:xfrm>
            <a:off x="4389120" y="6046378"/>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6</a:t>
            </a:r>
          </a:p>
        </p:txBody>
      </p:sp>
      <p:sp>
        <p:nvSpPr>
          <p:cNvPr id="13" name="Oval 12"/>
          <p:cNvSpPr/>
          <p:nvPr/>
        </p:nvSpPr>
        <p:spPr>
          <a:xfrm>
            <a:off x="5167884" y="6046378"/>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7</a:t>
            </a:r>
          </a:p>
        </p:txBody>
      </p:sp>
      <p:sp>
        <p:nvSpPr>
          <p:cNvPr id="14" name="Oval 13"/>
          <p:cNvSpPr/>
          <p:nvPr/>
        </p:nvSpPr>
        <p:spPr>
          <a:xfrm>
            <a:off x="6560759" y="6046378"/>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8</a:t>
            </a:r>
          </a:p>
        </p:txBody>
      </p:sp>
      <p:sp>
        <p:nvSpPr>
          <p:cNvPr id="15" name="Oval 14"/>
          <p:cNvSpPr/>
          <p:nvPr/>
        </p:nvSpPr>
        <p:spPr>
          <a:xfrm>
            <a:off x="11259007" y="1463040"/>
            <a:ext cx="365760" cy="365760"/>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1</a:t>
            </a:r>
          </a:p>
        </p:txBody>
      </p:sp>
      <p:sp>
        <p:nvSpPr>
          <p:cNvPr id="16" name="TextBox 15"/>
          <p:cNvSpPr txBox="1"/>
          <p:nvPr/>
        </p:nvSpPr>
        <p:spPr>
          <a:xfrm>
            <a:off x="7680960" y="1426464"/>
            <a:ext cx="3459175" cy="438912"/>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0A1A33"/>
                </a:solidFill>
                <a:latin typeface="Rubik"/>
                <a:ea typeface="Rubik"/>
                <a:cs typeface="Rubik"/>
              </a:rPr>
              <a:t>לשונית Code</a:t>
            </a:r>
          </a:p>
        </p:txBody>
      </p:sp>
      <p:sp>
        <p:nvSpPr>
          <p:cNvPr id="17" name="Oval 16"/>
          <p:cNvSpPr/>
          <p:nvPr/>
        </p:nvSpPr>
        <p:spPr>
          <a:xfrm>
            <a:off x="11259007" y="2011680"/>
            <a:ext cx="365760" cy="365760"/>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2</a:t>
            </a:r>
          </a:p>
        </p:txBody>
      </p:sp>
      <p:sp>
        <p:nvSpPr>
          <p:cNvPr id="18" name="TextBox 17"/>
          <p:cNvSpPr txBox="1"/>
          <p:nvPr/>
        </p:nvSpPr>
        <p:spPr>
          <a:xfrm>
            <a:off x="7680960" y="1975104"/>
            <a:ext cx="3459175" cy="438912"/>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0A1A33"/>
                </a:solidFill>
                <a:latin typeface="Rubik"/>
                <a:ea typeface="Rubik"/>
                <a:cs typeface="Rubik"/>
              </a:rPr>
              <a:t>שיחה חדשה</a:t>
            </a:r>
          </a:p>
        </p:txBody>
      </p:sp>
      <p:sp>
        <p:nvSpPr>
          <p:cNvPr id="19" name="Oval 18"/>
          <p:cNvSpPr/>
          <p:nvPr/>
        </p:nvSpPr>
        <p:spPr>
          <a:xfrm>
            <a:off x="11259007" y="2560320"/>
            <a:ext cx="365760" cy="365760"/>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3</a:t>
            </a:r>
          </a:p>
        </p:txBody>
      </p:sp>
      <p:sp>
        <p:nvSpPr>
          <p:cNvPr id="20" name="TextBox 19"/>
          <p:cNvSpPr txBox="1"/>
          <p:nvPr/>
        </p:nvSpPr>
        <p:spPr>
          <a:xfrm>
            <a:off x="7680960" y="2523744"/>
            <a:ext cx="3459175" cy="438912"/>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0A1A33"/>
                </a:solidFill>
                <a:latin typeface="Rubik"/>
                <a:ea typeface="Rubik"/>
                <a:cs typeface="Rubik"/>
              </a:rPr>
              <a:t>השיחות שלכם</a:t>
            </a:r>
          </a:p>
        </p:txBody>
      </p:sp>
      <p:sp>
        <p:nvSpPr>
          <p:cNvPr id="21" name="Oval 20"/>
          <p:cNvSpPr/>
          <p:nvPr/>
        </p:nvSpPr>
        <p:spPr>
          <a:xfrm>
            <a:off x="11259007" y="3108960"/>
            <a:ext cx="365760" cy="365760"/>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4</a:t>
            </a:r>
          </a:p>
        </p:txBody>
      </p:sp>
      <p:sp>
        <p:nvSpPr>
          <p:cNvPr id="22" name="TextBox 21"/>
          <p:cNvSpPr txBox="1"/>
          <p:nvPr/>
        </p:nvSpPr>
        <p:spPr>
          <a:xfrm>
            <a:off x="7680960" y="3072384"/>
            <a:ext cx="3459175" cy="438912"/>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0A1A33"/>
                </a:solidFill>
                <a:latin typeface="Rubik"/>
                <a:ea typeface="Rubik"/>
                <a:cs typeface="Rubik"/>
              </a:rPr>
              <a:t>תיבת ההוראות</a:t>
            </a:r>
          </a:p>
        </p:txBody>
      </p:sp>
      <p:sp>
        <p:nvSpPr>
          <p:cNvPr id="23" name="Oval 22"/>
          <p:cNvSpPr/>
          <p:nvPr/>
        </p:nvSpPr>
        <p:spPr>
          <a:xfrm>
            <a:off x="11259007" y="3657600"/>
            <a:ext cx="365760" cy="365760"/>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5</a:t>
            </a:r>
          </a:p>
        </p:txBody>
      </p:sp>
      <p:sp>
        <p:nvSpPr>
          <p:cNvPr id="24" name="TextBox 23"/>
          <p:cNvSpPr txBox="1"/>
          <p:nvPr/>
        </p:nvSpPr>
        <p:spPr>
          <a:xfrm>
            <a:off x="7680960" y="3621024"/>
            <a:ext cx="3459175" cy="438912"/>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0A1A33"/>
                </a:solidFill>
                <a:latin typeface="Rubik"/>
                <a:ea typeface="Rubik"/>
                <a:cs typeface="Rubik"/>
              </a:rPr>
              <a:t>בורר הסביבה</a:t>
            </a:r>
          </a:p>
        </p:txBody>
      </p:sp>
      <p:sp>
        <p:nvSpPr>
          <p:cNvPr id="25" name="Oval 24"/>
          <p:cNvSpPr/>
          <p:nvPr/>
        </p:nvSpPr>
        <p:spPr>
          <a:xfrm>
            <a:off x="11259007" y="4206240"/>
            <a:ext cx="365760" cy="365760"/>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6</a:t>
            </a:r>
          </a:p>
        </p:txBody>
      </p:sp>
      <p:sp>
        <p:nvSpPr>
          <p:cNvPr id="26" name="TextBox 25"/>
          <p:cNvSpPr txBox="1"/>
          <p:nvPr/>
        </p:nvSpPr>
        <p:spPr>
          <a:xfrm>
            <a:off x="7680960" y="4169663"/>
            <a:ext cx="3459175" cy="438912"/>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0A1A33"/>
                </a:solidFill>
                <a:latin typeface="Rubik"/>
                <a:ea typeface="Rubik"/>
                <a:cs typeface="Rubik"/>
              </a:rPr>
              <a:t>תיקייה ‎/‎ מאגר</a:t>
            </a:r>
          </a:p>
        </p:txBody>
      </p:sp>
      <p:sp>
        <p:nvSpPr>
          <p:cNvPr id="27" name="Oval 26"/>
          <p:cNvSpPr/>
          <p:nvPr/>
        </p:nvSpPr>
        <p:spPr>
          <a:xfrm>
            <a:off x="11259007" y="4754879"/>
            <a:ext cx="365760" cy="365760"/>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7</a:t>
            </a:r>
          </a:p>
        </p:txBody>
      </p:sp>
      <p:sp>
        <p:nvSpPr>
          <p:cNvPr id="28" name="TextBox 27"/>
          <p:cNvSpPr txBox="1"/>
          <p:nvPr/>
        </p:nvSpPr>
        <p:spPr>
          <a:xfrm>
            <a:off x="7680960" y="4718303"/>
            <a:ext cx="3459175" cy="438912"/>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0A1A33"/>
                </a:solidFill>
                <a:latin typeface="Rubik"/>
                <a:ea typeface="Rubik"/>
                <a:cs typeface="Rubik"/>
              </a:rPr>
              <a:t>מצב ההרשאות</a:t>
            </a:r>
          </a:p>
        </p:txBody>
      </p:sp>
      <p:sp>
        <p:nvSpPr>
          <p:cNvPr id="29" name="Oval 28"/>
          <p:cNvSpPr/>
          <p:nvPr/>
        </p:nvSpPr>
        <p:spPr>
          <a:xfrm>
            <a:off x="11259007" y="5303520"/>
            <a:ext cx="365760" cy="365760"/>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8</a:t>
            </a:r>
          </a:p>
        </p:txBody>
      </p:sp>
      <p:sp>
        <p:nvSpPr>
          <p:cNvPr id="30" name="TextBox 29"/>
          <p:cNvSpPr txBox="1"/>
          <p:nvPr/>
        </p:nvSpPr>
        <p:spPr>
          <a:xfrm>
            <a:off x="7680960" y="5266944"/>
            <a:ext cx="3459175" cy="438912"/>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0A1A33"/>
                </a:solidFill>
                <a:latin typeface="Rubik"/>
                <a:ea typeface="Rubik"/>
                <a:cs typeface="Rubik"/>
              </a:rPr>
              <a:t>בורר המודל</a:t>
            </a:r>
          </a:p>
        </p:txBody>
      </p:sp>
      <p:sp>
        <p:nvSpPr>
          <p:cNvPr id="31" name="TextBox 30"/>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6</a:t>
            </a:r>
            <a:r>
              <a:rPr sz="1200" b="0" i="0" lang="he-IL">
                <a:solidFill>
                  <a:srgbClr val="8D9299"/>
                </a:solidFill>
                <a:latin typeface="Rubik"/>
                <a:ea typeface="Rubik"/>
                <a:cs typeface="Rubik"/>
              </a:rPr>
              <a:t>  |  Claude Code ליועצי משכנתאות</a:t>
            </a:r>
          </a:p>
        </p:txBody>
      </p:sp>
      <p:pic>
        <p:nvPicPr>
          <p:cNvPr id="32" name="Picture 31" descr="logo_crop.png"/>
          <p:cNvPicPr>
            <a:picLocks noChangeAspect="1"/>
          </p:cNvPicPr>
          <p:nvPr/>
        </p:nvPicPr>
        <p:blipFill>
          <a:blip r:embed="rId3"/>
          <a:stretch>
            <a:fillRect/>
          </a:stretch>
        </p:blipFill>
        <p:spPr>
          <a:xfrm>
            <a:off x="548640" y="6291072"/>
            <a:ext cx="753661" cy="43891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האפליקציה והטרמינל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TextBox 4"/>
          <p:cNvSpPr txBox="1"/>
          <p:nvPr/>
        </p:nvSpPr>
        <p:spPr>
          <a:xfrm>
            <a:off x="548640" y="150876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435FB5"/>
                </a:solidFill>
                <a:latin typeface="Rubik"/>
                <a:ea typeface="Rubik"/>
                <a:cs typeface="Rubik"/>
              </a:rPr>
              <a:t>בשתי הדרכים פונים ל־Claude בשפה רגילה, גם בעברית.</a:t>
            </a:r>
          </a:p>
        </p:txBody>
      </p:sp>
      <p:graphicFrame>
        <p:nvGraphicFramePr>
          <p:cNvPr id="6" name="Table 5"/>
          <p:cNvGraphicFramePr>
            <a:graphicFrameLocks noGrp="1"/>
          </p:cNvGraphicFramePr>
          <p:nvPr/>
        </p:nvGraphicFramePr>
        <p:xfrm>
          <a:off x="548640" y="2240280"/>
          <a:ext cx="11094415" cy="2926080"/>
        </p:xfrm>
        <a:graphic>
          <a:graphicData uri="http://schemas.openxmlformats.org/drawingml/2006/table">
            <a:tbl>
              <a:tblPr firstRow="1" bandRow="0" rtl="1">
                <a:tableStyleId>{5940675A-B579-460E-94D1-54222C63F5DA}</a:tableStyleId>
              </a:tblPr>
              <a:tblGrid>
                <a:gridCol w="2218883"/>
                <a:gridCol w="4437766"/>
                <a:gridCol w="4437766"/>
              </a:tblGrid>
              <a:tr h="585216">
                <a:tc>
                  <a:txBody>
                    <a:bodyPr wrap="square"/>
                    <a:lstStyle/>
                    <a:p>
                      <a:pPr rtl="1" algn="r"/>
                      <a:r>
                        <a:rPr sz="1800" b="1" i="0" lang="he-IL">
                          <a:solidFill>
                            <a:srgbClr val="FFFFFF"/>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אפליקציה (לשונית Code)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טרמינל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85216">
                <a:tc>
                  <a:txBody>
                    <a:bodyPr wrap="square"/>
                    <a:lstStyle/>
                    <a:p>
                      <a:pPr rtl="1" algn="r"/>
                      <a:r>
                        <a:rPr sz="1800" b="1" i="0" lang="he-IL">
                          <a:solidFill>
                            <a:srgbClr val="0A1A33"/>
                          </a:solidFill>
                          <a:latin typeface="Rubik"/>
                          <a:ea typeface="Rubik"/>
                          <a:cs typeface="Rubik"/>
                        </a:rPr>
                        <a:t>איך זה נראה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חלונות וכפתורים</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חלון טקסט</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85216">
                <a:tc>
                  <a:txBody>
                    <a:bodyPr wrap="square"/>
                    <a:lstStyle/>
                    <a:p>
                      <a:pPr rtl="1" algn="r"/>
                      <a:r>
                        <a:rPr sz="1800" b="1" i="0" lang="he-IL">
                          <a:solidFill>
                            <a:srgbClr val="0A1A33"/>
                          </a:solidFill>
                          <a:latin typeface="Rubik"/>
                          <a:ea typeface="Rubik"/>
                          <a:cs typeface="Rubik"/>
                        </a:rPr>
                        <a:t>איך מבקשים</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בתיבת ההוראות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בשורת הטקסט</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85216">
                <a:tc>
                  <a:txBody>
                    <a:bodyPr wrap="square"/>
                    <a:lstStyle/>
                    <a:p>
                      <a:pPr rtl="1" algn="r"/>
                      <a:r>
                        <a:rPr sz="1800" b="1" i="0" lang="he-IL">
                          <a:solidFill>
                            <a:srgbClr val="0A1A33"/>
                          </a:solidFill>
                          <a:latin typeface="Rubik"/>
                          <a:ea typeface="Rubik"/>
                          <a:cs typeface="Rubik"/>
                        </a:rPr>
                        <a:t>בחירת תיקייה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בורר התיקייה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פותחים בתיקייה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85216">
                <a:tc>
                  <a:txBody>
                    <a:bodyPr wrap="square"/>
                    <a:lstStyle/>
                    <a:p>
                      <a:pPr rtl="1" algn="r"/>
                      <a:r>
                        <a:rPr sz="1800" b="1" i="0" lang="he-IL">
                          <a:solidFill>
                            <a:srgbClr val="0A1A33"/>
                          </a:solidFill>
                          <a:latin typeface="Rubik"/>
                          <a:ea typeface="Rubik"/>
                          <a:cs typeface="Rubik"/>
                        </a:rPr>
                        <a:t>משותף</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‎CLAUDE.md‎, סקילים, הרשאות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‎CLAUDE.md‎, סקילים, הרשאות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bl>
          </a:graphicData>
        </a:graphic>
      </p:graphicFrame>
      <p:sp>
        <p:nvSpPr>
          <p:cNvPr id="7" name="TextBox 6"/>
          <p:cNvSpPr txBox="1"/>
          <p:nvPr/>
        </p:nvSpPr>
        <p:spPr>
          <a:xfrm>
            <a:off x="548640" y="544068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4C5058"/>
                </a:solidFill>
                <a:latin typeface="Rubik"/>
                <a:ea typeface="Rubik"/>
                <a:cs typeface="Rubik"/>
              </a:rPr>
              <a:t>לא כל יכולת של הטרמינל קיימת באפליקציה. לדוגמה: Agent Teams.</a:t>
            </a:r>
          </a:p>
        </p:txBody>
      </p:sp>
      <p:sp>
        <p:nvSpPr>
          <p:cNvPr id="8" name="TextBox 7"/>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7</a:t>
            </a:r>
            <a:r>
              <a:rPr sz="1200" b="0" i="0" lang="he-IL">
                <a:solidFill>
                  <a:srgbClr val="8D9299"/>
                </a:solidFill>
                <a:latin typeface="Rubik"/>
                <a:ea typeface="Rubik"/>
                <a:cs typeface="Rubik"/>
              </a:rPr>
              <a:t>  |  Claude Code ליועצי משכנתאות</a:t>
            </a:r>
          </a:p>
        </p:txBody>
      </p:sp>
      <p:pic>
        <p:nvPicPr>
          <p:cNvPr id="9" name="Picture 8"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A33"/>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64CAAD"/>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FFFFFF"/>
                </a:solidFill>
                <a:latin typeface="Rubik"/>
                <a:ea typeface="Rubik"/>
                <a:cs typeface="Rubik"/>
              </a:rPr>
              <a:t>מבנה העבודה של Claude Code</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9311335" y="1691640"/>
            <a:ext cx="2331720" cy="1325880"/>
          </a:xfrm>
          <a:prstGeom prst="roundRect">
            <a:avLst>
              <a:gd name="adj" fmla="val 10000"/>
            </a:avLst>
          </a:prstGeom>
          <a:solidFill>
            <a:srgbClr val="142A4D"/>
          </a:solidFill>
          <a:ln>
            <a:noFill/>
          </a:ln>
          <a:effectLst/>
        </p:spPr>
        <p:txBody>
          <a:bodyPr rtlCol="0" anchor="ctr"/>
          <a:lstStyle/>
          <a:p>
            <a:pPr algn="ctr"/>
          </a:p>
        </p:txBody>
      </p:sp>
      <p:sp>
        <p:nvSpPr>
          <p:cNvPr id="6" name="TextBox 5"/>
          <p:cNvSpPr txBox="1"/>
          <p:nvPr/>
        </p:nvSpPr>
        <p:spPr>
          <a:xfrm>
            <a:off x="9494215" y="182880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2200" b="1" i="0" lang="he-IL">
                <a:solidFill>
                  <a:srgbClr val="FFFFFF"/>
                </a:solidFill>
                <a:latin typeface="Rubik"/>
                <a:ea typeface="Rubik"/>
                <a:cs typeface="Rubik"/>
              </a:rPr>
              <a:t>הבקשה שלכם</a:t>
            </a:r>
          </a:p>
        </p:txBody>
      </p:sp>
      <p:sp>
        <p:nvSpPr>
          <p:cNvPr id="7" name="TextBox 6"/>
          <p:cNvSpPr txBox="1"/>
          <p:nvPr/>
        </p:nvSpPr>
        <p:spPr>
          <a:xfrm>
            <a:off x="9494215" y="233172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1600" b="0" i="0" lang="he-IL">
                <a:solidFill>
                  <a:srgbClr val="D4D6D8"/>
                </a:solidFill>
                <a:latin typeface="Rubik"/>
                <a:ea typeface="Rubik"/>
                <a:cs typeface="Rubik"/>
              </a:rPr>
              <a:t>בעברית רגילה</a:t>
            </a:r>
          </a:p>
        </p:txBody>
      </p:sp>
      <p:sp>
        <p:nvSpPr>
          <p:cNvPr id="8" name="Left Arrow 7"/>
          <p:cNvSpPr/>
          <p:nvPr/>
        </p:nvSpPr>
        <p:spPr>
          <a:xfrm>
            <a:off x="8872423" y="2212848"/>
            <a:ext cx="329184" cy="274320"/>
          </a:xfrm>
          <a:prstGeom prst="leftArrow">
            <a:avLst/>
          </a:prstGeom>
          <a:solidFill>
            <a:srgbClr val="64CAAD"/>
          </a:solidFill>
          <a:ln>
            <a:noFill/>
          </a:ln>
          <a:effectLst/>
        </p:spPr>
        <p:txBody>
          <a:bodyPr rtlCol="0" anchor="ctr"/>
          <a:lstStyle/>
          <a:p>
            <a:pPr algn="ctr"/>
          </a:p>
        </p:txBody>
      </p:sp>
      <p:sp>
        <p:nvSpPr>
          <p:cNvPr id="9" name="Rounded Rectangle 8"/>
          <p:cNvSpPr/>
          <p:nvPr/>
        </p:nvSpPr>
        <p:spPr>
          <a:xfrm>
            <a:off x="6430975" y="1691640"/>
            <a:ext cx="2331720" cy="1325880"/>
          </a:xfrm>
          <a:prstGeom prst="roundRect">
            <a:avLst>
              <a:gd name="adj" fmla="val 10000"/>
            </a:avLst>
          </a:prstGeom>
          <a:solidFill>
            <a:srgbClr val="142A4D"/>
          </a:solidFill>
          <a:ln>
            <a:noFill/>
          </a:ln>
          <a:effectLst/>
        </p:spPr>
        <p:txBody>
          <a:bodyPr rtlCol="0" anchor="ctr"/>
          <a:lstStyle/>
          <a:p>
            <a:pPr algn="ctr"/>
          </a:p>
        </p:txBody>
      </p:sp>
      <p:sp>
        <p:nvSpPr>
          <p:cNvPr id="10" name="TextBox 9"/>
          <p:cNvSpPr txBox="1"/>
          <p:nvPr/>
        </p:nvSpPr>
        <p:spPr>
          <a:xfrm>
            <a:off x="6613855" y="182880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2200" b="1" i="0" lang="he-IL">
                <a:solidFill>
                  <a:srgbClr val="FFFFFF"/>
                </a:solidFill>
                <a:latin typeface="Rubik"/>
                <a:ea typeface="Rubik"/>
                <a:cs typeface="Rubik"/>
              </a:rPr>
              <a:t>Claude</a:t>
            </a:r>
          </a:p>
        </p:txBody>
      </p:sp>
      <p:sp>
        <p:nvSpPr>
          <p:cNvPr id="11" name="TextBox 10"/>
          <p:cNvSpPr txBox="1"/>
          <p:nvPr/>
        </p:nvSpPr>
        <p:spPr>
          <a:xfrm>
            <a:off x="6613855" y="233172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1600" b="0" i="0" lang="he-IL">
                <a:solidFill>
                  <a:srgbClr val="D4D6D8"/>
                </a:solidFill>
                <a:latin typeface="Rubik"/>
                <a:ea typeface="Rubik"/>
                <a:cs typeface="Rubik"/>
              </a:rPr>
              <a:t>מבין ומתכנן</a:t>
            </a:r>
          </a:p>
        </p:txBody>
      </p:sp>
      <p:sp>
        <p:nvSpPr>
          <p:cNvPr id="12" name="Left Arrow 11"/>
          <p:cNvSpPr/>
          <p:nvPr/>
        </p:nvSpPr>
        <p:spPr>
          <a:xfrm>
            <a:off x="5992063" y="2212848"/>
            <a:ext cx="329184" cy="274320"/>
          </a:xfrm>
          <a:prstGeom prst="leftArrow">
            <a:avLst/>
          </a:prstGeom>
          <a:solidFill>
            <a:srgbClr val="64CAAD"/>
          </a:solidFill>
          <a:ln>
            <a:noFill/>
          </a:ln>
          <a:effectLst/>
        </p:spPr>
        <p:txBody>
          <a:bodyPr rtlCol="0" anchor="ctr"/>
          <a:lstStyle/>
          <a:p>
            <a:pPr algn="ctr"/>
          </a:p>
        </p:txBody>
      </p:sp>
      <p:sp>
        <p:nvSpPr>
          <p:cNvPr id="13" name="Rounded Rectangle 12"/>
          <p:cNvSpPr/>
          <p:nvPr/>
        </p:nvSpPr>
        <p:spPr>
          <a:xfrm>
            <a:off x="3550615" y="1691640"/>
            <a:ext cx="2331720" cy="1325880"/>
          </a:xfrm>
          <a:prstGeom prst="roundRect">
            <a:avLst>
              <a:gd name="adj" fmla="val 10000"/>
            </a:avLst>
          </a:prstGeom>
          <a:solidFill>
            <a:srgbClr val="142A4D"/>
          </a:solidFill>
          <a:ln>
            <a:noFill/>
          </a:ln>
          <a:effectLst/>
        </p:spPr>
        <p:txBody>
          <a:bodyPr rtlCol="0" anchor="ctr"/>
          <a:lstStyle/>
          <a:p>
            <a:pPr algn="ctr"/>
          </a:p>
        </p:txBody>
      </p:sp>
      <p:sp>
        <p:nvSpPr>
          <p:cNvPr id="14" name="TextBox 13"/>
          <p:cNvSpPr txBox="1"/>
          <p:nvPr/>
        </p:nvSpPr>
        <p:spPr>
          <a:xfrm>
            <a:off x="3733495" y="182880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2200" b="1" i="0" lang="he-IL">
                <a:solidFill>
                  <a:srgbClr val="FFFFFF"/>
                </a:solidFill>
                <a:latin typeface="Rubik"/>
                <a:ea typeface="Rubik"/>
                <a:cs typeface="Rubik"/>
              </a:rPr>
              <a:t>כלים</a:t>
            </a:r>
          </a:p>
        </p:txBody>
      </p:sp>
      <p:sp>
        <p:nvSpPr>
          <p:cNvPr id="15" name="TextBox 14"/>
          <p:cNvSpPr txBox="1"/>
          <p:nvPr/>
        </p:nvSpPr>
        <p:spPr>
          <a:xfrm>
            <a:off x="3733495" y="233172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1600" b="0" i="0" lang="he-IL">
                <a:solidFill>
                  <a:srgbClr val="D4D6D8"/>
                </a:solidFill>
                <a:latin typeface="Rubik"/>
                <a:ea typeface="Rubik"/>
                <a:cs typeface="Rubik"/>
              </a:rPr>
              <a:t>קורא, כותב, מריץ</a:t>
            </a:r>
          </a:p>
        </p:txBody>
      </p:sp>
      <p:sp>
        <p:nvSpPr>
          <p:cNvPr id="16" name="Left Arrow 15"/>
          <p:cNvSpPr/>
          <p:nvPr/>
        </p:nvSpPr>
        <p:spPr>
          <a:xfrm>
            <a:off x="3111703" y="2212848"/>
            <a:ext cx="329184" cy="274320"/>
          </a:xfrm>
          <a:prstGeom prst="leftArrow">
            <a:avLst/>
          </a:prstGeom>
          <a:solidFill>
            <a:srgbClr val="64CAAD"/>
          </a:solidFill>
          <a:ln>
            <a:noFill/>
          </a:ln>
          <a:effectLst/>
        </p:spPr>
        <p:txBody>
          <a:bodyPr rtlCol="0" anchor="ctr"/>
          <a:lstStyle/>
          <a:p>
            <a:pPr algn="ctr"/>
          </a:p>
        </p:txBody>
      </p:sp>
      <p:sp>
        <p:nvSpPr>
          <p:cNvPr id="17" name="Rounded Rectangle 16"/>
          <p:cNvSpPr/>
          <p:nvPr/>
        </p:nvSpPr>
        <p:spPr>
          <a:xfrm>
            <a:off x="670255" y="1691640"/>
            <a:ext cx="2331720" cy="1325880"/>
          </a:xfrm>
          <a:prstGeom prst="roundRect">
            <a:avLst>
              <a:gd name="adj" fmla="val 10000"/>
            </a:avLst>
          </a:prstGeom>
          <a:solidFill>
            <a:srgbClr val="142A4D"/>
          </a:solidFill>
          <a:ln>
            <a:noFill/>
          </a:ln>
          <a:effectLst/>
        </p:spPr>
        <p:txBody>
          <a:bodyPr rtlCol="0" anchor="ctr"/>
          <a:lstStyle/>
          <a:p>
            <a:pPr algn="ctr"/>
          </a:p>
        </p:txBody>
      </p:sp>
      <p:sp>
        <p:nvSpPr>
          <p:cNvPr id="18" name="TextBox 17"/>
          <p:cNvSpPr txBox="1"/>
          <p:nvPr/>
        </p:nvSpPr>
        <p:spPr>
          <a:xfrm>
            <a:off x="853135" y="182880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2200" b="1" i="0" lang="he-IL">
                <a:solidFill>
                  <a:srgbClr val="FFFFFF"/>
                </a:solidFill>
                <a:latin typeface="Rubik"/>
                <a:ea typeface="Rubik"/>
                <a:cs typeface="Rubik"/>
              </a:rPr>
              <a:t>קבצים</a:t>
            </a:r>
          </a:p>
        </p:txBody>
      </p:sp>
      <p:sp>
        <p:nvSpPr>
          <p:cNvPr id="19" name="TextBox 18"/>
          <p:cNvSpPr txBox="1"/>
          <p:nvPr/>
        </p:nvSpPr>
        <p:spPr>
          <a:xfrm>
            <a:off x="853135" y="233172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1600" b="0" i="0" lang="he-IL">
                <a:solidFill>
                  <a:srgbClr val="D4D6D8"/>
                </a:solidFill>
                <a:latin typeface="Rubik"/>
                <a:ea typeface="Rubik"/>
                <a:cs typeface="Rubik"/>
              </a:rPr>
              <a:t>בתיקייה שבחרתם</a:t>
            </a:r>
          </a:p>
        </p:txBody>
      </p:sp>
      <p:sp>
        <p:nvSpPr>
          <p:cNvPr id="20" name="Rounded Rectangle 19"/>
          <p:cNvSpPr/>
          <p:nvPr/>
        </p:nvSpPr>
        <p:spPr>
          <a:xfrm>
            <a:off x="4945075" y="3246120"/>
            <a:ext cx="4846320" cy="457200"/>
          </a:xfrm>
          <a:prstGeom prst="roundRect">
            <a:avLst>
              <a:gd name="adj" fmla="val 50000"/>
            </a:avLst>
          </a:prstGeom>
          <a:solidFill>
            <a:srgbClr val="64CAAD"/>
          </a:solidFill>
          <a:ln>
            <a:noFill/>
          </a:ln>
          <a:effectLst/>
        </p:spPr>
        <p:txBody>
          <a:bodyPr rtlCol="0" anchor="ctr" wrap="square" lIns="45720" rIns="45720">
            <a:noAutofit/>
          </a:bodyPr>
          <a:lstStyle/>
          <a:p>
            <a:pPr algn="ctr" rtl="1">
              <a:lnSpc>
                <a:spcPct val="110000"/>
              </a:lnSpc>
            </a:pPr>
            <a:r>
              <a:rPr sz="1600" b="1" i="0" lang="he-IL">
                <a:solidFill>
                  <a:srgbClr val="0A1A33"/>
                </a:solidFill>
                <a:latin typeface="Rubik"/>
                <a:ea typeface="Rubik"/>
                <a:cs typeface="Rubik"/>
              </a:rPr>
              <a:t>מצב ההרשאות קובע מה מתבצע בלי לשאול</a:t>
            </a:r>
          </a:p>
        </p:txBody>
      </p:sp>
      <p:sp>
        <p:nvSpPr>
          <p:cNvPr id="21" name="TextBox 20"/>
          <p:cNvSpPr txBox="1"/>
          <p:nvPr/>
        </p:nvSpPr>
        <p:spPr>
          <a:xfrm>
            <a:off x="548640" y="416052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FFFFFF"/>
                </a:solidFill>
                <a:latin typeface="Rubik"/>
                <a:ea typeface="Rubik"/>
                <a:cs typeface="Rubik"/>
              </a:rPr>
              <a:t>בכל משימה: לולאה עד שהמשימה הושלמה</a:t>
            </a:r>
          </a:p>
        </p:txBody>
      </p:sp>
      <p:sp>
        <p:nvSpPr>
          <p:cNvPr id="22" name="Rounded Rectangle 21"/>
          <p:cNvSpPr/>
          <p:nvPr/>
        </p:nvSpPr>
        <p:spPr>
          <a:xfrm>
            <a:off x="8442655" y="4754880"/>
            <a:ext cx="3200400" cy="868680"/>
          </a:xfrm>
          <a:prstGeom prst="roundRect">
            <a:avLst>
              <a:gd name="adj" fmla="val 20000"/>
            </a:avLst>
          </a:prstGeom>
          <a:solidFill>
            <a:srgbClr val="FFFFFF"/>
          </a:solidFill>
          <a:ln>
            <a:noFill/>
          </a:ln>
          <a:effectLst/>
        </p:spPr>
        <p:txBody>
          <a:bodyPr rtlCol="0" anchor="ctr"/>
          <a:lstStyle/>
          <a:p>
            <a:pPr algn="ctr"/>
          </a:p>
        </p:txBody>
      </p:sp>
      <p:sp>
        <p:nvSpPr>
          <p:cNvPr id="23" name="Oval 22"/>
          <p:cNvSpPr/>
          <p:nvPr/>
        </p:nvSpPr>
        <p:spPr>
          <a:xfrm>
            <a:off x="11048695" y="4965192"/>
            <a:ext cx="457200" cy="45720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24" name="TextBox 23"/>
          <p:cNvSpPr txBox="1"/>
          <p:nvPr/>
        </p:nvSpPr>
        <p:spPr>
          <a:xfrm>
            <a:off x="8625535" y="4754880"/>
            <a:ext cx="2286000" cy="868680"/>
          </a:xfrm>
          <a:prstGeom prst="rect">
            <a:avLst/>
          </a:prstGeom>
          <a:noFill/>
        </p:spPr>
        <p:txBody>
          <a:bodyPr wrap="square" lIns="73152" rIns="73152" tIns="54864" bIns="54864" anchor="ctr">
            <a:noAutofit/>
          </a:bodyPr>
          <a:lstStyle/>
          <a:p>
            <a:pPr rtl="1" algn="r">
              <a:lnSpc>
                <a:spcPct val="110000"/>
              </a:lnSpc>
              <a:spcAft>
                <a:spcPts val="600"/>
              </a:spcAft>
            </a:pPr>
            <a:r>
              <a:rPr sz="2100" b="1" i="0" lang="he-IL">
                <a:solidFill>
                  <a:srgbClr val="0A1A33"/>
                </a:solidFill>
                <a:latin typeface="Rubik"/>
                <a:ea typeface="Rubik"/>
                <a:cs typeface="Rubik"/>
              </a:rPr>
              <a:t>איסוף מידע</a:t>
            </a:r>
          </a:p>
        </p:txBody>
      </p:sp>
      <p:sp>
        <p:nvSpPr>
          <p:cNvPr id="25" name="Left Arrow 24"/>
          <p:cNvSpPr/>
          <p:nvPr/>
        </p:nvSpPr>
        <p:spPr>
          <a:xfrm>
            <a:off x="7848295" y="5047488"/>
            <a:ext cx="457200" cy="274320"/>
          </a:xfrm>
          <a:prstGeom prst="leftArrow">
            <a:avLst/>
          </a:prstGeom>
          <a:solidFill>
            <a:srgbClr val="64CAAD"/>
          </a:solidFill>
          <a:ln>
            <a:noFill/>
          </a:ln>
          <a:effectLst/>
        </p:spPr>
        <p:txBody>
          <a:bodyPr rtlCol="0" anchor="ctr"/>
          <a:lstStyle/>
          <a:p>
            <a:pPr algn="ctr"/>
          </a:p>
        </p:txBody>
      </p:sp>
      <p:sp>
        <p:nvSpPr>
          <p:cNvPr id="26" name="Rounded Rectangle 25"/>
          <p:cNvSpPr/>
          <p:nvPr/>
        </p:nvSpPr>
        <p:spPr>
          <a:xfrm>
            <a:off x="4510735" y="4754880"/>
            <a:ext cx="3200400" cy="868680"/>
          </a:xfrm>
          <a:prstGeom prst="roundRect">
            <a:avLst>
              <a:gd name="adj" fmla="val 20000"/>
            </a:avLst>
          </a:prstGeom>
          <a:solidFill>
            <a:srgbClr val="FFFFFF"/>
          </a:solidFill>
          <a:ln>
            <a:noFill/>
          </a:ln>
          <a:effectLst/>
        </p:spPr>
        <p:txBody>
          <a:bodyPr rtlCol="0" anchor="ctr"/>
          <a:lstStyle/>
          <a:p>
            <a:pPr algn="ctr"/>
          </a:p>
        </p:txBody>
      </p:sp>
      <p:sp>
        <p:nvSpPr>
          <p:cNvPr id="27" name="Oval 26"/>
          <p:cNvSpPr/>
          <p:nvPr/>
        </p:nvSpPr>
        <p:spPr>
          <a:xfrm>
            <a:off x="7116775" y="4965192"/>
            <a:ext cx="457200" cy="45720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28" name="TextBox 27"/>
          <p:cNvSpPr txBox="1"/>
          <p:nvPr/>
        </p:nvSpPr>
        <p:spPr>
          <a:xfrm>
            <a:off x="4693615" y="4754880"/>
            <a:ext cx="2286000" cy="868680"/>
          </a:xfrm>
          <a:prstGeom prst="rect">
            <a:avLst/>
          </a:prstGeom>
          <a:noFill/>
        </p:spPr>
        <p:txBody>
          <a:bodyPr wrap="square" lIns="73152" rIns="73152" tIns="54864" bIns="54864" anchor="ctr">
            <a:noAutofit/>
          </a:bodyPr>
          <a:lstStyle/>
          <a:p>
            <a:pPr rtl="1" algn="r">
              <a:lnSpc>
                <a:spcPct val="110000"/>
              </a:lnSpc>
              <a:spcAft>
                <a:spcPts val="600"/>
              </a:spcAft>
            </a:pPr>
            <a:r>
              <a:rPr sz="2100" b="1" i="0" lang="he-IL">
                <a:solidFill>
                  <a:srgbClr val="0A1A33"/>
                </a:solidFill>
                <a:latin typeface="Rubik"/>
                <a:ea typeface="Rubik"/>
                <a:cs typeface="Rubik"/>
              </a:rPr>
              <a:t>ביצוע</a:t>
            </a:r>
          </a:p>
        </p:txBody>
      </p:sp>
      <p:sp>
        <p:nvSpPr>
          <p:cNvPr id="29" name="Left Arrow 28"/>
          <p:cNvSpPr/>
          <p:nvPr/>
        </p:nvSpPr>
        <p:spPr>
          <a:xfrm>
            <a:off x="3916375" y="5047488"/>
            <a:ext cx="457200" cy="274320"/>
          </a:xfrm>
          <a:prstGeom prst="leftArrow">
            <a:avLst/>
          </a:prstGeom>
          <a:solidFill>
            <a:srgbClr val="64CAAD"/>
          </a:solidFill>
          <a:ln>
            <a:noFill/>
          </a:ln>
          <a:effectLst/>
        </p:spPr>
        <p:txBody>
          <a:bodyPr rtlCol="0" anchor="ctr"/>
          <a:lstStyle/>
          <a:p>
            <a:pPr algn="ctr"/>
          </a:p>
        </p:txBody>
      </p:sp>
      <p:sp>
        <p:nvSpPr>
          <p:cNvPr id="30" name="Rounded Rectangle 29"/>
          <p:cNvSpPr/>
          <p:nvPr/>
        </p:nvSpPr>
        <p:spPr>
          <a:xfrm>
            <a:off x="578815" y="4754880"/>
            <a:ext cx="3200400" cy="868680"/>
          </a:xfrm>
          <a:prstGeom prst="roundRect">
            <a:avLst>
              <a:gd name="adj" fmla="val 20000"/>
            </a:avLst>
          </a:prstGeom>
          <a:solidFill>
            <a:srgbClr val="FFFFFF"/>
          </a:solidFill>
          <a:ln>
            <a:noFill/>
          </a:ln>
          <a:effectLst/>
        </p:spPr>
        <p:txBody>
          <a:bodyPr rtlCol="0" anchor="ctr"/>
          <a:lstStyle/>
          <a:p>
            <a:pPr algn="ctr"/>
          </a:p>
        </p:txBody>
      </p:sp>
      <p:sp>
        <p:nvSpPr>
          <p:cNvPr id="31" name="Oval 30"/>
          <p:cNvSpPr/>
          <p:nvPr/>
        </p:nvSpPr>
        <p:spPr>
          <a:xfrm>
            <a:off x="3184855" y="4965192"/>
            <a:ext cx="457200" cy="45720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32" name="TextBox 31"/>
          <p:cNvSpPr txBox="1"/>
          <p:nvPr/>
        </p:nvSpPr>
        <p:spPr>
          <a:xfrm>
            <a:off x="761695" y="4754880"/>
            <a:ext cx="2286000" cy="868680"/>
          </a:xfrm>
          <a:prstGeom prst="rect">
            <a:avLst/>
          </a:prstGeom>
          <a:noFill/>
        </p:spPr>
        <p:txBody>
          <a:bodyPr wrap="square" lIns="73152" rIns="73152" tIns="54864" bIns="54864" anchor="ctr">
            <a:noAutofit/>
          </a:bodyPr>
          <a:lstStyle/>
          <a:p>
            <a:pPr rtl="1" algn="r">
              <a:lnSpc>
                <a:spcPct val="110000"/>
              </a:lnSpc>
              <a:spcAft>
                <a:spcPts val="600"/>
              </a:spcAft>
            </a:pPr>
            <a:r>
              <a:rPr sz="2100" b="1" i="0" lang="he-IL">
                <a:solidFill>
                  <a:srgbClr val="0A1A33"/>
                </a:solidFill>
                <a:latin typeface="Rubik"/>
                <a:ea typeface="Rubik"/>
                <a:cs typeface="Rubik"/>
              </a:rPr>
              <a:t>בדיקה</a:t>
            </a:r>
          </a:p>
        </p:txBody>
      </p:sp>
      <p:sp>
        <p:nvSpPr>
          <p:cNvPr id="33" name="TextBox 32"/>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8</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תפקיד התיקייה</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character-chess.png"/>
          <p:cNvPicPr>
            <a:picLocks noChangeAspect="1"/>
          </p:cNvPicPr>
          <p:nvPr/>
        </p:nvPicPr>
        <p:blipFill>
          <a:blip r:embed="rId2"/>
          <a:stretch>
            <a:fillRect/>
          </a:stretch>
        </p:blipFill>
        <p:spPr>
          <a:xfrm>
            <a:off x="640080" y="1508760"/>
            <a:ext cx="2860300" cy="4846320"/>
          </a:xfrm>
          <a:prstGeom prst="rect">
            <a:avLst/>
          </a:prstGeom>
        </p:spPr>
      </p:pic>
      <p:sp>
        <p:nvSpPr>
          <p:cNvPr id="6" name="Oval 5"/>
          <p:cNvSpPr/>
          <p:nvPr/>
        </p:nvSpPr>
        <p:spPr>
          <a:xfrm>
            <a:off x="11185855" y="166420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7" name="TextBox 6"/>
          <p:cNvSpPr txBox="1"/>
          <p:nvPr/>
        </p:nvSpPr>
        <p:spPr>
          <a:xfrm>
            <a:off x="4160520" y="162763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מרכזת את החומרים</a:t>
            </a:r>
          </a:p>
        </p:txBody>
      </p:sp>
      <p:sp>
        <p:nvSpPr>
          <p:cNvPr id="8" name="TextBox 7"/>
          <p:cNvSpPr txBox="1"/>
          <p:nvPr/>
        </p:nvSpPr>
        <p:spPr>
          <a:xfrm>
            <a:off x="4160520" y="202996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כל מסמכי התיק במקום אחד</a:t>
            </a:r>
          </a:p>
        </p:txBody>
      </p:sp>
      <p:sp>
        <p:nvSpPr>
          <p:cNvPr id="9" name="Oval 8"/>
          <p:cNvSpPr/>
          <p:nvPr/>
        </p:nvSpPr>
        <p:spPr>
          <a:xfrm>
            <a:off x="11185855" y="262432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10" name="TextBox 9"/>
          <p:cNvSpPr txBox="1"/>
          <p:nvPr/>
        </p:nvSpPr>
        <p:spPr>
          <a:xfrm>
            <a:off x="4160520" y="258775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שומרת את התוצרים</a:t>
            </a:r>
          </a:p>
        </p:txBody>
      </p:sp>
      <p:sp>
        <p:nvSpPr>
          <p:cNvPr id="11" name="TextBox 10"/>
          <p:cNvSpPr txBox="1"/>
          <p:nvPr/>
        </p:nvSpPr>
        <p:spPr>
          <a:xfrm>
            <a:off x="4160520" y="299008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רשימות ודוחות נשמרים כקבצים</a:t>
            </a:r>
          </a:p>
        </p:txBody>
      </p:sp>
      <p:sp>
        <p:nvSpPr>
          <p:cNvPr id="12" name="Oval 11"/>
          <p:cNvSpPr/>
          <p:nvPr/>
        </p:nvSpPr>
        <p:spPr>
          <a:xfrm>
            <a:off x="11185855" y="358444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13" name="TextBox 12"/>
          <p:cNvSpPr txBox="1"/>
          <p:nvPr/>
        </p:nvSpPr>
        <p:spPr>
          <a:xfrm>
            <a:off x="4160520" y="354787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מפרידה בין לקוחות</a:t>
            </a:r>
          </a:p>
        </p:txBody>
      </p:sp>
      <p:sp>
        <p:nvSpPr>
          <p:cNvPr id="14" name="TextBox 13"/>
          <p:cNvSpPr txBox="1"/>
          <p:nvPr/>
        </p:nvSpPr>
        <p:spPr>
          <a:xfrm>
            <a:off x="4160520" y="395020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תיקייה נפרדת לכל לקוח</a:t>
            </a:r>
          </a:p>
        </p:txBody>
      </p:sp>
      <p:sp>
        <p:nvSpPr>
          <p:cNvPr id="15" name="Rounded Rectangle 14"/>
          <p:cNvSpPr/>
          <p:nvPr/>
        </p:nvSpPr>
        <p:spPr>
          <a:xfrm>
            <a:off x="3977639" y="4663440"/>
            <a:ext cx="7665415" cy="1325880"/>
          </a:xfrm>
          <a:prstGeom prst="roundRect">
            <a:avLst>
              <a:gd name="adj" fmla="val 6000"/>
            </a:avLst>
          </a:prstGeom>
          <a:solidFill>
            <a:srgbClr val="FFFFFF"/>
          </a:solidFill>
          <a:ln w="25400">
            <a:solidFill>
              <a:srgbClr val="E0A72E"/>
            </a:solidFill>
          </a:ln>
          <a:effectLst/>
        </p:spPr>
        <p:txBody>
          <a:bodyPr rtlCol="0" anchor="ctr"/>
          <a:lstStyle/>
          <a:p>
            <a:pPr algn="ctr"/>
          </a:p>
        </p:txBody>
      </p:sp>
      <p:sp>
        <p:nvSpPr>
          <p:cNvPr id="16" name="TextBox 15"/>
          <p:cNvSpPr txBox="1"/>
          <p:nvPr/>
        </p:nvSpPr>
        <p:spPr>
          <a:xfrm>
            <a:off x="4251959" y="4754880"/>
            <a:ext cx="7116775" cy="1188720"/>
          </a:xfrm>
          <a:prstGeom prst="rect">
            <a:avLst/>
          </a:prstGeom>
          <a:noFill/>
        </p:spPr>
        <p:txBody>
          <a:bodyPr wrap="square" lIns="73152" rIns="73152" tIns="54864" bIns="54864" anchor="ctr">
            <a:noAutofit/>
          </a:bodyPr>
          <a:lstStyle/>
          <a:p>
            <a:pPr rtl="1" algn="r">
              <a:lnSpc>
                <a:spcPct val="110000"/>
              </a:lnSpc>
              <a:spcAft>
                <a:spcPts val="600"/>
              </a:spcAft>
            </a:pPr>
            <a:r>
              <a:rPr sz="1700" b="1" i="0" lang="he-IL">
                <a:solidFill>
                  <a:srgbClr val="0A1A33"/>
                </a:solidFill>
                <a:latin typeface="Rubik"/>
                <a:ea typeface="Rubik"/>
                <a:cs typeface="Rubik"/>
              </a:rPr>
              <a:t>שימו לב: </a:t>
            </a:r>
            <a:r>
              <a:rPr sz="1700" b="0" i="0" lang="he-IL">
                <a:solidFill>
                  <a:srgbClr val="0A1A33"/>
                </a:solidFill>
                <a:latin typeface="Rubik"/>
                <a:ea typeface="Rubik"/>
                <a:cs typeface="Rubik"/>
              </a:rPr>
              <a:t>התיקייה קובעת איפה Claude עובד. היא לא מבטיחה שהמידע מעובד רק במחשב שלכם.</a:t>
            </a:r>
          </a:p>
          <a:p>
            <a:pPr rtl="1" algn="r">
              <a:lnSpc>
                <a:spcPct val="110000"/>
              </a:lnSpc>
              <a:spcAft>
                <a:spcPts val="600"/>
              </a:spcAft>
            </a:pPr>
            <a:r>
              <a:rPr sz="1700" b="1" i="0" lang="he-IL">
                <a:solidFill>
                  <a:srgbClr val="435FB5"/>
                </a:solidFill>
                <a:latin typeface="Rubik"/>
                <a:ea typeface="Rubik"/>
                <a:cs typeface="Rubik"/>
              </a:rPr>
              <a:t>לכן בתרגול: נתונים פיקטיביים בלבד.</a:t>
            </a:r>
          </a:p>
        </p:txBody>
      </p:sp>
      <p:sp>
        <p:nvSpPr>
          <p:cNvPr id="17" name="TextBox 1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9</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מבנה תיקיית התרגול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48640" y="1554480"/>
            <a:ext cx="4572000" cy="2743200"/>
          </a:xfrm>
          <a:prstGeom prst="roundRect">
            <a:avLst>
              <a:gd name="adj" fmla="val 6000"/>
            </a:avLst>
          </a:prstGeom>
          <a:solidFill>
            <a:srgbClr val="0A1A33"/>
          </a:solidFill>
          <a:ln>
            <a:noFill/>
          </a:ln>
          <a:effectLst/>
        </p:spPr>
        <p:txBody>
          <a:bodyPr rtlCol="0" anchor="ctr"/>
          <a:lstStyle/>
          <a:p>
            <a:pPr algn="ctr"/>
          </a:p>
        </p:txBody>
      </p:sp>
      <p:sp>
        <p:nvSpPr>
          <p:cNvPr id="7" name="TextBox 6"/>
          <p:cNvSpPr txBox="1"/>
          <p:nvPr/>
        </p:nvSpPr>
        <p:spPr>
          <a:xfrm>
            <a:off x="685800" y="1664207"/>
            <a:ext cx="4297680" cy="2560320"/>
          </a:xfrm>
          <a:prstGeom prst="rect">
            <a:avLst/>
          </a:prstGeom>
          <a:noFill/>
        </p:spPr>
        <p:txBody>
          <a:bodyPr wrap="square" lIns="73152" rIns="73152" tIns="54864" bIns="54864" anchor="t">
            <a:noAutofit/>
          </a:bodyPr>
          <a:lstStyle/>
          <a:p>
            <a:pPr rtl="0" algn="l">
              <a:lnSpc>
                <a:spcPct val="115000"/>
              </a:lnSpc>
              <a:spcAft>
                <a:spcPts val="200"/>
              </a:spcAft>
            </a:pPr>
            <a:r>
              <a:rPr sz="2100" b="0" i="0" lang="en-US">
                <a:solidFill>
                  <a:srgbClr val="FFFFFF"/>
                </a:solidFill>
                <a:latin typeface="Consolas"/>
                <a:ea typeface="Consolas"/>
                <a:cs typeface="Rubik"/>
              </a:rPr>
              <a:t>levi-case\</a:t>
            </a:r>
          </a:p>
          <a:p>
            <a:pPr rtl="0" algn="l">
              <a:lnSpc>
                <a:spcPct val="115000"/>
              </a:lnSpc>
              <a:spcAft>
                <a:spcPts val="200"/>
              </a:spcAft>
            </a:pPr>
            <a:r>
              <a:rPr sz="2100" b="0" i="0" lang="en-US">
                <a:solidFill>
                  <a:srgbClr val="64CAAD"/>
                </a:solidFill>
                <a:latin typeface="Consolas"/>
                <a:ea typeface="Consolas"/>
                <a:cs typeface="Rubik"/>
              </a:rPr>
              <a:t>├── 01_originals\</a:t>
            </a:r>
          </a:p>
          <a:p>
            <a:pPr rtl="0" algn="l">
              <a:lnSpc>
                <a:spcPct val="115000"/>
              </a:lnSpc>
              <a:spcAft>
                <a:spcPts val="200"/>
              </a:spcAft>
            </a:pPr>
            <a:r>
              <a:rPr sz="2100" b="0" i="0" lang="en-US">
                <a:solidFill>
                  <a:srgbClr val="64CAAD"/>
                </a:solidFill>
                <a:latin typeface="Consolas"/>
                <a:ea typeface="Consolas"/>
                <a:cs typeface="Rubik"/>
              </a:rPr>
              <a:t>├── 02_organized\</a:t>
            </a:r>
          </a:p>
          <a:p>
            <a:pPr rtl="0" algn="l">
              <a:lnSpc>
                <a:spcPct val="115000"/>
              </a:lnSpc>
              <a:spcAft>
                <a:spcPts val="200"/>
              </a:spcAft>
            </a:pPr>
            <a:r>
              <a:rPr sz="2100" b="0" i="0" lang="en-US">
                <a:solidFill>
                  <a:srgbClr val="64CAAD"/>
                </a:solidFill>
                <a:latin typeface="Consolas"/>
                <a:ea typeface="Consolas"/>
                <a:cs typeface="Rubik"/>
              </a:rPr>
              <a:t>├── 03_reports\</a:t>
            </a:r>
          </a:p>
          <a:p>
            <a:pPr rtl="0" algn="l">
              <a:lnSpc>
                <a:spcPct val="115000"/>
              </a:lnSpc>
              <a:spcAft>
                <a:spcPts val="200"/>
              </a:spcAft>
            </a:pPr>
            <a:r>
              <a:rPr sz="2100" b="0" i="0" lang="en-US">
                <a:solidFill>
                  <a:srgbClr val="FFFFFF"/>
                </a:solidFill>
                <a:latin typeface="Consolas"/>
                <a:ea typeface="Consolas"/>
                <a:cs typeface="Rubik"/>
              </a:rPr>
              <a:t>├── CLAUDE.md</a:t>
            </a:r>
          </a:p>
          <a:p>
            <a:pPr rtl="0" algn="l">
              <a:lnSpc>
                <a:spcPct val="115000"/>
              </a:lnSpc>
              <a:spcAft>
                <a:spcPts val="200"/>
              </a:spcAft>
            </a:pPr>
            <a:r>
              <a:rPr sz="2100" b="0" i="0" lang="en-US">
                <a:solidFill>
                  <a:srgbClr val="FFFFFF"/>
                </a:solidFill>
                <a:latin typeface="Consolas"/>
                <a:ea typeface="Consolas"/>
                <a:cs typeface="Rubik"/>
              </a:rPr>
              <a:t>└── .claude\</a:t>
            </a:r>
          </a:p>
        </p:txBody>
      </p:sp>
      <p:sp>
        <p:nvSpPr>
          <p:cNvPr id="8" name="Rounded Rectangle 7"/>
          <p:cNvSpPr/>
          <p:nvPr/>
        </p:nvSpPr>
        <p:spPr>
          <a:xfrm>
            <a:off x="9722815" y="1600200"/>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01_originals</a:t>
            </a:r>
          </a:p>
        </p:txBody>
      </p:sp>
      <p:sp>
        <p:nvSpPr>
          <p:cNvPr id="9" name="TextBox 8"/>
          <p:cNvSpPr txBox="1"/>
          <p:nvPr/>
        </p:nvSpPr>
        <p:spPr>
          <a:xfrm>
            <a:off x="5669280" y="1572768"/>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מקורות, ללא שינוי</a:t>
            </a:r>
          </a:p>
        </p:txBody>
      </p:sp>
      <p:sp>
        <p:nvSpPr>
          <p:cNvPr id="10" name="Rounded Rectangle 9"/>
          <p:cNvSpPr/>
          <p:nvPr/>
        </p:nvSpPr>
        <p:spPr>
          <a:xfrm>
            <a:off x="9722815" y="2167127"/>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02_organized</a:t>
            </a:r>
          </a:p>
        </p:txBody>
      </p:sp>
      <p:sp>
        <p:nvSpPr>
          <p:cNvPr id="11" name="TextBox 10"/>
          <p:cNvSpPr txBox="1"/>
          <p:nvPr/>
        </p:nvSpPr>
        <p:spPr>
          <a:xfrm>
            <a:off x="5669280" y="2139696"/>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עותקים מסודרים</a:t>
            </a:r>
          </a:p>
        </p:txBody>
      </p:sp>
      <p:sp>
        <p:nvSpPr>
          <p:cNvPr id="12" name="Rounded Rectangle 11"/>
          <p:cNvSpPr/>
          <p:nvPr/>
        </p:nvSpPr>
        <p:spPr>
          <a:xfrm>
            <a:off x="9722815" y="2734056"/>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03_reports</a:t>
            </a:r>
          </a:p>
        </p:txBody>
      </p:sp>
      <p:sp>
        <p:nvSpPr>
          <p:cNvPr id="13" name="TextBox 12"/>
          <p:cNvSpPr txBox="1"/>
          <p:nvPr/>
        </p:nvSpPr>
        <p:spPr>
          <a:xfrm>
            <a:off x="5669280" y="2706624"/>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דוחות ותוצרים</a:t>
            </a:r>
          </a:p>
        </p:txBody>
      </p:sp>
      <p:sp>
        <p:nvSpPr>
          <p:cNvPr id="14" name="Rounded Rectangle 13"/>
          <p:cNvSpPr/>
          <p:nvPr/>
        </p:nvSpPr>
        <p:spPr>
          <a:xfrm>
            <a:off x="9722815" y="3300983"/>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CLAUDE.md</a:t>
            </a:r>
          </a:p>
        </p:txBody>
      </p:sp>
      <p:sp>
        <p:nvSpPr>
          <p:cNvPr id="15" name="TextBox 14"/>
          <p:cNvSpPr txBox="1"/>
          <p:nvPr/>
        </p:nvSpPr>
        <p:spPr>
          <a:xfrm>
            <a:off x="5669280" y="3273551"/>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הוראות קבועות</a:t>
            </a:r>
          </a:p>
        </p:txBody>
      </p:sp>
      <p:sp>
        <p:nvSpPr>
          <p:cNvPr id="16" name="Rounded Rectangle 15"/>
          <p:cNvSpPr/>
          <p:nvPr/>
        </p:nvSpPr>
        <p:spPr>
          <a:xfrm>
            <a:off x="9722815" y="3867911"/>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.claude</a:t>
            </a:r>
          </a:p>
        </p:txBody>
      </p:sp>
      <p:sp>
        <p:nvSpPr>
          <p:cNvPr id="17" name="TextBox 16"/>
          <p:cNvSpPr txBox="1"/>
          <p:nvPr/>
        </p:nvSpPr>
        <p:spPr>
          <a:xfrm>
            <a:off x="5669280" y="3840479"/>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סקילים וסוכנים</a:t>
            </a:r>
          </a:p>
        </p:txBody>
      </p:sp>
      <p:sp>
        <p:nvSpPr>
          <p:cNvPr id="18" name="Rounded Rectangle 17"/>
          <p:cNvSpPr/>
          <p:nvPr/>
        </p:nvSpPr>
        <p:spPr>
          <a:xfrm>
            <a:off x="548640" y="4709160"/>
            <a:ext cx="11094415" cy="1188720"/>
          </a:xfrm>
          <a:prstGeom prst="roundRect">
            <a:avLst>
              <a:gd name="adj" fmla="val 5000"/>
            </a:avLst>
          </a:prstGeom>
          <a:solidFill>
            <a:srgbClr val="E8FBF7"/>
          </a:solidFill>
          <a:ln>
            <a:noFill/>
          </a:ln>
          <a:effectLst/>
        </p:spPr>
        <p:txBody>
          <a:bodyPr rtlCol="0" anchor="ctr"/>
          <a:lstStyle/>
          <a:p>
            <a:pPr algn="ctr"/>
          </a:p>
        </p:txBody>
      </p:sp>
      <p:sp>
        <p:nvSpPr>
          <p:cNvPr id="19" name="Rectangle 18"/>
          <p:cNvSpPr/>
          <p:nvPr/>
        </p:nvSpPr>
        <p:spPr>
          <a:xfrm>
            <a:off x="11569903" y="4709160"/>
            <a:ext cx="73152" cy="1188720"/>
          </a:xfrm>
          <a:prstGeom prst="rect">
            <a:avLst/>
          </a:prstGeom>
          <a:solidFill>
            <a:srgbClr val="64CAAD"/>
          </a:solidFill>
          <a:ln>
            <a:noFill/>
          </a:ln>
          <a:effectLst/>
        </p:spPr>
        <p:txBody>
          <a:bodyPr rtlCol="0" anchor="ctr"/>
          <a:lstStyle/>
          <a:p>
            <a:pPr algn="ctr"/>
          </a:p>
        </p:txBody>
      </p:sp>
      <p:sp>
        <p:nvSpPr>
          <p:cNvPr id="20" name="TextBox 19"/>
          <p:cNvSpPr txBox="1"/>
          <p:nvPr/>
        </p:nvSpPr>
        <p:spPr>
          <a:xfrm>
            <a:off x="731520" y="481888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21" name="TextBox 20"/>
          <p:cNvSpPr txBox="1"/>
          <p:nvPr/>
        </p:nvSpPr>
        <p:spPr>
          <a:xfrm>
            <a:off x="731520" y="5148072"/>
            <a:ext cx="10682935" cy="685800"/>
          </a:xfrm>
          <a:prstGeom prst="rect">
            <a:avLst/>
          </a:prstGeom>
          <a:noFill/>
        </p:spPr>
        <p:txBody>
          <a:bodyPr wrap="square" lIns="73152" rIns="73152" tIns="54864" bIns="54864" anchor="t">
            <a:noAutofit/>
          </a:bodyPr>
          <a:lstStyle/>
          <a:p>
            <a:pPr rtl="1" algn="r">
              <a:lnSpc>
                <a:spcPct val="115000"/>
              </a:lnSpc>
              <a:spcAft>
                <a:spcPts val="400"/>
              </a:spcAft>
            </a:pPr>
            <a:r>
              <a:rPr sz="1900" b="0" i="0" lang="he-IL">
                <a:solidFill>
                  <a:srgbClr val="0A1A33"/>
                </a:solidFill>
                <a:latin typeface="Rubik"/>
                <a:ea typeface="Rubik"/>
                <a:cs typeface="Rubik"/>
              </a:rPr>
              <a:t>צור בתיקייה הזו שלוש תיקיות: ‎01_originals‎, ‎02_organized‎ ו־‎03_reports‎.</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10</a:t>
            </a:r>
            <a:r>
              <a:rPr sz="1200" b="0" i="0" lang="he-IL">
                <a:solidFill>
                  <a:srgbClr val="8D9299"/>
                </a:solidFill>
                <a:latin typeface="Rubik"/>
                <a:ea typeface="Rubik"/>
                <a:cs typeface="Rubik"/>
              </a:rPr>
              <a:t>  |  Claude Code ליועצי משכנתאות</a:t>
            </a:r>
          </a:p>
        </p:txBody>
      </p:sp>
      <p:pic>
        <p:nvPicPr>
          <p:cNvPr id="23" name="Picture 22"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8"/>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ההקשר של השיחה</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8127796" y="1645920"/>
            <a:ext cx="3515258" cy="1691640"/>
          </a:xfrm>
          <a:prstGeom prst="roundRect">
            <a:avLst>
              <a:gd name="adj" fmla="val 8000"/>
            </a:avLst>
          </a:prstGeom>
          <a:solidFill>
            <a:srgbClr val="FFFFFF"/>
          </a:solidFill>
          <a:ln>
            <a:noFill/>
          </a:ln>
          <a:effectLst/>
        </p:spPr>
        <p:txBody>
          <a:bodyPr rtlCol="0" anchor="ctr"/>
          <a:lstStyle/>
          <a:p>
            <a:pPr algn="ctr"/>
          </a:p>
        </p:txBody>
      </p:sp>
      <p:sp>
        <p:nvSpPr>
          <p:cNvPr id="6" name="TextBox 5"/>
          <p:cNvSpPr txBox="1"/>
          <p:nvPr/>
        </p:nvSpPr>
        <p:spPr>
          <a:xfrm>
            <a:off x="8402116" y="190195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0A1A33"/>
                </a:solidFill>
                <a:latin typeface="Rubik"/>
                <a:ea typeface="Rubik"/>
                <a:cs typeface="Rubik"/>
              </a:rPr>
              <a:t>השיחה</a:t>
            </a:r>
          </a:p>
        </p:txBody>
      </p:sp>
      <p:sp>
        <p:nvSpPr>
          <p:cNvPr id="7" name="TextBox 6"/>
          <p:cNvSpPr txBox="1"/>
          <p:nvPr/>
        </p:nvSpPr>
        <p:spPr>
          <a:xfrm>
            <a:off x="8402116" y="2377440"/>
            <a:ext cx="2966618" cy="868680"/>
          </a:xfrm>
          <a:prstGeom prst="rect">
            <a:avLst/>
          </a:prstGeom>
          <a:noFill/>
        </p:spPr>
        <p:txBody>
          <a:bodyPr wrap="square" lIns="73152" rIns="73152" tIns="54864" bIns="54864" anchor="t">
            <a:noAutofit/>
          </a:bodyPr>
          <a:lstStyle/>
          <a:p>
            <a:pPr rtl="1" algn="r">
              <a:lnSpc>
                <a:spcPct val="120000"/>
              </a:lnSpc>
              <a:spcAft>
                <a:spcPts val="600"/>
              </a:spcAft>
            </a:pPr>
            <a:r>
              <a:rPr sz="1800" b="0" i="0" lang="he-IL">
                <a:solidFill>
                  <a:srgbClr val="4C5058"/>
                </a:solidFill>
                <a:latin typeface="Rubik"/>
                <a:ea typeface="Rubik"/>
                <a:cs typeface="Rubik"/>
              </a:rPr>
              <a:t>נשמרת רק בתוך אותה שיחה</a:t>
            </a:r>
          </a:p>
        </p:txBody>
      </p:sp>
      <p:sp>
        <p:nvSpPr>
          <p:cNvPr id="8" name="Rectangle 7"/>
          <p:cNvSpPr/>
          <p:nvPr/>
        </p:nvSpPr>
        <p:spPr>
          <a:xfrm>
            <a:off x="8402116" y="1645920"/>
            <a:ext cx="2966618" cy="64008"/>
          </a:xfrm>
          <a:prstGeom prst="rect">
            <a:avLst/>
          </a:prstGeom>
          <a:solidFill>
            <a:srgbClr val="435FB5"/>
          </a:solidFill>
          <a:ln>
            <a:noFill/>
          </a:ln>
          <a:effectLst/>
        </p:spPr>
        <p:txBody>
          <a:bodyPr rtlCol="0" anchor="ctr"/>
          <a:lstStyle/>
          <a:p>
            <a:pPr algn="ctr"/>
          </a:p>
        </p:txBody>
      </p:sp>
      <p:sp>
        <p:nvSpPr>
          <p:cNvPr id="9" name="Rounded Rectangle 8"/>
          <p:cNvSpPr/>
          <p:nvPr/>
        </p:nvSpPr>
        <p:spPr>
          <a:xfrm>
            <a:off x="4338218" y="1645920"/>
            <a:ext cx="3515258" cy="1691640"/>
          </a:xfrm>
          <a:prstGeom prst="roundRect">
            <a:avLst>
              <a:gd name="adj" fmla="val 8000"/>
            </a:avLst>
          </a:prstGeom>
          <a:solidFill>
            <a:srgbClr val="FFFFFF"/>
          </a:solidFill>
          <a:ln>
            <a:noFill/>
          </a:ln>
          <a:effectLst/>
        </p:spPr>
        <p:txBody>
          <a:bodyPr rtlCol="0" anchor="ctr"/>
          <a:lstStyle/>
          <a:p>
            <a:pPr algn="ctr"/>
          </a:p>
        </p:txBody>
      </p:sp>
      <p:sp>
        <p:nvSpPr>
          <p:cNvPr id="10" name="TextBox 9"/>
          <p:cNvSpPr txBox="1"/>
          <p:nvPr/>
        </p:nvSpPr>
        <p:spPr>
          <a:xfrm>
            <a:off x="4612538" y="190195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0A1A33"/>
                </a:solidFill>
                <a:latin typeface="Rubik"/>
                <a:ea typeface="Rubik"/>
                <a:cs typeface="Rubik"/>
              </a:rPr>
              <a:t>קבצים שנשמרו</a:t>
            </a:r>
          </a:p>
        </p:txBody>
      </p:sp>
      <p:sp>
        <p:nvSpPr>
          <p:cNvPr id="11" name="TextBox 10"/>
          <p:cNvSpPr txBox="1"/>
          <p:nvPr/>
        </p:nvSpPr>
        <p:spPr>
          <a:xfrm>
            <a:off x="4612538" y="2377440"/>
            <a:ext cx="2966618" cy="868680"/>
          </a:xfrm>
          <a:prstGeom prst="rect">
            <a:avLst/>
          </a:prstGeom>
          <a:noFill/>
        </p:spPr>
        <p:txBody>
          <a:bodyPr wrap="square" lIns="73152" rIns="73152" tIns="54864" bIns="54864" anchor="t">
            <a:noAutofit/>
          </a:bodyPr>
          <a:lstStyle/>
          <a:p>
            <a:pPr rtl="1" algn="r">
              <a:lnSpc>
                <a:spcPct val="120000"/>
              </a:lnSpc>
              <a:spcAft>
                <a:spcPts val="600"/>
              </a:spcAft>
            </a:pPr>
            <a:r>
              <a:rPr sz="1800" b="0" i="0" lang="he-IL">
                <a:solidFill>
                  <a:srgbClr val="4C5058"/>
                </a:solidFill>
                <a:latin typeface="Rubik"/>
                <a:ea typeface="Rubik"/>
                <a:cs typeface="Rubik"/>
              </a:rPr>
              <a:t>נשארים בתיקייה לשיחה הבאה</a:t>
            </a:r>
          </a:p>
        </p:txBody>
      </p:sp>
      <p:sp>
        <p:nvSpPr>
          <p:cNvPr id="12" name="Rectangle 11"/>
          <p:cNvSpPr/>
          <p:nvPr/>
        </p:nvSpPr>
        <p:spPr>
          <a:xfrm>
            <a:off x="4612538" y="1645920"/>
            <a:ext cx="2966618" cy="64008"/>
          </a:xfrm>
          <a:prstGeom prst="rect">
            <a:avLst/>
          </a:prstGeom>
          <a:solidFill>
            <a:srgbClr val="64CAAD"/>
          </a:solidFill>
          <a:ln>
            <a:noFill/>
          </a:ln>
          <a:effectLst/>
        </p:spPr>
        <p:txBody>
          <a:bodyPr rtlCol="0" anchor="ctr"/>
          <a:lstStyle/>
          <a:p>
            <a:pPr algn="ctr"/>
          </a:p>
        </p:txBody>
      </p:sp>
      <p:sp>
        <p:nvSpPr>
          <p:cNvPr id="13" name="Rounded Rectangle 12"/>
          <p:cNvSpPr/>
          <p:nvPr/>
        </p:nvSpPr>
        <p:spPr>
          <a:xfrm>
            <a:off x="548639" y="1645920"/>
            <a:ext cx="3515258" cy="1691640"/>
          </a:xfrm>
          <a:prstGeom prst="roundRect">
            <a:avLst>
              <a:gd name="adj" fmla="val 8000"/>
            </a:avLst>
          </a:prstGeom>
          <a:solidFill>
            <a:srgbClr val="FFFFFF"/>
          </a:solidFill>
          <a:ln>
            <a:noFill/>
          </a:ln>
          <a:effectLst/>
        </p:spPr>
        <p:txBody>
          <a:bodyPr rtlCol="0" anchor="ctr"/>
          <a:lstStyle/>
          <a:p>
            <a:pPr algn="ctr"/>
          </a:p>
        </p:txBody>
      </p:sp>
      <p:sp>
        <p:nvSpPr>
          <p:cNvPr id="14" name="TextBox 13"/>
          <p:cNvSpPr txBox="1"/>
          <p:nvPr/>
        </p:nvSpPr>
        <p:spPr>
          <a:xfrm>
            <a:off x="822959" y="190195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0A1A33"/>
                </a:solidFill>
                <a:latin typeface="Rubik"/>
                <a:ea typeface="Rubik"/>
                <a:cs typeface="Rubik"/>
              </a:rPr>
              <a:t>‎CLAUDE.md‎</a:t>
            </a:r>
          </a:p>
        </p:txBody>
      </p:sp>
      <p:sp>
        <p:nvSpPr>
          <p:cNvPr id="15" name="TextBox 14"/>
          <p:cNvSpPr txBox="1"/>
          <p:nvPr/>
        </p:nvSpPr>
        <p:spPr>
          <a:xfrm>
            <a:off x="822959" y="2377440"/>
            <a:ext cx="2966618" cy="868680"/>
          </a:xfrm>
          <a:prstGeom prst="rect">
            <a:avLst/>
          </a:prstGeom>
          <a:noFill/>
        </p:spPr>
        <p:txBody>
          <a:bodyPr wrap="square" lIns="73152" rIns="73152" tIns="54864" bIns="54864" anchor="t">
            <a:noAutofit/>
          </a:bodyPr>
          <a:lstStyle/>
          <a:p>
            <a:pPr rtl="1" algn="r">
              <a:lnSpc>
                <a:spcPct val="120000"/>
              </a:lnSpc>
              <a:spcAft>
                <a:spcPts val="600"/>
              </a:spcAft>
            </a:pPr>
            <a:r>
              <a:rPr sz="1800" b="0" i="0" lang="he-IL">
                <a:solidFill>
                  <a:srgbClr val="4C5058"/>
                </a:solidFill>
                <a:latin typeface="Rubik"/>
                <a:ea typeface="Rubik"/>
                <a:cs typeface="Rubik"/>
              </a:rPr>
              <a:t>נטען בתחילת כל שיחה</a:t>
            </a:r>
          </a:p>
        </p:txBody>
      </p:sp>
      <p:sp>
        <p:nvSpPr>
          <p:cNvPr id="16" name="Rectangle 15"/>
          <p:cNvSpPr/>
          <p:nvPr/>
        </p:nvSpPr>
        <p:spPr>
          <a:xfrm>
            <a:off x="822959" y="1645920"/>
            <a:ext cx="2966618" cy="64008"/>
          </a:xfrm>
          <a:prstGeom prst="rect">
            <a:avLst/>
          </a:prstGeom>
          <a:solidFill>
            <a:srgbClr val="0A1A33"/>
          </a:solidFill>
          <a:ln>
            <a:noFill/>
          </a:ln>
          <a:effectLst/>
        </p:spPr>
        <p:txBody>
          <a:bodyPr rtlCol="0" anchor="ctr"/>
          <a:lstStyle/>
          <a:p>
            <a:pPr algn="ctr"/>
          </a:p>
        </p:txBody>
      </p:sp>
      <p:sp>
        <p:nvSpPr>
          <p:cNvPr id="17" name="TextBox 16"/>
          <p:cNvSpPr txBox="1"/>
          <p:nvPr/>
        </p:nvSpPr>
        <p:spPr>
          <a:xfrm>
            <a:off x="548640" y="379476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חוזרים להמשך עבודה? מתחילים כך:</a:t>
            </a:r>
          </a:p>
        </p:txBody>
      </p:sp>
      <p:sp>
        <p:nvSpPr>
          <p:cNvPr id="18" name="Rounded Rectangle 17"/>
          <p:cNvSpPr/>
          <p:nvPr/>
        </p:nvSpPr>
        <p:spPr>
          <a:xfrm>
            <a:off x="548640" y="4343400"/>
            <a:ext cx="11094415" cy="1280160"/>
          </a:xfrm>
          <a:prstGeom prst="roundRect">
            <a:avLst>
              <a:gd name="adj" fmla="val 5000"/>
            </a:avLst>
          </a:prstGeom>
          <a:solidFill>
            <a:srgbClr val="E8FBF7"/>
          </a:solidFill>
          <a:ln>
            <a:noFill/>
          </a:ln>
          <a:effectLst/>
        </p:spPr>
        <p:txBody>
          <a:bodyPr rtlCol="0" anchor="ctr"/>
          <a:lstStyle/>
          <a:p>
            <a:pPr algn="ctr"/>
          </a:p>
        </p:txBody>
      </p:sp>
      <p:sp>
        <p:nvSpPr>
          <p:cNvPr id="19" name="Rectangle 18"/>
          <p:cNvSpPr/>
          <p:nvPr/>
        </p:nvSpPr>
        <p:spPr>
          <a:xfrm>
            <a:off x="11569903" y="4343400"/>
            <a:ext cx="73152" cy="1280160"/>
          </a:xfrm>
          <a:prstGeom prst="rect">
            <a:avLst/>
          </a:prstGeom>
          <a:solidFill>
            <a:srgbClr val="64CAAD"/>
          </a:solidFill>
          <a:ln>
            <a:noFill/>
          </a:ln>
          <a:effectLst/>
        </p:spPr>
        <p:txBody>
          <a:bodyPr rtlCol="0" anchor="ctr"/>
          <a:lstStyle/>
          <a:p>
            <a:pPr algn="ctr"/>
          </a:p>
        </p:txBody>
      </p:sp>
      <p:sp>
        <p:nvSpPr>
          <p:cNvPr id="20" name="TextBox 19"/>
          <p:cNvSpPr txBox="1"/>
          <p:nvPr/>
        </p:nvSpPr>
        <p:spPr>
          <a:xfrm>
            <a:off x="731520" y="445312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21" name="TextBox 20"/>
          <p:cNvSpPr txBox="1"/>
          <p:nvPr/>
        </p:nvSpPr>
        <p:spPr>
          <a:xfrm>
            <a:off x="731520" y="4782312"/>
            <a:ext cx="10682935" cy="777239"/>
          </a:xfrm>
          <a:prstGeom prst="rect">
            <a:avLst/>
          </a:prstGeom>
          <a:noFill/>
        </p:spPr>
        <p:txBody>
          <a:bodyPr wrap="square" lIns="73152" rIns="73152" tIns="54864" bIns="54864" anchor="t">
            <a:noAutofit/>
          </a:bodyPr>
          <a:lstStyle/>
          <a:p>
            <a:pPr rtl="1" algn="r">
              <a:lnSpc>
                <a:spcPct val="115000"/>
              </a:lnSpc>
              <a:spcAft>
                <a:spcPts val="400"/>
              </a:spcAft>
            </a:pPr>
            <a:r>
              <a:rPr sz="1900" b="0" i="0" lang="he-IL">
                <a:solidFill>
                  <a:srgbClr val="0A1A33"/>
                </a:solidFill>
                <a:latin typeface="Rubik"/>
                <a:ea typeface="Rubik"/>
                <a:cs typeface="Rubik"/>
              </a:rPr>
              <a:t>קרא את הקבצים ב־‎03_reports‎ וסכם בקצרה מה הושלם ומה עוד פתוח.</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11</a:t>
            </a:r>
            <a:r>
              <a:rPr sz="1200" b="0" i="0" lang="he-IL">
                <a:solidFill>
                  <a:srgbClr val="8D9299"/>
                </a:solidFill>
                <a:latin typeface="Rubik"/>
                <a:ea typeface="Rubik"/>
                <a:cs typeface="Rubik"/>
              </a:rPr>
              <a:t>  |  Claude Code ליועצי משכנתאות</a:t>
            </a:r>
          </a:p>
        </p:txBody>
      </p:sp>
      <p:pic>
        <p:nvPicPr>
          <p:cNvPr id="23" name="Picture 22"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קובץ ההוראות ‎CLAUDE.md‎</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3977639"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pic>
        <p:nvPicPr>
          <p:cNvPr id="6" name="Picture 5" descr="pose-whiteboard.png"/>
          <p:cNvPicPr>
            <a:picLocks noChangeAspect="1"/>
          </p:cNvPicPr>
          <p:nvPr/>
        </p:nvPicPr>
        <p:blipFill>
          <a:blip r:embed="rId2"/>
          <a:stretch>
            <a:fillRect/>
          </a:stretch>
        </p:blipFill>
        <p:spPr>
          <a:xfrm>
            <a:off x="320040" y="1600200"/>
            <a:ext cx="3155511" cy="4754880"/>
          </a:xfrm>
          <a:prstGeom prst="rect">
            <a:avLst/>
          </a:prstGeom>
        </p:spPr>
      </p:pic>
      <p:sp>
        <p:nvSpPr>
          <p:cNvPr id="7" name="Rounded Rectangle 6"/>
          <p:cNvSpPr/>
          <p:nvPr/>
        </p:nvSpPr>
        <p:spPr>
          <a:xfrm>
            <a:off x="3977639" y="1554480"/>
            <a:ext cx="7665415" cy="3429000"/>
          </a:xfrm>
          <a:prstGeom prst="roundRect">
            <a:avLst>
              <a:gd name="adj" fmla="val 3000"/>
            </a:avLst>
          </a:prstGeom>
          <a:solidFill>
            <a:srgbClr val="FFFFFF"/>
          </a:solidFill>
          <a:ln w="12700">
            <a:solidFill>
              <a:srgbClr val="D4D6D8"/>
            </a:solidFill>
          </a:ln>
          <a:effectLst/>
        </p:spPr>
        <p:txBody>
          <a:bodyPr rtlCol="0" anchor="ctr"/>
          <a:lstStyle/>
          <a:p>
            <a:pPr algn="ctr"/>
          </a:p>
        </p:txBody>
      </p:sp>
      <p:sp>
        <p:nvSpPr>
          <p:cNvPr id="8" name="Rectangle 7"/>
          <p:cNvSpPr/>
          <p:nvPr/>
        </p:nvSpPr>
        <p:spPr>
          <a:xfrm>
            <a:off x="3977639" y="1554480"/>
            <a:ext cx="7665415" cy="457200"/>
          </a:xfrm>
          <a:prstGeom prst="rect">
            <a:avLst/>
          </a:prstGeom>
          <a:solidFill>
            <a:srgbClr val="0A1A33"/>
          </a:solidFill>
          <a:ln>
            <a:noFill/>
          </a:ln>
          <a:effectLst/>
        </p:spPr>
        <p:txBody>
          <a:bodyPr rtlCol="0" anchor="ctr"/>
          <a:lstStyle/>
          <a:p>
            <a:pPr algn="ctr"/>
          </a:p>
        </p:txBody>
      </p:sp>
      <p:sp>
        <p:nvSpPr>
          <p:cNvPr id="9" name="TextBox 8"/>
          <p:cNvSpPr txBox="1"/>
          <p:nvPr/>
        </p:nvSpPr>
        <p:spPr>
          <a:xfrm>
            <a:off x="4160520" y="1618488"/>
            <a:ext cx="2743200" cy="329184"/>
          </a:xfrm>
          <a:prstGeom prst="rect">
            <a:avLst/>
          </a:prstGeom>
          <a:noFill/>
        </p:spPr>
        <p:txBody>
          <a:bodyPr wrap="square" lIns="73152" rIns="73152" tIns="54864" bIns="54864" anchor="t">
            <a:noAutofit/>
          </a:bodyPr>
          <a:lstStyle/>
          <a:p>
            <a:pPr rtl="0" algn="l">
              <a:lnSpc>
                <a:spcPct val="110000"/>
              </a:lnSpc>
              <a:spcAft>
                <a:spcPts val="600"/>
              </a:spcAft>
            </a:pPr>
            <a:r>
              <a:rPr sz="1400" b="0" i="0" lang="en-US">
                <a:solidFill>
                  <a:srgbClr val="FFFFFF"/>
                </a:solidFill>
                <a:latin typeface="Consolas"/>
                <a:ea typeface="Consolas"/>
                <a:cs typeface="Rubik"/>
              </a:rPr>
              <a:t>CLAUDE.md</a:t>
            </a:r>
          </a:p>
        </p:txBody>
      </p:sp>
      <p:sp>
        <p:nvSpPr>
          <p:cNvPr id="10" name="TextBox 9"/>
          <p:cNvSpPr txBox="1"/>
          <p:nvPr/>
        </p:nvSpPr>
        <p:spPr>
          <a:xfrm>
            <a:off x="4297679" y="2176272"/>
            <a:ext cx="7025335" cy="2743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435FB5"/>
                </a:solidFill>
                <a:latin typeface="Rubik"/>
                <a:ea typeface="Rubik"/>
                <a:cs typeface="Rubik"/>
              </a:rPr>
              <a:t># הוראות לתיק הלקוח</a:t>
            </a:r>
          </a:p>
          <a:p>
            <a:pPr rtl="1" algn="r">
              <a:lnSpc>
                <a:spcPct val="110000"/>
              </a:lnSpc>
              <a:spcAft>
                <a:spcPts val="600"/>
              </a:spcAft>
            </a:pPr>
            <a:r>
              <a:rPr sz="1800" b="0" i="0" lang="he-IL">
                <a:solidFill>
                  <a:srgbClr val="0A1A33"/>
                </a:solidFill>
                <a:latin typeface="Rubik"/>
                <a:ea typeface="Rubik"/>
                <a:cs typeface="Rubik"/>
              </a:rPr>
              <a:t>- כתוב תמיד בעברית.</a:t>
            </a:r>
          </a:p>
          <a:p>
            <a:pPr rtl="1" algn="r">
              <a:lnSpc>
                <a:spcPct val="110000"/>
              </a:lnSpc>
              <a:spcAft>
                <a:spcPts val="600"/>
              </a:spcAft>
            </a:pPr>
            <a:r>
              <a:rPr sz="1800" b="0" i="0" lang="he-IL">
                <a:solidFill>
                  <a:srgbClr val="0A1A33"/>
                </a:solidFill>
                <a:latin typeface="Rubik"/>
                <a:ea typeface="Rubik"/>
                <a:cs typeface="Rubik"/>
              </a:rPr>
              <a:t>- אל תשנה קבצים ב־‎01_originals‎.</a:t>
            </a:r>
          </a:p>
          <a:p>
            <a:pPr rtl="1" algn="r">
              <a:lnSpc>
                <a:spcPct val="110000"/>
              </a:lnSpc>
              <a:spcAft>
                <a:spcPts val="600"/>
              </a:spcAft>
            </a:pPr>
            <a:r>
              <a:rPr sz="1800" b="0" i="0" lang="he-IL">
                <a:solidFill>
                  <a:srgbClr val="0A1A33"/>
                </a:solidFill>
                <a:latin typeface="Rubik"/>
                <a:ea typeface="Rubik"/>
                <a:cs typeface="Rubik"/>
              </a:rPr>
              <a:t>- לכל נתון ציין את קובץ המקור.</a:t>
            </a:r>
          </a:p>
          <a:p>
            <a:pPr rtl="1" algn="r">
              <a:lnSpc>
                <a:spcPct val="110000"/>
              </a:lnSpc>
              <a:spcAft>
                <a:spcPts val="600"/>
              </a:spcAft>
            </a:pPr>
            <a:r>
              <a:rPr sz="1800" b="0" i="0" lang="he-IL">
                <a:solidFill>
                  <a:srgbClr val="0A1A33"/>
                </a:solidFill>
                <a:latin typeface="Rubik"/>
                <a:ea typeface="Rubik"/>
                <a:cs typeface="Rubik"/>
              </a:rPr>
              <a:t>- מידע חסר: סמן „חסר”. סתירה: הצג את שני המקורות.</a:t>
            </a:r>
          </a:p>
          <a:p>
            <a:pPr rtl="1" algn="r">
              <a:lnSpc>
                <a:spcPct val="110000"/>
              </a:lnSpc>
              <a:spcAft>
                <a:spcPts val="600"/>
              </a:spcAft>
            </a:pPr>
            <a:r>
              <a:rPr sz="1800" b="0" i="0" lang="he-IL">
                <a:solidFill>
                  <a:srgbClr val="0A1A33"/>
                </a:solidFill>
                <a:latin typeface="Rubik"/>
                <a:ea typeface="Rubik"/>
                <a:cs typeface="Rubik"/>
              </a:rPr>
              <a:t>- שמור תוצרים ב־‎03_reports‎.</a:t>
            </a:r>
          </a:p>
        </p:txBody>
      </p:sp>
      <p:sp>
        <p:nvSpPr>
          <p:cNvPr id="11" name="Rounded Rectangle 10"/>
          <p:cNvSpPr/>
          <p:nvPr/>
        </p:nvSpPr>
        <p:spPr>
          <a:xfrm>
            <a:off x="3977639" y="5166360"/>
            <a:ext cx="7665415" cy="914400"/>
          </a:xfrm>
          <a:prstGeom prst="roundRect">
            <a:avLst>
              <a:gd name="adj" fmla="val 5000"/>
            </a:avLst>
          </a:prstGeom>
          <a:solidFill>
            <a:srgbClr val="E8FBF7"/>
          </a:solidFill>
          <a:ln>
            <a:noFill/>
          </a:ln>
          <a:effectLst/>
        </p:spPr>
        <p:txBody>
          <a:bodyPr rtlCol="0" anchor="ctr"/>
          <a:lstStyle/>
          <a:p>
            <a:pPr algn="ctr"/>
          </a:p>
        </p:txBody>
      </p:sp>
      <p:sp>
        <p:nvSpPr>
          <p:cNvPr id="12" name="Rectangle 11"/>
          <p:cNvSpPr/>
          <p:nvPr/>
        </p:nvSpPr>
        <p:spPr>
          <a:xfrm>
            <a:off x="11569903" y="5166360"/>
            <a:ext cx="73152" cy="914400"/>
          </a:xfrm>
          <a:prstGeom prst="rect">
            <a:avLst/>
          </a:prstGeom>
          <a:solidFill>
            <a:srgbClr val="64CAAD"/>
          </a:solidFill>
          <a:ln>
            <a:noFill/>
          </a:ln>
          <a:effectLst/>
        </p:spPr>
        <p:txBody>
          <a:bodyPr rtlCol="0" anchor="ctr"/>
          <a:lstStyle/>
          <a:p>
            <a:pPr algn="ctr"/>
          </a:p>
        </p:txBody>
      </p:sp>
      <p:sp>
        <p:nvSpPr>
          <p:cNvPr id="13" name="TextBox 12"/>
          <p:cNvSpPr txBox="1"/>
          <p:nvPr/>
        </p:nvSpPr>
        <p:spPr>
          <a:xfrm>
            <a:off x="4160520" y="5276088"/>
            <a:ext cx="7253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4" name="TextBox 13"/>
          <p:cNvSpPr txBox="1"/>
          <p:nvPr/>
        </p:nvSpPr>
        <p:spPr>
          <a:xfrm>
            <a:off x="4160520" y="5605272"/>
            <a:ext cx="7253935" cy="411479"/>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צור בתיקייה קובץ ‎CLAUDE.md‎ עם ההוראות שבשקף, בדיוק כך.</a:t>
            </a:r>
          </a:p>
        </p:txBody>
      </p:sp>
      <p:sp>
        <p:nvSpPr>
          <p:cNvPr id="15" name="TextBox 14"/>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12</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ניסוח בקשה והרשאות</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9006611" y="1554480"/>
            <a:ext cx="2636443" cy="548640"/>
          </a:xfrm>
          <a:prstGeom prst="roundRect">
            <a:avLst>
              <a:gd name="adj" fmla="val 50000"/>
            </a:avLst>
          </a:prstGeom>
          <a:solidFill>
            <a:srgbClr val="EAF3FF"/>
          </a:solidFill>
          <a:ln>
            <a:noFill/>
          </a:ln>
          <a:effectLst/>
        </p:spPr>
        <p:txBody>
          <a:bodyPr rtlCol="0" anchor="ctr" wrap="square" lIns="45720" rIns="45720">
            <a:noAutofit/>
          </a:bodyPr>
          <a:lstStyle/>
          <a:p>
            <a:pPr algn="ctr" rtl="1">
              <a:lnSpc>
                <a:spcPct val="110000"/>
              </a:lnSpc>
            </a:pPr>
            <a:r>
              <a:rPr sz="1900" b="1" i="0" lang="he-IL">
                <a:solidFill>
                  <a:srgbClr val="435FB5"/>
                </a:solidFill>
                <a:latin typeface="Rubik"/>
                <a:ea typeface="Rubik"/>
                <a:cs typeface="Rubik"/>
              </a:rPr>
              <a:t>משימה</a:t>
            </a:r>
          </a:p>
        </p:txBody>
      </p:sp>
      <p:sp>
        <p:nvSpPr>
          <p:cNvPr id="6" name="Rounded Rectangle 5"/>
          <p:cNvSpPr/>
          <p:nvPr/>
        </p:nvSpPr>
        <p:spPr>
          <a:xfrm>
            <a:off x="6187287" y="1554480"/>
            <a:ext cx="2636443" cy="548640"/>
          </a:xfrm>
          <a:prstGeom prst="roundRect">
            <a:avLst>
              <a:gd name="adj" fmla="val 50000"/>
            </a:avLst>
          </a:prstGeom>
          <a:solidFill>
            <a:srgbClr val="EAF3FF"/>
          </a:solidFill>
          <a:ln>
            <a:noFill/>
          </a:ln>
          <a:effectLst/>
        </p:spPr>
        <p:txBody>
          <a:bodyPr rtlCol="0" anchor="ctr" wrap="square" lIns="45720" rIns="45720">
            <a:noAutofit/>
          </a:bodyPr>
          <a:lstStyle/>
          <a:p>
            <a:pPr algn="ctr" rtl="1">
              <a:lnSpc>
                <a:spcPct val="110000"/>
              </a:lnSpc>
            </a:pPr>
            <a:r>
              <a:rPr sz="1900" b="1" i="0" lang="he-IL">
                <a:solidFill>
                  <a:srgbClr val="435FB5"/>
                </a:solidFill>
                <a:latin typeface="Rubik"/>
                <a:ea typeface="Rubik"/>
                <a:cs typeface="Rubik"/>
              </a:rPr>
              <a:t>חומרי מקור</a:t>
            </a:r>
          </a:p>
        </p:txBody>
      </p:sp>
      <p:sp>
        <p:nvSpPr>
          <p:cNvPr id="7" name="Rounded Rectangle 6"/>
          <p:cNvSpPr/>
          <p:nvPr/>
        </p:nvSpPr>
        <p:spPr>
          <a:xfrm>
            <a:off x="3367963" y="1554480"/>
            <a:ext cx="2636443" cy="548640"/>
          </a:xfrm>
          <a:prstGeom prst="roundRect">
            <a:avLst>
              <a:gd name="adj" fmla="val 50000"/>
            </a:avLst>
          </a:prstGeom>
          <a:solidFill>
            <a:srgbClr val="EAF3FF"/>
          </a:solidFill>
          <a:ln>
            <a:noFill/>
          </a:ln>
          <a:effectLst/>
        </p:spPr>
        <p:txBody>
          <a:bodyPr rtlCol="0" anchor="ctr" wrap="square" lIns="45720" rIns="45720">
            <a:noAutofit/>
          </a:bodyPr>
          <a:lstStyle/>
          <a:p>
            <a:pPr algn="ctr" rtl="1">
              <a:lnSpc>
                <a:spcPct val="110000"/>
              </a:lnSpc>
            </a:pPr>
            <a:r>
              <a:rPr sz="1900" b="1" i="0" lang="he-IL">
                <a:solidFill>
                  <a:srgbClr val="435FB5"/>
                </a:solidFill>
                <a:latin typeface="Rubik"/>
                <a:ea typeface="Rubik"/>
                <a:cs typeface="Rubik"/>
              </a:rPr>
              <a:t>תוצר</a:t>
            </a:r>
          </a:p>
        </p:txBody>
      </p:sp>
      <p:sp>
        <p:nvSpPr>
          <p:cNvPr id="8" name="Rounded Rectangle 7"/>
          <p:cNvSpPr/>
          <p:nvPr/>
        </p:nvSpPr>
        <p:spPr>
          <a:xfrm>
            <a:off x="548639" y="1554480"/>
            <a:ext cx="2636443" cy="548640"/>
          </a:xfrm>
          <a:prstGeom prst="roundRect">
            <a:avLst>
              <a:gd name="adj" fmla="val 50000"/>
            </a:avLst>
          </a:prstGeom>
          <a:solidFill>
            <a:srgbClr val="EAF3FF"/>
          </a:solidFill>
          <a:ln>
            <a:noFill/>
          </a:ln>
          <a:effectLst/>
        </p:spPr>
        <p:txBody>
          <a:bodyPr rtlCol="0" anchor="ctr" wrap="square" lIns="45720" rIns="45720">
            <a:noAutofit/>
          </a:bodyPr>
          <a:lstStyle/>
          <a:p>
            <a:pPr algn="ctr" rtl="1">
              <a:lnSpc>
                <a:spcPct val="110000"/>
              </a:lnSpc>
            </a:pPr>
            <a:r>
              <a:rPr sz="1900" b="1" i="0" lang="he-IL">
                <a:solidFill>
                  <a:srgbClr val="435FB5"/>
                </a:solidFill>
                <a:latin typeface="Rubik"/>
                <a:ea typeface="Rubik"/>
                <a:cs typeface="Rubik"/>
              </a:rPr>
              <a:t>מגבלות</a:t>
            </a:r>
          </a:p>
        </p:txBody>
      </p:sp>
      <p:sp>
        <p:nvSpPr>
          <p:cNvPr id="9" name="Rounded Rectangle 8"/>
          <p:cNvSpPr/>
          <p:nvPr/>
        </p:nvSpPr>
        <p:spPr>
          <a:xfrm>
            <a:off x="5486400" y="2468880"/>
            <a:ext cx="6156655" cy="3429000"/>
          </a:xfrm>
          <a:prstGeom prst="roundRect">
            <a:avLst>
              <a:gd name="adj" fmla="val 5000"/>
            </a:avLst>
          </a:prstGeom>
          <a:solidFill>
            <a:srgbClr val="E8FBF7"/>
          </a:solidFill>
          <a:ln>
            <a:noFill/>
          </a:ln>
          <a:effectLst/>
        </p:spPr>
        <p:txBody>
          <a:bodyPr rtlCol="0" anchor="ctr"/>
          <a:lstStyle/>
          <a:p>
            <a:pPr algn="ctr"/>
          </a:p>
        </p:txBody>
      </p:sp>
      <p:sp>
        <p:nvSpPr>
          <p:cNvPr id="10" name="Rectangle 9"/>
          <p:cNvSpPr/>
          <p:nvPr/>
        </p:nvSpPr>
        <p:spPr>
          <a:xfrm>
            <a:off x="11569903" y="2468880"/>
            <a:ext cx="73152" cy="3429000"/>
          </a:xfrm>
          <a:prstGeom prst="rect">
            <a:avLst/>
          </a:prstGeom>
          <a:solidFill>
            <a:srgbClr val="64CAAD"/>
          </a:solidFill>
          <a:ln>
            <a:noFill/>
          </a:ln>
          <a:effectLst/>
        </p:spPr>
        <p:txBody>
          <a:bodyPr rtlCol="0" anchor="ctr"/>
          <a:lstStyle/>
          <a:p>
            <a:pPr algn="ctr"/>
          </a:p>
        </p:txBody>
      </p:sp>
      <p:sp>
        <p:nvSpPr>
          <p:cNvPr id="11" name="TextBox 10"/>
          <p:cNvSpPr txBox="1"/>
          <p:nvPr/>
        </p:nvSpPr>
        <p:spPr>
          <a:xfrm>
            <a:off x="5669280" y="2578608"/>
            <a:ext cx="574517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דוגמה</a:t>
            </a:r>
          </a:p>
        </p:txBody>
      </p:sp>
      <p:sp>
        <p:nvSpPr>
          <p:cNvPr id="12" name="TextBox 11"/>
          <p:cNvSpPr txBox="1"/>
          <p:nvPr/>
        </p:nvSpPr>
        <p:spPr>
          <a:xfrm>
            <a:off x="5669280" y="2907792"/>
            <a:ext cx="5745175" cy="2926080"/>
          </a:xfrm>
          <a:prstGeom prst="rect">
            <a:avLst/>
          </a:prstGeom>
          <a:noFill/>
        </p:spPr>
        <p:txBody>
          <a:bodyPr wrap="square" lIns="73152" rIns="73152" tIns="54864" bIns="54864" anchor="t">
            <a:noAutofit/>
          </a:bodyPr>
          <a:lstStyle/>
          <a:p>
            <a:pPr rtl="1" algn="r">
              <a:lnSpc>
                <a:spcPct val="115000"/>
              </a:lnSpc>
              <a:spcAft>
                <a:spcPts val="400"/>
              </a:spcAft>
            </a:pPr>
            <a:r>
              <a:rPr sz="1900" b="1" i="0" lang="he-IL">
                <a:solidFill>
                  <a:srgbClr val="0A1A33"/>
                </a:solidFill>
                <a:latin typeface="Rubik"/>
                <a:ea typeface="Rubik"/>
                <a:cs typeface="Rubik"/>
              </a:rPr>
              <a:t>משימה: </a:t>
            </a:r>
            <a:r>
              <a:rPr sz="1900" b="0" i="0" lang="he-IL">
                <a:solidFill>
                  <a:srgbClr val="0A1A33"/>
                </a:solidFill>
                <a:latin typeface="Rubik"/>
                <a:ea typeface="Rubik"/>
                <a:cs typeface="Rubik"/>
              </a:rPr>
              <a:t>הכן תוכנית לסידור התיק.</a:t>
            </a:r>
          </a:p>
          <a:p>
            <a:pPr rtl="1" algn="r">
              <a:lnSpc>
                <a:spcPct val="115000"/>
              </a:lnSpc>
              <a:spcAft>
                <a:spcPts val="400"/>
              </a:spcAft>
            </a:pPr>
            <a:r>
              <a:rPr sz="1900" b="1" i="0" lang="he-IL">
                <a:solidFill>
                  <a:srgbClr val="0A1A33"/>
                </a:solidFill>
                <a:latin typeface="Rubik"/>
                <a:ea typeface="Rubik"/>
                <a:cs typeface="Rubik"/>
              </a:rPr>
              <a:t>מקור: </a:t>
            </a:r>
            <a:r>
              <a:rPr sz="1900" b="0" i="0" lang="he-IL">
                <a:solidFill>
                  <a:srgbClr val="0A1A33"/>
                </a:solidFill>
                <a:latin typeface="Rubik"/>
                <a:ea typeface="Rubik"/>
                <a:cs typeface="Rubik"/>
              </a:rPr>
              <a:t>הקבצים ב־‎01_originals‎.</a:t>
            </a:r>
          </a:p>
          <a:p>
            <a:pPr rtl="1" algn="r">
              <a:lnSpc>
                <a:spcPct val="115000"/>
              </a:lnSpc>
              <a:spcAft>
                <a:spcPts val="400"/>
              </a:spcAft>
            </a:pPr>
            <a:r>
              <a:rPr sz="1900" b="1" i="0" lang="he-IL">
                <a:solidFill>
                  <a:srgbClr val="0A1A33"/>
                </a:solidFill>
                <a:latin typeface="Rubik"/>
                <a:ea typeface="Rubik"/>
                <a:cs typeface="Rubik"/>
              </a:rPr>
              <a:t>תוצר: </a:t>
            </a:r>
            <a:r>
              <a:rPr sz="1900" b="0" i="0" lang="he-IL">
                <a:solidFill>
                  <a:srgbClr val="0A1A33"/>
                </a:solidFill>
                <a:latin typeface="Rubik"/>
                <a:ea typeface="Rubik"/>
                <a:cs typeface="Rubik"/>
              </a:rPr>
              <a:t>טבלה עם שם מוצע לכל קובץ.</a:t>
            </a:r>
          </a:p>
          <a:p>
            <a:pPr rtl="1" algn="r">
              <a:lnSpc>
                <a:spcPct val="115000"/>
              </a:lnSpc>
              <a:spcAft>
                <a:spcPts val="400"/>
              </a:spcAft>
            </a:pPr>
            <a:r>
              <a:rPr sz="1900" b="1" i="0" lang="he-IL">
                <a:solidFill>
                  <a:srgbClr val="0A1A33"/>
                </a:solidFill>
                <a:latin typeface="Rubik"/>
                <a:ea typeface="Rubik"/>
                <a:cs typeface="Rubik"/>
              </a:rPr>
              <a:t>מגבלות: </a:t>
            </a:r>
            <a:r>
              <a:rPr sz="1900" b="0" i="0" lang="he-IL">
                <a:solidFill>
                  <a:srgbClr val="0A1A33"/>
                </a:solidFill>
                <a:latin typeface="Rubik"/>
                <a:ea typeface="Rubik"/>
                <a:cs typeface="Rubik"/>
              </a:rPr>
              <a:t>אל תשנה קבצים. רק הצג את התוכנית.</a:t>
            </a:r>
          </a:p>
        </p:txBody>
      </p:sp>
      <p:graphicFrame>
        <p:nvGraphicFramePr>
          <p:cNvPr id="13" name="Table 12"/>
          <p:cNvGraphicFramePr>
            <a:graphicFrameLocks noGrp="1"/>
          </p:cNvGraphicFramePr>
          <p:nvPr/>
        </p:nvGraphicFramePr>
        <p:xfrm>
          <a:off x="548640" y="2468880"/>
          <a:ext cx="4572000" cy="2267712"/>
        </p:xfrm>
        <a:graphic>
          <a:graphicData uri="http://schemas.openxmlformats.org/drawingml/2006/table">
            <a:tbl>
              <a:tblPr firstRow="1" bandRow="0" rtl="1">
                <a:tableStyleId>{5940675A-B579-460E-94D1-54222C63F5DA}</a:tableStyleId>
              </a:tblPr>
              <a:tblGrid>
                <a:gridCol w="1965960"/>
                <a:gridCol w="2606040"/>
              </a:tblGrid>
              <a:tr h="566928">
                <a:tc>
                  <a:txBody>
                    <a:bodyPr wrap="square"/>
                    <a:lstStyle/>
                    <a:p>
                      <a:pPr rtl="1" algn="r"/>
                      <a:r>
                        <a:rPr sz="1700" b="1" i="0" lang="he-IL">
                          <a:solidFill>
                            <a:srgbClr val="FFFFFF"/>
                          </a:solidFill>
                          <a:latin typeface="Rubik"/>
                          <a:ea typeface="Rubik"/>
                          <a:cs typeface="Rubik"/>
                        </a:rPr>
                        <a:t>מצב</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מה קורה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66928">
                <a:tc>
                  <a:txBody>
                    <a:bodyPr wrap="square"/>
                    <a:lstStyle/>
                    <a:p>
                      <a:pPr rtl="0" algn="l"/>
                      <a:r>
                        <a:rPr sz="1700" b="0" i="0" lang="en-US">
                          <a:solidFill>
                            <a:srgbClr val="0A1A33"/>
                          </a:solidFill>
                          <a:latin typeface="Consolas"/>
                          <a:ea typeface="Consolas"/>
                          <a:cs typeface="Rubik"/>
                        </a:rPr>
                        <a:t>Manual</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שואל לפני כל שינוי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0" algn="l"/>
                      <a:r>
                        <a:rPr sz="1700" b="0" i="0" lang="en-US">
                          <a:solidFill>
                            <a:srgbClr val="0A1A33"/>
                          </a:solidFill>
                          <a:latin typeface="Consolas"/>
                          <a:ea typeface="Consolas"/>
                          <a:cs typeface="Rubik"/>
                        </a:rPr>
                        <a:t>Plan</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מציע תוכנית, בלי לערוך</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66928">
                <a:tc>
                  <a:txBody>
                    <a:bodyPr wrap="square"/>
                    <a:lstStyle/>
                    <a:p>
                      <a:pPr rtl="0" algn="l"/>
                      <a:r>
                        <a:rPr sz="1700" b="0" i="0" lang="en-US">
                          <a:solidFill>
                            <a:srgbClr val="0A1A33"/>
                          </a:solidFill>
                          <a:latin typeface="Consolas"/>
                          <a:ea typeface="Consolas"/>
                          <a:cs typeface="Rubik"/>
                        </a:rPr>
                        <a:t>Accept edits</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עורך בלי לשאול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bl>
          </a:graphicData>
        </a:graphic>
      </p:graphicFrame>
      <p:sp>
        <p:nvSpPr>
          <p:cNvPr id="14" name="TextBox 13"/>
          <p:cNvSpPr txBox="1"/>
          <p:nvPr/>
        </p:nvSpPr>
        <p:spPr>
          <a:xfrm>
            <a:off x="548640" y="4937760"/>
            <a:ext cx="4572000" cy="457200"/>
          </a:xfrm>
          <a:prstGeom prst="rect">
            <a:avLst/>
          </a:prstGeom>
          <a:noFill/>
        </p:spPr>
        <p:txBody>
          <a:bodyPr wrap="square" lIns="73152" rIns="73152" tIns="54864" bIns="54864" anchor="t">
            <a:noAutofit/>
          </a:bodyPr>
          <a:lstStyle/>
          <a:p>
            <a:pPr rtl="1" algn="r">
              <a:lnSpc>
                <a:spcPct val="110000"/>
              </a:lnSpc>
              <a:spcAft>
                <a:spcPts val="600"/>
              </a:spcAft>
            </a:pPr>
            <a:r>
              <a:rPr sz="1800" b="1" i="0" lang="he-IL">
                <a:solidFill>
                  <a:srgbClr val="158E78"/>
                </a:solidFill>
                <a:latin typeface="Rubik"/>
                <a:ea typeface="Rubik"/>
                <a:cs typeface="Rubik"/>
              </a:rPr>
              <a:t>בתרגול: Plan או Manual</a:t>
            </a:r>
          </a:p>
        </p:txBody>
      </p:sp>
      <p:sp>
        <p:nvSpPr>
          <p:cNvPr id="15" name="TextBox 14"/>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13</a:t>
            </a:r>
            <a:r>
              <a:rPr sz="1200" b="0" i="0" lang="he-IL">
                <a:solidFill>
                  <a:srgbClr val="8D9299"/>
                </a:solidFill>
                <a:latin typeface="Rubik"/>
                <a:ea typeface="Rubik"/>
                <a:cs typeface="Rubik"/>
              </a:rPr>
              <a:t>  |  Claude Code ליועצי משכנתאות</a:t>
            </a:r>
          </a:p>
        </p:txBody>
      </p:sp>
      <p:pic>
        <p:nvPicPr>
          <p:cNvPr id="16" name="Picture 15"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תיק הלקוח הפיקטיבי: משפחת לוי</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pose-binder.png"/>
          <p:cNvPicPr>
            <a:picLocks noChangeAspect="1"/>
          </p:cNvPicPr>
          <p:nvPr/>
        </p:nvPicPr>
        <p:blipFill>
          <a:blip r:embed="rId2"/>
          <a:stretch>
            <a:fillRect/>
          </a:stretch>
        </p:blipFill>
        <p:spPr>
          <a:xfrm>
            <a:off x="822960" y="1417319"/>
            <a:ext cx="1894304" cy="4937760"/>
          </a:xfrm>
          <a:prstGeom prst="rect">
            <a:avLst/>
          </a:prstGeom>
        </p:spPr>
      </p:pic>
      <p:sp>
        <p:nvSpPr>
          <p:cNvPr id="6" name="Rounded Rectangle 5"/>
          <p:cNvSpPr/>
          <p:nvPr/>
        </p:nvSpPr>
        <p:spPr>
          <a:xfrm>
            <a:off x="7947507" y="1600200"/>
            <a:ext cx="3695547" cy="1463040"/>
          </a:xfrm>
          <a:prstGeom prst="roundRect">
            <a:avLst>
              <a:gd name="adj" fmla="val 8000"/>
            </a:avLst>
          </a:prstGeom>
          <a:solidFill>
            <a:srgbClr val="F7F8F8"/>
          </a:solidFill>
          <a:ln>
            <a:noFill/>
          </a:ln>
          <a:effectLst/>
        </p:spPr>
        <p:txBody>
          <a:bodyPr rtlCol="0" anchor="ctr"/>
          <a:lstStyle/>
          <a:p>
            <a:pPr algn="ctr"/>
          </a:p>
        </p:txBody>
      </p:sp>
      <p:sp>
        <p:nvSpPr>
          <p:cNvPr id="7" name="TextBox 6"/>
          <p:cNvSpPr txBox="1"/>
          <p:nvPr/>
        </p:nvSpPr>
        <p:spPr>
          <a:xfrm>
            <a:off x="8221827" y="1801368"/>
            <a:ext cx="3146907"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שאלון לקוח</a:t>
            </a:r>
          </a:p>
        </p:txBody>
      </p:sp>
      <p:sp>
        <p:nvSpPr>
          <p:cNvPr id="8" name="TextBox 7"/>
          <p:cNvSpPr txBox="1"/>
          <p:nvPr/>
        </p:nvSpPr>
        <p:spPr>
          <a:xfrm>
            <a:off x="8221827" y="2240280"/>
            <a:ext cx="3146907" cy="36576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0A1A33"/>
                </a:solidFill>
                <a:latin typeface="Rubik"/>
                <a:ea typeface="Rubik"/>
                <a:cs typeface="Rubik"/>
              </a:rPr>
              <a:t>סכום מבוקש: 1,200,000 ₪</a:t>
            </a:r>
          </a:p>
        </p:txBody>
      </p:sp>
      <p:sp>
        <p:nvSpPr>
          <p:cNvPr id="9" name="TextBox 8"/>
          <p:cNvSpPr txBox="1"/>
          <p:nvPr/>
        </p:nvSpPr>
        <p:spPr>
          <a:xfrm>
            <a:off x="8221827" y="2606040"/>
            <a:ext cx="3146907" cy="32004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doc1.txt</a:t>
            </a:r>
          </a:p>
        </p:txBody>
      </p:sp>
      <p:sp>
        <p:nvSpPr>
          <p:cNvPr id="10" name="Rounded Rectangle 9"/>
          <p:cNvSpPr/>
          <p:nvPr/>
        </p:nvSpPr>
        <p:spPr>
          <a:xfrm>
            <a:off x="3977640" y="1600200"/>
            <a:ext cx="3695547" cy="1463040"/>
          </a:xfrm>
          <a:prstGeom prst="roundRect">
            <a:avLst>
              <a:gd name="adj" fmla="val 8000"/>
            </a:avLst>
          </a:prstGeom>
          <a:solidFill>
            <a:srgbClr val="F7F8F8"/>
          </a:solidFill>
          <a:ln>
            <a:noFill/>
          </a:ln>
          <a:effectLst/>
        </p:spPr>
        <p:txBody>
          <a:bodyPr rtlCol="0" anchor="ctr"/>
          <a:lstStyle/>
          <a:p>
            <a:pPr algn="ctr"/>
          </a:p>
        </p:txBody>
      </p:sp>
      <p:sp>
        <p:nvSpPr>
          <p:cNvPr id="11" name="TextBox 10"/>
          <p:cNvSpPr txBox="1"/>
          <p:nvPr/>
        </p:nvSpPr>
        <p:spPr>
          <a:xfrm>
            <a:off x="4251960" y="1801368"/>
            <a:ext cx="3146907"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סיכום שיחה</a:t>
            </a:r>
          </a:p>
        </p:txBody>
      </p:sp>
      <p:sp>
        <p:nvSpPr>
          <p:cNvPr id="12" name="TextBox 11"/>
          <p:cNvSpPr txBox="1"/>
          <p:nvPr/>
        </p:nvSpPr>
        <p:spPr>
          <a:xfrm>
            <a:off x="4251960" y="2240280"/>
            <a:ext cx="3146907" cy="36576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0A1A33"/>
                </a:solidFill>
                <a:latin typeface="Rubik"/>
                <a:ea typeface="Rubik"/>
                <a:cs typeface="Rubik"/>
              </a:rPr>
              <a:t>סכום מבוקש: 1,300,000 ₪</a:t>
            </a:r>
          </a:p>
        </p:txBody>
      </p:sp>
      <p:sp>
        <p:nvSpPr>
          <p:cNvPr id="13" name="TextBox 12"/>
          <p:cNvSpPr txBox="1"/>
          <p:nvPr/>
        </p:nvSpPr>
        <p:spPr>
          <a:xfrm>
            <a:off x="4251960" y="2606040"/>
            <a:ext cx="3146907" cy="32004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notes.txt</a:t>
            </a:r>
          </a:p>
        </p:txBody>
      </p:sp>
      <p:sp>
        <p:nvSpPr>
          <p:cNvPr id="14" name="Rounded Rectangle 13"/>
          <p:cNvSpPr/>
          <p:nvPr/>
        </p:nvSpPr>
        <p:spPr>
          <a:xfrm>
            <a:off x="7947507" y="3337560"/>
            <a:ext cx="3695547" cy="1463040"/>
          </a:xfrm>
          <a:prstGeom prst="roundRect">
            <a:avLst>
              <a:gd name="adj" fmla="val 8000"/>
            </a:avLst>
          </a:prstGeom>
          <a:solidFill>
            <a:srgbClr val="F7F8F8"/>
          </a:solidFill>
          <a:ln>
            <a:noFill/>
          </a:ln>
          <a:effectLst/>
        </p:spPr>
        <p:txBody>
          <a:bodyPr rtlCol="0" anchor="ctr"/>
          <a:lstStyle/>
          <a:p>
            <a:pPr algn="ctr"/>
          </a:p>
        </p:txBody>
      </p:sp>
      <p:sp>
        <p:nvSpPr>
          <p:cNvPr id="15" name="TextBox 14"/>
          <p:cNvSpPr txBox="1"/>
          <p:nvPr/>
        </p:nvSpPr>
        <p:spPr>
          <a:xfrm>
            <a:off x="8221827" y="3538728"/>
            <a:ext cx="3146907"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נתוני הכנסה</a:t>
            </a:r>
          </a:p>
        </p:txBody>
      </p:sp>
      <p:sp>
        <p:nvSpPr>
          <p:cNvPr id="16" name="TextBox 15"/>
          <p:cNvSpPr txBox="1"/>
          <p:nvPr/>
        </p:nvSpPr>
        <p:spPr>
          <a:xfrm>
            <a:off x="8221827" y="3977640"/>
            <a:ext cx="3146907" cy="36576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0A1A33"/>
                </a:solidFill>
                <a:latin typeface="Rubik"/>
                <a:ea typeface="Rubik"/>
                <a:cs typeface="Rubik"/>
              </a:rPr>
              <a:t>נטו לחודש: 14,500 ₪</a:t>
            </a:r>
          </a:p>
        </p:txBody>
      </p:sp>
      <p:sp>
        <p:nvSpPr>
          <p:cNvPr id="17" name="TextBox 16"/>
          <p:cNvSpPr txBox="1"/>
          <p:nvPr/>
        </p:nvSpPr>
        <p:spPr>
          <a:xfrm>
            <a:off x="8221827" y="4343400"/>
            <a:ext cx="3146907" cy="32004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scan_0012.txt</a:t>
            </a:r>
          </a:p>
        </p:txBody>
      </p:sp>
      <p:sp>
        <p:nvSpPr>
          <p:cNvPr id="18" name="Rounded Rectangle 17"/>
          <p:cNvSpPr/>
          <p:nvPr/>
        </p:nvSpPr>
        <p:spPr>
          <a:xfrm>
            <a:off x="3977640" y="3337560"/>
            <a:ext cx="3695547" cy="1463040"/>
          </a:xfrm>
          <a:prstGeom prst="roundRect">
            <a:avLst>
              <a:gd name="adj" fmla="val 8000"/>
            </a:avLst>
          </a:prstGeom>
          <a:solidFill>
            <a:srgbClr val="F7F8F8"/>
          </a:solidFill>
          <a:ln>
            <a:noFill/>
          </a:ln>
          <a:effectLst/>
        </p:spPr>
        <p:txBody>
          <a:bodyPr rtlCol="0" anchor="ctr"/>
          <a:lstStyle/>
          <a:p>
            <a:pPr algn="ctr"/>
          </a:p>
        </p:txBody>
      </p:sp>
      <p:sp>
        <p:nvSpPr>
          <p:cNvPr id="19" name="TextBox 18"/>
          <p:cNvSpPr txBox="1"/>
          <p:nvPr/>
        </p:nvSpPr>
        <p:spPr>
          <a:xfrm>
            <a:off x="4251960" y="3538728"/>
            <a:ext cx="3146907"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התחייבויות</a:t>
            </a:r>
          </a:p>
        </p:txBody>
      </p:sp>
      <p:sp>
        <p:nvSpPr>
          <p:cNvPr id="20" name="TextBox 19"/>
          <p:cNvSpPr txBox="1"/>
          <p:nvPr/>
        </p:nvSpPr>
        <p:spPr>
          <a:xfrm>
            <a:off x="4251960" y="3977640"/>
            <a:ext cx="3146907" cy="36576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0A1A33"/>
                </a:solidFill>
                <a:latin typeface="Rubik"/>
                <a:ea typeface="Rubik"/>
                <a:cs typeface="Rubik"/>
              </a:rPr>
              <a:t>החזר חודשי: 1,150 ₪</a:t>
            </a:r>
          </a:p>
        </p:txBody>
      </p:sp>
      <p:sp>
        <p:nvSpPr>
          <p:cNvPr id="21" name="TextBox 20"/>
          <p:cNvSpPr txBox="1"/>
          <p:nvPr/>
        </p:nvSpPr>
        <p:spPr>
          <a:xfrm>
            <a:off x="4251960" y="4343400"/>
            <a:ext cx="3146907" cy="32004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new file.txt</a:t>
            </a:r>
          </a:p>
        </p:txBody>
      </p:sp>
      <p:sp>
        <p:nvSpPr>
          <p:cNvPr id="22" name="Rounded Rectangle 21"/>
          <p:cNvSpPr/>
          <p:nvPr/>
        </p:nvSpPr>
        <p:spPr>
          <a:xfrm>
            <a:off x="8899855" y="5257800"/>
            <a:ext cx="2743200" cy="502920"/>
          </a:xfrm>
          <a:prstGeom prst="roundRect">
            <a:avLst>
              <a:gd name="adj" fmla="val 50000"/>
            </a:avLst>
          </a:prstGeom>
          <a:solidFill>
            <a:srgbClr val="FDF0D5"/>
          </a:solidFill>
          <a:ln>
            <a:noFill/>
          </a:ln>
          <a:effectLst/>
        </p:spPr>
        <p:txBody>
          <a:bodyPr rtlCol="0" anchor="ctr" wrap="square" lIns="45720" rIns="45720">
            <a:noAutofit/>
          </a:bodyPr>
          <a:lstStyle/>
          <a:p>
            <a:pPr algn="ctr" rtl="1">
              <a:lnSpc>
                <a:spcPct val="110000"/>
              </a:lnSpc>
            </a:pPr>
            <a:r>
              <a:rPr sz="1700" b="1" i="0" lang="he-IL">
                <a:solidFill>
                  <a:srgbClr val="0A1A33"/>
                </a:solidFill>
                <a:latin typeface="Rubik"/>
                <a:ea typeface="Rubik"/>
                <a:cs typeface="Rubik"/>
              </a:rPr>
              <a:t>חסר: דפי עו״ש</a:t>
            </a:r>
          </a:p>
        </p:txBody>
      </p:sp>
      <p:sp>
        <p:nvSpPr>
          <p:cNvPr id="23" name="Rounded Rectangle 22"/>
          <p:cNvSpPr/>
          <p:nvPr/>
        </p:nvSpPr>
        <p:spPr>
          <a:xfrm>
            <a:off x="5882335" y="5257800"/>
            <a:ext cx="2743200" cy="502920"/>
          </a:xfrm>
          <a:prstGeom prst="roundRect">
            <a:avLst>
              <a:gd name="adj" fmla="val 50000"/>
            </a:avLst>
          </a:prstGeom>
          <a:solidFill>
            <a:srgbClr val="FDF0D5"/>
          </a:solidFill>
          <a:ln>
            <a:noFill/>
          </a:ln>
          <a:effectLst/>
        </p:spPr>
        <p:txBody>
          <a:bodyPr rtlCol="0" anchor="ctr" wrap="square" lIns="45720" rIns="45720">
            <a:noAutofit/>
          </a:bodyPr>
          <a:lstStyle/>
          <a:p>
            <a:pPr algn="ctr" rtl="1">
              <a:lnSpc>
                <a:spcPct val="110000"/>
              </a:lnSpc>
            </a:pPr>
            <a:r>
              <a:rPr sz="1700" b="1" i="0" lang="he-IL">
                <a:solidFill>
                  <a:srgbClr val="0A1A33"/>
                </a:solidFill>
                <a:latin typeface="Rubik"/>
                <a:ea typeface="Rubik"/>
                <a:cs typeface="Rubik"/>
              </a:rPr>
              <a:t>סתירה: סכום הבקשה</a:t>
            </a:r>
          </a:p>
        </p:txBody>
      </p:sp>
      <p:sp>
        <p:nvSpPr>
          <p:cNvPr id="24" name="TextBox 23"/>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14</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יצירת חומרי התרגול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48640" y="1463040"/>
            <a:ext cx="11094415" cy="4572000"/>
          </a:xfrm>
          <a:prstGeom prst="roundRect">
            <a:avLst>
              <a:gd name="adj" fmla="val 5000"/>
            </a:avLst>
          </a:prstGeom>
          <a:solidFill>
            <a:srgbClr val="E8FBF7"/>
          </a:solidFill>
          <a:ln>
            <a:noFill/>
          </a:ln>
          <a:effectLst/>
        </p:spPr>
        <p:txBody>
          <a:bodyPr rtlCol="0" anchor="ctr"/>
          <a:lstStyle/>
          <a:p>
            <a:pPr algn="ctr"/>
          </a:p>
        </p:txBody>
      </p:sp>
      <p:sp>
        <p:nvSpPr>
          <p:cNvPr id="7" name="Rectangle 6"/>
          <p:cNvSpPr/>
          <p:nvPr/>
        </p:nvSpPr>
        <p:spPr>
          <a:xfrm>
            <a:off x="11569903" y="1463040"/>
            <a:ext cx="73152" cy="4572000"/>
          </a:xfrm>
          <a:prstGeom prst="rect">
            <a:avLst/>
          </a:prstGeom>
          <a:solidFill>
            <a:srgbClr val="64CAAD"/>
          </a:solidFill>
          <a:ln>
            <a:noFill/>
          </a:ln>
          <a:effectLst/>
        </p:spPr>
        <p:txBody>
          <a:bodyPr rtlCol="0" anchor="ctr"/>
          <a:lstStyle/>
          <a:p>
            <a:pPr algn="ctr"/>
          </a:p>
        </p:txBody>
      </p:sp>
      <p:sp>
        <p:nvSpPr>
          <p:cNvPr id="8" name="TextBox 7"/>
          <p:cNvSpPr txBox="1"/>
          <p:nvPr/>
        </p:nvSpPr>
        <p:spPr>
          <a:xfrm>
            <a:off x="731520" y="157276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העתיקו כמו שהיא</a:t>
            </a:r>
          </a:p>
        </p:txBody>
      </p:sp>
      <p:sp>
        <p:nvSpPr>
          <p:cNvPr id="9" name="TextBox 8"/>
          <p:cNvSpPr txBox="1"/>
          <p:nvPr/>
        </p:nvSpPr>
        <p:spPr>
          <a:xfrm>
            <a:off x="731520" y="1901952"/>
            <a:ext cx="10682935" cy="4069080"/>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צור ב־‎01_originals‎ חמישה קובצי טקסט פיקטיביים. בשורה הראשונה של כל קובץ: „לתרגול בלבד, נתונים פיקטיביים”.</a:t>
            </a:r>
          </a:p>
          <a:p>
            <a:pPr rtl="1" algn="r">
              <a:lnSpc>
                <a:spcPct val="115000"/>
              </a:lnSpc>
              <a:spcAft>
                <a:spcPts val="400"/>
              </a:spcAft>
            </a:pPr>
            <a:r>
              <a:rPr sz="1800" b="1" i="0" lang="he-IL">
                <a:solidFill>
                  <a:srgbClr val="0A1A33"/>
                </a:solidFill>
                <a:latin typeface="Rubik"/>
                <a:ea typeface="Rubik"/>
                <a:cs typeface="Rubik"/>
              </a:rPr>
              <a:t>1. ‎doc1.txt‎</a:t>
            </a:r>
            <a:r>
              <a:rPr sz="1800" b="0" i="0" lang="he-IL">
                <a:solidFill>
                  <a:srgbClr val="0A1A33"/>
                </a:solidFill>
                <a:latin typeface="Rubik"/>
                <a:ea typeface="Rubik"/>
                <a:cs typeface="Rubik"/>
              </a:rPr>
              <a:t>: שאלון. משה לוי, רכישת דירה, מחיר 1,900,000 ₪, הון עצמי 700,000 ₪, סכום מבוקש 1,200,000 ₪.</a:t>
            </a:r>
          </a:p>
          <a:p>
            <a:pPr rtl="1" algn="r">
              <a:lnSpc>
                <a:spcPct val="115000"/>
              </a:lnSpc>
              <a:spcAft>
                <a:spcPts val="400"/>
              </a:spcAft>
            </a:pPr>
            <a:r>
              <a:rPr sz="1800" b="1" i="0" lang="he-IL">
                <a:solidFill>
                  <a:srgbClr val="0A1A33"/>
                </a:solidFill>
                <a:latin typeface="Rubik"/>
                <a:ea typeface="Rubik"/>
                <a:cs typeface="Rubik"/>
              </a:rPr>
              <a:t>2. ‎notes.txt‎</a:t>
            </a:r>
            <a:r>
              <a:rPr sz="1800" b="0" i="0" lang="he-IL">
                <a:solidFill>
                  <a:srgbClr val="0A1A33"/>
                </a:solidFill>
                <a:latin typeface="Rubik"/>
                <a:ea typeface="Rubik"/>
                <a:cs typeface="Rubik"/>
              </a:rPr>
              <a:t>: סיכום שיחה מ־12.10.2026. הלקוח ביקש 1,300,000 ₪, דפי העו״ש יישלחו בהמשך.</a:t>
            </a:r>
          </a:p>
          <a:p>
            <a:pPr rtl="1" algn="r">
              <a:lnSpc>
                <a:spcPct val="115000"/>
              </a:lnSpc>
              <a:spcAft>
                <a:spcPts val="400"/>
              </a:spcAft>
            </a:pPr>
            <a:r>
              <a:rPr sz="1800" b="1" i="0" lang="he-IL">
                <a:solidFill>
                  <a:srgbClr val="0A1A33"/>
                </a:solidFill>
                <a:latin typeface="Rubik"/>
                <a:ea typeface="Rubik"/>
                <a:cs typeface="Rubik"/>
              </a:rPr>
              <a:t>3. ‎scan_0012.txt‎</a:t>
            </a:r>
            <a:r>
              <a:rPr sz="1800" b="0" i="0" lang="he-IL">
                <a:solidFill>
                  <a:srgbClr val="0A1A33"/>
                </a:solidFill>
                <a:latin typeface="Rubik"/>
                <a:ea typeface="Rubik"/>
                <a:cs typeface="Rubik"/>
              </a:rPr>
              <a:t>: הכנסה. שכיר, נטו 14,500 ₪ לחודש.</a:t>
            </a:r>
          </a:p>
          <a:p>
            <a:pPr rtl="1" algn="r">
              <a:lnSpc>
                <a:spcPct val="115000"/>
              </a:lnSpc>
              <a:spcAft>
                <a:spcPts val="400"/>
              </a:spcAft>
            </a:pPr>
            <a:r>
              <a:rPr sz="1800" b="1" i="0" lang="he-IL">
                <a:solidFill>
                  <a:srgbClr val="0A1A33"/>
                </a:solidFill>
                <a:latin typeface="Rubik"/>
                <a:ea typeface="Rubik"/>
                <a:cs typeface="Rubik"/>
              </a:rPr>
              <a:t>4. new ‎file.txt‎</a:t>
            </a:r>
            <a:r>
              <a:rPr sz="1800" b="0" i="0" lang="he-IL">
                <a:solidFill>
                  <a:srgbClr val="0A1A33"/>
                </a:solidFill>
                <a:latin typeface="Rubik"/>
                <a:ea typeface="Rubik"/>
                <a:cs typeface="Rubik"/>
              </a:rPr>
              <a:t>: התחייבויות. הלוואת רכב, יתרה 38,000 ₪, החזר 1,150 ₪.</a:t>
            </a:r>
          </a:p>
          <a:p>
            <a:pPr rtl="1" algn="r">
              <a:lnSpc>
                <a:spcPct val="115000"/>
              </a:lnSpc>
              <a:spcAft>
                <a:spcPts val="400"/>
              </a:spcAft>
            </a:pPr>
            <a:r>
              <a:rPr sz="1800" b="1" i="0" lang="he-IL">
                <a:solidFill>
                  <a:srgbClr val="0A1A33"/>
                </a:solidFill>
                <a:latin typeface="Rubik"/>
                <a:ea typeface="Rubik"/>
                <a:cs typeface="Rubik"/>
              </a:rPr>
              <a:t>5. ‎doc1_copy.txt‎</a:t>
            </a:r>
            <a:r>
              <a:rPr sz="1800" b="0" i="0" lang="he-IL">
                <a:solidFill>
                  <a:srgbClr val="0A1A33"/>
                </a:solidFill>
                <a:latin typeface="Rubik"/>
                <a:ea typeface="Rubik"/>
                <a:cs typeface="Rubik"/>
              </a:rPr>
              <a:t>: עותק זהה של ‎doc1.txt‎.</a:t>
            </a:r>
          </a:p>
          <a:p>
            <a:pPr rtl="1" algn="r">
              <a:lnSpc>
                <a:spcPct val="115000"/>
              </a:lnSpc>
              <a:spcAft>
                <a:spcPts val="400"/>
              </a:spcAft>
            </a:pPr>
            <a:r>
              <a:rPr sz="1800" b="1" i="0" lang="he-IL">
                <a:solidFill>
                  <a:srgbClr val="0A1A33"/>
                </a:solidFill>
                <a:latin typeface="Rubik"/>
                <a:ea typeface="Rubik"/>
                <a:cs typeface="Rubik"/>
              </a:rPr>
              <a:t>אל תיצור קובץ דפי עו״ש. אל תוסיף נתונים שלא ביקשתי.</a:t>
            </a:r>
          </a:p>
        </p:txBody>
      </p:sp>
      <p:sp>
        <p:nvSpPr>
          <p:cNvPr id="10" name="TextBox 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15</a:t>
            </a:r>
            <a:r>
              <a:rPr sz="1200" b="0" i="0" lang="he-IL">
                <a:solidFill>
                  <a:srgbClr val="8D9299"/>
                </a:solidFill>
                <a:latin typeface="Rubik"/>
                <a:ea typeface="Rubik"/>
                <a:cs typeface="Rubik"/>
              </a:rPr>
              <a:t>  |  Claude Code ליועצי משכנתאות</a:t>
            </a:r>
          </a:p>
        </p:txBody>
      </p:sp>
      <p:pic>
        <p:nvPicPr>
          <p:cNvPr id="11" name="Picture 10"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מיפוי הקבצים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3977639"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pic>
        <p:nvPicPr>
          <p:cNvPr id="6" name="Picture 5" descr="pose-presenter.png"/>
          <p:cNvPicPr>
            <a:picLocks noChangeAspect="1"/>
          </p:cNvPicPr>
          <p:nvPr/>
        </p:nvPicPr>
        <p:blipFill>
          <a:blip r:embed="rId2"/>
          <a:stretch>
            <a:fillRect/>
          </a:stretch>
        </p:blipFill>
        <p:spPr>
          <a:xfrm>
            <a:off x="365760" y="1600200"/>
            <a:ext cx="3008542" cy="4754880"/>
          </a:xfrm>
          <a:prstGeom prst="rect">
            <a:avLst/>
          </a:prstGeom>
        </p:spPr>
      </p:pic>
      <p:sp>
        <p:nvSpPr>
          <p:cNvPr id="7" name="Rounded Rectangle 6"/>
          <p:cNvSpPr/>
          <p:nvPr/>
        </p:nvSpPr>
        <p:spPr>
          <a:xfrm>
            <a:off x="3977639" y="1554480"/>
            <a:ext cx="7665415" cy="2971800"/>
          </a:xfrm>
          <a:prstGeom prst="roundRect">
            <a:avLst>
              <a:gd name="adj" fmla="val 5000"/>
            </a:avLst>
          </a:prstGeom>
          <a:solidFill>
            <a:srgbClr val="E8FBF7"/>
          </a:solidFill>
          <a:ln>
            <a:noFill/>
          </a:ln>
          <a:effectLst/>
        </p:spPr>
        <p:txBody>
          <a:bodyPr rtlCol="0" anchor="ctr"/>
          <a:lstStyle/>
          <a:p>
            <a:pPr algn="ctr"/>
          </a:p>
        </p:txBody>
      </p:sp>
      <p:sp>
        <p:nvSpPr>
          <p:cNvPr id="8" name="Rectangle 7"/>
          <p:cNvSpPr/>
          <p:nvPr/>
        </p:nvSpPr>
        <p:spPr>
          <a:xfrm>
            <a:off x="11569903" y="1554480"/>
            <a:ext cx="73152" cy="2971800"/>
          </a:xfrm>
          <a:prstGeom prst="rect">
            <a:avLst/>
          </a:prstGeom>
          <a:solidFill>
            <a:srgbClr val="64CAAD"/>
          </a:solidFill>
          <a:ln>
            <a:noFill/>
          </a:ln>
          <a:effectLst/>
        </p:spPr>
        <p:txBody>
          <a:bodyPr rtlCol="0" anchor="ctr"/>
          <a:lstStyle/>
          <a:p>
            <a:pPr algn="ctr"/>
          </a:p>
        </p:txBody>
      </p:sp>
      <p:sp>
        <p:nvSpPr>
          <p:cNvPr id="9" name="TextBox 8"/>
          <p:cNvSpPr txBox="1"/>
          <p:nvPr/>
        </p:nvSpPr>
        <p:spPr>
          <a:xfrm>
            <a:off x="4160520" y="1664207"/>
            <a:ext cx="7253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0" name="TextBox 9"/>
          <p:cNvSpPr txBox="1"/>
          <p:nvPr/>
        </p:nvSpPr>
        <p:spPr>
          <a:xfrm>
            <a:off x="4160520" y="1993391"/>
            <a:ext cx="7253935" cy="2468880"/>
          </a:xfrm>
          <a:prstGeom prst="rect">
            <a:avLst/>
          </a:prstGeom>
          <a:noFill/>
        </p:spPr>
        <p:txBody>
          <a:bodyPr wrap="square" lIns="73152" rIns="73152" tIns="54864" bIns="54864" anchor="t">
            <a:noAutofit/>
          </a:bodyPr>
          <a:lstStyle/>
          <a:p>
            <a:pPr rtl="1" algn="r">
              <a:lnSpc>
                <a:spcPct val="115000"/>
              </a:lnSpc>
              <a:spcAft>
                <a:spcPts val="400"/>
              </a:spcAft>
            </a:pPr>
            <a:r>
              <a:rPr sz="1900" b="0" i="0" lang="he-IL">
                <a:solidFill>
                  <a:srgbClr val="0A1A33"/>
                </a:solidFill>
                <a:latin typeface="Rubik"/>
                <a:ea typeface="Rubik"/>
                <a:cs typeface="Rubik"/>
              </a:rPr>
              <a:t>קרא את כל הקבצים ב־‎01_originals‎.</a:t>
            </a:r>
          </a:p>
          <a:p>
            <a:pPr rtl="1" algn="r">
              <a:lnSpc>
                <a:spcPct val="115000"/>
              </a:lnSpc>
              <a:spcAft>
                <a:spcPts val="400"/>
              </a:spcAft>
            </a:pPr>
            <a:r>
              <a:rPr sz="1900" b="0" i="0" lang="he-IL">
                <a:solidFill>
                  <a:srgbClr val="0A1A33"/>
                </a:solidFill>
                <a:latin typeface="Rubik"/>
                <a:ea typeface="Rubik"/>
                <a:cs typeface="Rubik"/>
              </a:rPr>
              <a:t>צור טבלה: שם קובץ, סוג מסמך, תקציר.</a:t>
            </a:r>
          </a:p>
          <a:p>
            <a:pPr rtl="1" algn="r">
              <a:lnSpc>
                <a:spcPct val="115000"/>
              </a:lnSpc>
              <a:spcAft>
                <a:spcPts val="400"/>
              </a:spcAft>
            </a:pPr>
            <a:r>
              <a:rPr sz="1900" b="0" i="0" lang="he-IL">
                <a:solidFill>
                  <a:srgbClr val="0A1A33"/>
                </a:solidFill>
                <a:latin typeface="Rubik"/>
                <a:ea typeface="Rubik"/>
                <a:cs typeface="Rubik"/>
              </a:rPr>
              <a:t>סמן קבצים שלא נקראו וקבצים כפולים.</a:t>
            </a:r>
          </a:p>
          <a:p>
            <a:pPr rtl="1" algn="r">
              <a:lnSpc>
                <a:spcPct val="115000"/>
              </a:lnSpc>
              <a:spcAft>
                <a:spcPts val="400"/>
              </a:spcAft>
            </a:pPr>
            <a:r>
              <a:rPr sz="1900" b="0" i="0" lang="he-IL">
                <a:solidFill>
                  <a:srgbClr val="0A1A33"/>
                </a:solidFill>
                <a:latin typeface="Rubik"/>
                <a:ea typeface="Rubik"/>
                <a:cs typeface="Rubik"/>
              </a:rPr>
              <a:t>אל תשנה קבצים. שמור ב־‎03_reports/file_list.md‎.</a:t>
            </a:r>
          </a:p>
        </p:txBody>
      </p:sp>
      <p:sp>
        <p:nvSpPr>
          <p:cNvPr id="11" name="Rounded Rectangle 10"/>
          <p:cNvSpPr/>
          <p:nvPr/>
        </p:nvSpPr>
        <p:spPr>
          <a:xfrm>
            <a:off x="3977639" y="4892040"/>
            <a:ext cx="7665415" cy="868680"/>
          </a:xfrm>
          <a:prstGeom prst="roundRect">
            <a:avLst>
              <a:gd name="adj" fmla="val 10000"/>
            </a:avLst>
          </a:prstGeom>
          <a:solidFill>
            <a:srgbClr val="EAF3FF"/>
          </a:solidFill>
          <a:ln>
            <a:noFill/>
          </a:ln>
          <a:effectLst/>
        </p:spPr>
        <p:txBody>
          <a:bodyPr rtlCol="0" anchor="ctr"/>
          <a:lstStyle/>
          <a:p>
            <a:pPr algn="ctr"/>
          </a:p>
        </p:txBody>
      </p:sp>
      <p:sp>
        <p:nvSpPr>
          <p:cNvPr id="12" name="TextBox 11"/>
          <p:cNvSpPr txBox="1"/>
          <p:nvPr/>
        </p:nvSpPr>
        <p:spPr>
          <a:xfrm>
            <a:off x="4251959" y="4892040"/>
            <a:ext cx="7116775" cy="868680"/>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435FB5"/>
                </a:solidFill>
                <a:latin typeface="Rubik"/>
                <a:ea typeface="Rubik"/>
                <a:cs typeface="Rubik"/>
              </a:rPr>
              <a:t>בדיקה בסייר הקבצים: </a:t>
            </a:r>
            <a:r>
              <a:rPr sz="1900" b="0" i="0" lang="he-IL">
                <a:solidFill>
                  <a:srgbClr val="0A1A33"/>
                </a:solidFill>
                <a:latin typeface="Rubik"/>
                <a:ea typeface="Rubik"/>
                <a:cs typeface="Rubik"/>
              </a:rPr>
              <a:t>5 קבצים = 5 שורות בטבלה.</a:t>
            </a:r>
          </a:p>
        </p:txBody>
      </p:sp>
      <p:sp>
        <p:nvSpPr>
          <p:cNvPr id="13" name="TextBox 12"/>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16</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תוכנית הסידור</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graphicFrame>
        <p:nvGraphicFramePr>
          <p:cNvPr id="6" name="Table 5"/>
          <p:cNvGraphicFramePr>
            <a:graphicFrameLocks noGrp="1"/>
          </p:cNvGraphicFramePr>
          <p:nvPr/>
        </p:nvGraphicFramePr>
        <p:xfrm>
          <a:off x="548640" y="1554480"/>
          <a:ext cx="11094413" cy="3072384"/>
        </p:xfrm>
        <a:graphic>
          <a:graphicData uri="http://schemas.openxmlformats.org/drawingml/2006/table">
            <a:tbl>
              <a:tblPr firstRow="1" bandRow="0" rtl="1">
                <a:tableStyleId>{5940675A-B579-460E-94D1-54222C63F5DA}</a:tableStyleId>
              </a:tblPr>
              <a:tblGrid>
                <a:gridCol w="3328324"/>
                <a:gridCol w="2662659"/>
                <a:gridCol w="5103430"/>
              </a:tblGrid>
              <a:tr h="512064">
                <a:tc>
                  <a:txBody>
                    <a:bodyPr wrap="square"/>
                    <a:lstStyle/>
                    <a:p>
                      <a:pPr rtl="1" algn="r"/>
                      <a:r>
                        <a:rPr sz="1700" b="1" i="0" lang="he-IL">
                          <a:solidFill>
                            <a:srgbClr val="FFFFFF"/>
                          </a:solidFill>
                          <a:latin typeface="Rubik"/>
                          <a:ea typeface="Rubik"/>
                          <a:cs typeface="Rubik"/>
                        </a:rPr>
                        <a:t>קובץ מקורי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קטגוריה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שם חדש מוצע</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12064">
                <a:tc>
                  <a:txBody>
                    <a:bodyPr wrap="square"/>
                    <a:lstStyle/>
                    <a:p>
                      <a:pPr rtl="0" algn="l"/>
                      <a:r>
                        <a:rPr sz="1700" b="0" i="0" lang="en-US">
                          <a:solidFill>
                            <a:srgbClr val="0A1A33"/>
                          </a:solidFill>
                          <a:latin typeface="Consolas"/>
                          <a:ea typeface="Consolas"/>
                          <a:cs typeface="Rubik"/>
                        </a:rPr>
                        <a:t>doc1.txt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שאלון</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01_questionnaire.txt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12064">
                <a:tc>
                  <a:txBody>
                    <a:bodyPr wrap="square"/>
                    <a:lstStyle/>
                    <a:p>
                      <a:pPr rtl="0" algn="l"/>
                      <a:r>
                        <a:rPr sz="1700" b="0" i="0" lang="en-US">
                          <a:solidFill>
                            <a:srgbClr val="0A1A33"/>
                          </a:solidFill>
                          <a:latin typeface="Consolas"/>
                          <a:ea typeface="Consolas"/>
                          <a:cs typeface="Rubik"/>
                        </a:rPr>
                        <a:t>notes.txt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שיחה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0" algn="l"/>
                      <a:r>
                        <a:rPr sz="1700" b="0" i="0" lang="en-US">
                          <a:solidFill>
                            <a:srgbClr val="0A1A33"/>
                          </a:solidFill>
                          <a:latin typeface="Consolas"/>
                          <a:ea typeface="Consolas"/>
                          <a:cs typeface="Rubik"/>
                        </a:rPr>
                        <a:t>02_call_summary.txt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12064">
                <a:tc>
                  <a:txBody>
                    <a:bodyPr wrap="square"/>
                    <a:lstStyle/>
                    <a:p>
                      <a:pPr rtl="0" algn="l"/>
                      <a:r>
                        <a:rPr sz="1700" b="0" i="0" lang="en-US">
                          <a:solidFill>
                            <a:srgbClr val="0A1A33"/>
                          </a:solidFill>
                          <a:latin typeface="Consolas"/>
                          <a:ea typeface="Consolas"/>
                          <a:cs typeface="Rubik"/>
                        </a:rPr>
                        <a:t>scan_0012.txt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הכנסה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03_income.txt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12064">
                <a:tc>
                  <a:txBody>
                    <a:bodyPr wrap="square"/>
                    <a:lstStyle/>
                    <a:p>
                      <a:pPr rtl="0" algn="l"/>
                      <a:r>
                        <a:rPr sz="1700" b="0" i="0" lang="en-US">
                          <a:solidFill>
                            <a:srgbClr val="0A1A33"/>
                          </a:solidFill>
                          <a:latin typeface="Consolas"/>
                          <a:ea typeface="Consolas"/>
                          <a:cs typeface="Rubik"/>
                        </a:rPr>
                        <a:t>new file.txt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התחייבויות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0" algn="l"/>
                      <a:r>
                        <a:rPr sz="1700" b="0" i="0" lang="en-US">
                          <a:solidFill>
                            <a:srgbClr val="0A1A33"/>
                          </a:solidFill>
                          <a:latin typeface="Consolas"/>
                          <a:ea typeface="Consolas"/>
                          <a:cs typeface="Rubik"/>
                        </a:rPr>
                        <a:t>04_liabilities.txt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12064">
                <a:tc>
                  <a:txBody>
                    <a:bodyPr wrap="square"/>
                    <a:lstStyle/>
                    <a:p>
                      <a:pPr rtl="0" algn="l"/>
                      <a:r>
                        <a:rPr sz="1700" b="0" i="0" lang="en-US">
                          <a:solidFill>
                            <a:srgbClr val="0A1A33"/>
                          </a:solidFill>
                          <a:latin typeface="Consolas"/>
                          <a:ea typeface="Consolas"/>
                          <a:cs typeface="Rubik"/>
                        </a:rPr>
                        <a:t>doc1_copy.txt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1" algn="r"/>
                      <a:r>
                        <a:rPr sz="1700" b="0" i="0" lang="he-IL">
                          <a:solidFill>
                            <a:srgbClr val="0A1A33"/>
                          </a:solidFill>
                          <a:latin typeface="Rubik"/>
                          <a:ea typeface="Rubik"/>
                          <a:cs typeface="Rubik"/>
                        </a:rPr>
                        <a:t>כפילות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0" algn="l"/>
                      <a:r>
                        <a:rPr sz="1700" b="0" i="0" lang="en-US">
                          <a:solidFill>
                            <a:srgbClr val="0A1A33"/>
                          </a:solidFill>
                          <a:latin typeface="Consolas"/>
                          <a:ea typeface="Consolas"/>
                          <a:cs typeface="Rubik"/>
                        </a:rPr>
                        <a:t>לא מעתיקים</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bl>
          </a:graphicData>
        </a:graphic>
      </p:graphicFrame>
      <p:sp>
        <p:nvSpPr>
          <p:cNvPr id="7" name="Rounded Rectangle 6"/>
          <p:cNvSpPr/>
          <p:nvPr/>
        </p:nvSpPr>
        <p:spPr>
          <a:xfrm>
            <a:off x="8127796" y="4754880"/>
            <a:ext cx="3515258" cy="1188720"/>
          </a:xfrm>
          <a:prstGeom prst="roundRect">
            <a:avLst>
              <a:gd name="adj" fmla="val 8000"/>
            </a:avLst>
          </a:prstGeom>
          <a:solidFill>
            <a:srgbClr val="F7F8F8"/>
          </a:solidFill>
          <a:ln>
            <a:noFill/>
          </a:ln>
          <a:effectLst/>
        </p:spPr>
        <p:txBody>
          <a:bodyPr rtlCol="0" anchor="ctr"/>
          <a:lstStyle/>
          <a:p>
            <a:pPr algn="ctr"/>
          </a:p>
        </p:txBody>
      </p:sp>
      <p:sp>
        <p:nvSpPr>
          <p:cNvPr id="8" name="TextBox 7"/>
          <p:cNvSpPr txBox="1"/>
          <p:nvPr/>
        </p:nvSpPr>
        <p:spPr>
          <a:xfrm>
            <a:off x="8402116" y="501091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קובץ לא מזוהה</a:t>
            </a:r>
          </a:p>
        </p:txBody>
      </p:sp>
      <p:sp>
        <p:nvSpPr>
          <p:cNvPr id="9" name="TextBox 8"/>
          <p:cNvSpPr txBox="1"/>
          <p:nvPr/>
        </p:nvSpPr>
        <p:spPr>
          <a:xfrm>
            <a:off x="8402116" y="5486400"/>
            <a:ext cx="2966618" cy="36576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לא מנחשים</a:t>
            </a:r>
          </a:p>
        </p:txBody>
      </p:sp>
      <p:sp>
        <p:nvSpPr>
          <p:cNvPr id="10" name="Rounded Rectangle 9"/>
          <p:cNvSpPr/>
          <p:nvPr/>
        </p:nvSpPr>
        <p:spPr>
          <a:xfrm>
            <a:off x="4338218" y="4754880"/>
            <a:ext cx="3515258" cy="1188720"/>
          </a:xfrm>
          <a:prstGeom prst="roundRect">
            <a:avLst>
              <a:gd name="adj" fmla="val 8000"/>
            </a:avLst>
          </a:prstGeom>
          <a:solidFill>
            <a:srgbClr val="F7F8F8"/>
          </a:solidFill>
          <a:ln>
            <a:noFill/>
          </a:ln>
          <a:effectLst/>
        </p:spPr>
        <p:txBody>
          <a:bodyPr rtlCol="0" anchor="ctr"/>
          <a:lstStyle/>
          <a:p>
            <a:pPr algn="ctr"/>
          </a:p>
        </p:txBody>
      </p:sp>
      <p:sp>
        <p:nvSpPr>
          <p:cNvPr id="11" name="TextBox 10"/>
          <p:cNvSpPr txBox="1"/>
          <p:nvPr/>
        </p:nvSpPr>
        <p:spPr>
          <a:xfrm>
            <a:off x="4612538" y="501091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כפילות</a:t>
            </a:r>
          </a:p>
        </p:txBody>
      </p:sp>
      <p:sp>
        <p:nvSpPr>
          <p:cNvPr id="12" name="TextBox 11"/>
          <p:cNvSpPr txBox="1"/>
          <p:nvPr/>
        </p:nvSpPr>
        <p:spPr>
          <a:xfrm>
            <a:off x="4612538" y="5486400"/>
            <a:ext cx="2966618" cy="36576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מעתיקים פעם אחת</a:t>
            </a:r>
          </a:p>
        </p:txBody>
      </p:sp>
      <p:sp>
        <p:nvSpPr>
          <p:cNvPr id="13" name="Rounded Rectangle 12"/>
          <p:cNvSpPr/>
          <p:nvPr/>
        </p:nvSpPr>
        <p:spPr>
          <a:xfrm>
            <a:off x="548639" y="4754880"/>
            <a:ext cx="3515258" cy="1188720"/>
          </a:xfrm>
          <a:prstGeom prst="roundRect">
            <a:avLst>
              <a:gd name="adj" fmla="val 8000"/>
            </a:avLst>
          </a:prstGeom>
          <a:solidFill>
            <a:srgbClr val="F7F8F8"/>
          </a:solidFill>
          <a:ln>
            <a:noFill/>
          </a:ln>
          <a:effectLst/>
        </p:spPr>
        <p:txBody>
          <a:bodyPr rtlCol="0" anchor="ctr"/>
          <a:lstStyle/>
          <a:p>
            <a:pPr algn="ctr"/>
          </a:p>
        </p:txBody>
      </p:sp>
      <p:sp>
        <p:nvSpPr>
          <p:cNvPr id="14" name="TextBox 13"/>
          <p:cNvSpPr txBox="1"/>
          <p:nvPr/>
        </p:nvSpPr>
        <p:spPr>
          <a:xfrm>
            <a:off x="822959" y="501091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לפני ביצוע</a:t>
            </a:r>
          </a:p>
        </p:txBody>
      </p:sp>
      <p:sp>
        <p:nvSpPr>
          <p:cNvPr id="15" name="TextBox 14"/>
          <p:cNvSpPr txBox="1"/>
          <p:nvPr/>
        </p:nvSpPr>
        <p:spPr>
          <a:xfrm>
            <a:off x="822959" y="5486400"/>
            <a:ext cx="2966618" cy="36576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קוראים ומאשרים</a:t>
            </a:r>
          </a:p>
        </p:txBody>
      </p:sp>
      <p:sp>
        <p:nvSpPr>
          <p:cNvPr id="16" name="TextBox 15"/>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17</a:t>
            </a:r>
            <a:r>
              <a:rPr sz="1200" b="0" i="0" lang="he-IL">
                <a:solidFill>
                  <a:srgbClr val="8D9299"/>
                </a:solidFill>
                <a:latin typeface="Rubik"/>
                <a:ea typeface="Rubik"/>
                <a:cs typeface="Rubik"/>
              </a:rPr>
              <a:t>  |  Claude Code ליועצי משכנתאות</a:t>
            </a:r>
          </a:p>
        </p:txBody>
      </p:sp>
      <p:pic>
        <p:nvPicPr>
          <p:cNvPr id="17" name="Picture 16"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ארגון המסמכים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3977639"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pic>
        <p:nvPicPr>
          <p:cNvPr id="6" name="Picture 5" descr="art-principle.png"/>
          <p:cNvPicPr>
            <a:picLocks noChangeAspect="1"/>
          </p:cNvPicPr>
          <p:nvPr/>
        </p:nvPicPr>
        <p:blipFill>
          <a:blip r:embed="rId2"/>
          <a:stretch>
            <a:fillRect/>
          </a:stretch>
        </p:blipFill>
        <p:spPr>
          <a:xfrm>
            <a:off x="457200" y="1691639"/>
            <a:ext cx="3404753" cy="4480560"/>
          </a:xfrm>
          <a:prstGeom prst="rect">
            <a:avLst/>
          </a:prstGeom>
        </p:spPr>
      </p:pic>
      <p:sp>
        <p:nvSpPr>
          <p:cNvPr id="7" name="Rounded Rectangle 6"/>
          <p:cNvSpPr/>
          <p:nvPr/>
        </p:nvSpPr>
        <p:spPr>
          <a:xfrm>
            <a:off x="3977639" y="1554480"/>
            <a:ext cx="7665415" cy="2103120"/>
          </a:xfrm>
          <a:prstGeom prst="roundRect">
            <a:avLst>
              <a:gd name="adj" fmla="val 5000"/>
            </a:avLst>
          </a:prstGeom>
          <a:solidFill>
            <a:srgbClr val="E8FBF7"/>
          </a:solidFill>
          <a:ln>
            <a:noFill/>
          </a:ln>
          <a:effectLst/>
        </p:spPr>
        <p:txBody>
          <a:bodyPr rtlCol="0" anchor="ctr"/>
          <a:lstStyle/>
          <a:p>
            <a:pPr algn="ctr"/>
          </a:p>
        </p:txBody>
      </p:sp>
      <p:sp>
        <p:nvSpPr>
          <p:cNvPr id="8" name="Rectangle 7"/>
          <p:cNvSpPr/>
          <p:nvPr/>
        </p:nvSpPr>
        <p:spPr>
          <a:xfrm>
            <a:off x="11569903" y="1554480"/>
            <a:ext cx="73152" cy="2103120"/>
          </a:xfrm>
          <a:prstGeom prst="rect">
            <a:avLst/>
          </a:prstGeom>
          <a:solidFill>
            <a:srgbClr val="64CAAD"/>
          </a:solidFill>
          <a:ln>
            <a:noFill/>
          </a:ln>
          <a:effectLst/>
        </p:spPr>
        <p:txBody>
          <a:bodyPr rtlCol="0" anchor="ctr"/>
          <a:lstStyle/>
          <a:p>
            <a:pPr algn="ctr"/>
          </a:p>
        </p:txBody>
      </p:sp>
      <p:sp>
        <p:nvSpPr>
          <p:cNvPr id="9" name="TextBox 8"/>
          <p:cNvSpPr txBox="1"/>
          <p:nvPr/>
        </p:nvSpPr>
        <p:spPr>
          <a:xfrm>
            <a:off x="4160520" y="1664207"/>
            <a:ext cx="7253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0" name="TextBox 9"/>
          <p:cNvSpPr txBox="1"/>
          <p:nvPr/>
        </p:nvSpPr>
        <p:spPr>
          <a:xfrm>
            <a:off x="4160520" y="1993391"/>
            <a:ext cx="7253935" cy="1600199"/>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בצע את התוכנית שאישרתי: העתק את הקבצים ל־‎02_organized‎ בשמות החדשים.</a:t>
            </a:r>
          </a:p>
          <a:p>
            <a:pPr rtl="1" algn="r">
              <a:lnSpc>
                <a:spcPct val="115000"/>
              </a:lnSpc>
              <a:spcAft>
                <a:spcPts val="400"/>
              </a:spcAft>
            </a:pPr>
            <a:r>
              <a:rPr sz="1800" b="0" i="0" lang="he-IL">
                <a:solidFill>
                  <a:srgbClr val="0A1A33"/>
                </a:solidFill>
                <a:latin typeface="Rubik"/>
                <a:ea typeface="Rubik"/>
                <a:cs typeface="Rubik"/>
              </a:rPr>
              <a:t>אל תעביר ואל תמחק מקורות. צור את ‎03_reports/name_map.md‎.</a:t>
            </a:r>
          </a:p>
        </p:txBody>
      </p:sp>
      <p:sp>
        <p:nvSpPr>
          <p:cNvPr id="11" name="Rounded Rectangle 10"/>
          <p:cNvSpPr/>
          <p:nvPr/>
        </p:nvSpPr>
        <p:spPr>
          <a:xfrm>
            <a:off x="3977639" y="3886200"/>
            <a:ext cx="7665415" cy="2103120"/>
          </a:xfrm>
          <a:prstGeom prst="roundRect">
            <a:avLst>
              <a:gd name="adj" fmla="val 6000"/>
            </a:avLst>
          </a:prstGeom>
          <a:solidFill>
            <a:srgbClr val="0A1A33"/>
          </a:solidFill>
          <a:ln>
            <a:noFill/>
          </a:ln>
          <a:effectLst/>
        </p:spPr>
        <p:txBody>
          <a:bodyPr rtlCol="0" anchor="ctr"/>
          <a:lstStyle/>
          <a:p>
            <a:pPr algn="ctr"/>
          </a:p>
        </p:txBody>
      </p:sp>
      <p:sp>
        <p:nvSpPr>
          <p:cNvPr id="12" name="TextBox 11"/>
          <p:cNvSpPr txBox="1"/>
          <p:nvPr/>
        </p:nvSpPr>
        <p:spPr>
          <a:xfrm>
            <a:off x="4160520" y="3977639"/>
            <a:ext cx="729965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64CAAD"/>
                </a:solidFill>
                <a:latin typeface="Rubik"/>
                <a:ea typeface="Rubik"/>
                <a:cs typeface="Rubik"/>
              </a:rPr>
              <a:t>אחרי הביצוע</a:t>
            </a:r>
          </a:p>
        </p:txBody>
      </p:sp>
      <p:sp>
        <p:nvSpPr>
          <p:cNvPr id="13" name="TextBox 12"/>
          <p:cNvSpPr txBox="1"/>
          <p:nvPr/>
        </p:nvSpPr>
        <p:spPr>
          <a:xfrm>
            <a:off x="4114800" y="4297680"/>
            <a:ext cx="7391095" cy="1618487"/>
          </a:xfrm>
          <a:prstGeom prst="rect">
            <a:avLst/>
          </a:prstGeom>
          <a:noFill/>
        </p:spPr>
        <p:txBody>
          <a:bodyPr wrap="square" lIns="73152" rIns="73152" tIns="54864" bIns="54864" anchor="t">
            <a:noAutofit/>
          </a:bodyPr>
          <a:lstStyle/>
          <a:p>
            <a:pPr rtl="0" algn="l">
              <a:lnSpc>
                <a:spcPct val="115000"/>
              </a:lnSpc>
              <a:spcAft>
                <a:spcPts val="200"/>
              </a:spcAft>
            </a:pPr>
            <a:r>
              <a:rPr sz="1700" b="0" i="0" lang="en-US">
                <a:solidFill>
                  <a:srgbClr val="64CAAD"/>
                </a:solidFill>
                <a:latin typeface="Consolas"/>
                <a:ea typeface="Consolas"/>
                <a:cs typeface="Rubik"/>
              </a:rPr>
              <a:t>02_organized\</a:t>
            </a:r>
          </a:p>
          <a:p>
            <a:pPr rtl="0" algn="l">
              <a:lnSpc>
                <a:spcPct val="115000"/>
              </a:lnSpc>
              <a:spcAft>
                <a:spcPts val="200"/>
              </a:spcAft>
            </a:pPr>
            <a:r>
              <a:rPr sz="1700" b="0" i="0" lang="en-US">
                <a:solidFill>
                  <a:srgbClr val="FFFFFF"/>
                </a:solidFill>
                <a:latin typeface="Consolas"/>
                <a:ea typeface="Consolas"/>
                <a:cs typeface="Rubik"/>
              </a:rPr>
              <a:t>  01_questionnaire.txt</a:t>
            </a:r>
          </a:p>
          <a:p>
            <a:pPr rtl="0" algn="l">
              <a:lnSpc>
                <a:spcPct val="115000"/>
              </a:lnSpc>
              <a:spcAft>
                <a:spcPts val="200"/>
              </a:spcAft>
            </a:pPr>
            <a:r>
              <a:rPr sz="1700" b="0" i="0" lang="en-US">
                <a:solidFill>
                  <a:srgbClr val="FFFFFF"/>
                </a:solidFill>
                <a:latin typeface="Consolas"/>
                <a:ea typeface="Consolas"/>
                <a:cs typeface="Rubik"/>
              </a:rPr>
              <a:t>  02_call_summary.txt</a:t>
            </a:r>
          </a:p>
          <a:p>
            <a:pPr rtl="0" algn="l">
              <a:lnSpc>
                <a:spcPct val="115000"/>
              </a:lnSpc>
              <a:spcAft>
                <a:spcPts val="200"/>
              </a:spcAft>
            </a:pPr>
            <a:r>
              <a:rPr sz="1700" b="0" i="0" lang="en-US">
                <a:solidFill>
                  <a:srgbClr val="FFFFFF"/>
                </a:solidFill>
                <a:latin typeface="Consolas"/>
                <a:ea typeface="Consolas"/>
                <a:cs typeface="Rubik"/>
              </a:rPr>
              <a:t>  03_income.txt</a:t>
            </a:r>
          </a:p>
          <a:p>
            <a:pPr rtl="0" algn="l">
              <a:lnSpc>
                <a:spcPct val="115000"/>
              </a:lnSpc>
              <a:spcAft>
                <a:spcPts val="200"/>
              </a:spcAft>
            </a:pPr>
            <a:r>
              <a:rPr sz="1700" b="0" i="0" lang="en-US">
                <a:solidFill>
                  <a:srgbClr val="FFFFFF"/>
                </a:solidFill>
                <a:latin typeface="Consolas"/>
                <a:ea typeface="Consolas"/>
                <a:cs typeface="Rubik"/>
              </a:rPr>
              <a:t>  04_liabilities.txt</a:t>
            </a:r>
          </a:p>
        </p:txBody>
      </p:sp>
      <p:sp>
        <p:nvSpPr>
          <p:cNvPr id="14" name="TextBox 13"/>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18</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חילוץ נתונים עם מקורות</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graphicFrame>
        <p:nvGraphicFramePr>
          <p:cNvPr id="6" name="Table 5"/>
          <p:cNvGraphicFramePr>
            <a:graphicFrameLocks noGrp="1"/>
          </p:cNvGraphicFramePr>
          <p:nvPr/>
        </p:nvGraphicFramePr>
        <p:xfrm>
          <a:off x="548640" y="1508760"/>
          <a:ext cx="11094413" cy="3200400"/>
        </p:xfrm>
        <a:graphic>
          <a:graphicData uri="http://schemas.openxmlformats.org/drawingml/2006/table">
            <a:tbl>
              <a:tblPr firstRow="1" bandRow="0" rtl="1">
                <a:tableStyleId>{5940675A-B579-460E-94D1-54222C63F5DA}</a:tableStyleId>
              </a:tblPr>
              <a:tblGrid>
                <a:gridCol w="2430205"/>
                <a:gridCol w="2747188"/>
                <a:gridCol w="3169832"/>
                <a:gridCol w="2747188"/>
              </a:tblGrid>
              <a:tr h="457200">
                <a:tc>
                  <a:txBody>
                    <a:bodyPr wrap="square"/>
                    <a:lstStyle/>
                    <a:p>
                      <a:pPr rtl="1" algn="r"/>
                      <a:r>
                        <a:rPr sz="1700" b="1" i="0" lang="he-IL">
                          <a:solidFill>
                            <a:srgbClr val="FFFFFF"/>
                          </a:solidFill>
                          <a:latin typeface="Rubik"/>
                          <a:ea typeface="Rubik"/>
                          <a:cs typeface="Rubik"/>
                        </a:rPr>
                        <a:t>נושא</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נתון</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מקור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הערה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457200">
                <a:tc>
                  <a:txBody>
                    <a:bodyPr wrap="square"/>
                    <a:lstStyle/>
                    <a:p>
                      <a:pPr rtl="1" algn="r"/>
                      <a:r>
                        <a:rPr sz="1700" b="1" i="0" lang="he-IL">
                          <a:solidFill>
                            <a:srgbClr val="0A1A33"/>
                          </a:solidFill>
                          <a:latin typeface="Rubik"/>
                          <a:ea typeface="Rubik"/>
                          <a:cs typeface="Rubik"/>
                        </a:rPr>
                        <a:t>מחיר הנכס</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1,900,000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01_questionnaire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457200">
                <a:tc>
                  <a:txBody>
                    <a:bodyPr wrap="square"/>
                    <a:lstStyle/>
                    <a:p>
                      <a:pPr rtl="1" algn="r"/>
                      <a:r>
                        <a:rPr sz="1700" b="1" i="0" lang="he-IL">
                          <a:solidFill>
                            <a:srgbClr val="0A1A33"/>
                          </a:solidFill>
                          <a:latin typeface="Rubik"/>
                          <a:ea typeface="Rubik"/>
                          <a:cs typeface="Rubik"/>
                        </a:rPr>
                        <a:t>סכום מבוקש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1,200,000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0" algn="l"/>
                      <a:r>
                        <a:rPr sz="1700" b="0" i="0" lang="en-US">
                          <a:solidFill>
                            <a:srgbClr val="0A1A33"/>
                          </a:solidFill>
                          <a:latin typeface="Consolas"/>
                          <a:ea typeface="Consolas"/>
                          <a:cs typeface="Rubik"/>
                        </a:rPr>
                        <a:t>01_questionnaire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סתירה, לבירור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r h="457200">
                <a:tc>
                  <a:txBody>
                    <a:bodyPr wrap="square"/>
                    <a:lstStyle/>
                    <a:p>
                      <a:pPr rtl="1" algn="r"/>
                      <a:r>
                        <a:rPr sz="1700" b="1" i="0" lang="he-IL">
                          <a:solidFill>
                            <a:srgbClr val="0A1A33"/>
                          </a:solidFill>
                          <a:latin typeface="Rubik"/>
                          <a:ea typeface="Rubik"/>
                          <a:cs typeface="Rubik"/>
                        </a:rPr>
                        <a:t>סכום מבוקש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1,300,000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02_call_summary</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סתירה, לבירור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r h="457200">
                <a:tc>
                  <a:txBody>
                    <a:bodyPr wrap="square"/>
                    <a:lstStyle/>
                    <a:p>
                      <a:pPr rtl="1" algn="r"/>
                      <a:r>
                        <a:rPr sz="1700" b="1" i="0" lang="he-IL">
                          <a:solidFill>
                            <a:srgbClr val="0A1A33"/>
                          </a:solidFill>
                          <a:latin typeface="Rubik"/>
                          <a:ea typeface="Rubik"/>
                          <a:cs typeface="Rubik"/>
                        </a:rPr>
                        <a:t>הכנסה נטו</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14,500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0" algn="l"/>
                      <a:r>
                        <a:rPr sz="1700" b="0" i="0" lang="en-US">
                          <a:solidFill>
                            <a:srgbClr val="0A1A33"/>
                          </a:solidFill>
                          <a:latin typeface="Consolas"/>
                          <a:ea typeface="Consolas"/>
                          <a:cs typeface="Rubik"/>
                        </a:rPr>
                        <a:t>03_income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457200">
                <a:tc>
                  <a:txBody>
                    <a:bodyPr wrap="square"/>
                    <a:lstStyle/>
                    <a:p>
                      <a:pPr rtl="1" algn="r"/>
                      <a:r>
                        <a:rPr sz="1700" b="1" i="0" lang="he-IL">
                          <a:solidFill>
                            <a:srgbClr val="0A1A33"/>
                          </a:solidFill>
                          <a:latin typeface="Rubik"/>
                          <a:ea typeface="Rubik"/>
                          <a:cs typeface="Rubik"/>
                        </a:rPr>
                        <a:t>החזר הלוואה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1,150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04_liabilities</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457200">
                <a:tc>
                  <a:txBody>
                    <a:bodyPr wrap="square"/>
                    <a:lstStyle/>
                    <a:p>
                      <a:pPr rtl="1" algn="r"/>
                      <a:r>
                        <a:rPr sz="1700" b="1" i="0" lang="he-IL">
                          <a:solidFill>
                            <a:srgbClr val="0A1A33"/>
                          </a:solidFill>
                          <a:latin typeface="Rubik"/>
                          <a:ea typeface="Rubik"/>
                          <a:cs typeface="Rubik"/>
                        </a:rPr>
                        <a:t>דפי עו״ש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1" algn="r"/>
                      <a:r>
                        <a:rPr sz="1700" b="0" i="0" lang="he-IL">
                          <a:solidFill>
                            <a:srgbClr val="0A1A33"/>
                          </a:solidFill>
                          <a:latin typeface="Rubik"/>
                          <a:ea typeface="Rubik"/>
                          <a:cs typeface="Rubik"/>
                        </a:rPr>
                        <a:t>לא נמצא</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0" algn="l"/>
                      <a:r>
                        <a:rPr sz="1700" b="0" i="0" lang="en-US">
                          <a:solidFill>
                            <a:srgbClr val="0A1A33"/>
                          </a:solidFill>
                          <a:latin typeface="Consolas"/>
                          <a:ea typeface="Consolas"/>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1" algn="r"/>
                      <a:r>
                        <a:rPr sz="1700" b="0" i="0" lang="he-IL">
                          <a:solidFill>
                            <a:srgbClr val="0A1A33"/>
                          </a:solidFill>
                          <a:latin typeface="Rubik"/>
                          <a:ea typeface="Rubik"/>
                          <a:cs typeface="Rubik"/>
                        </a:rPr>
                        <a:t>חסר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bl>
          </a:graphicData>
        </a:graphic>
      </p:graphicFrame>
      <p:sp>
        <p:nvSpPr>
          <p:cNvPr id="7" name="Rounded Rectangle 6"/>
          <p:cNvSpPr/>
          <p:nvPr/>
        </p:nvSpPr>
        <p:spPr>
          <a:xfrm>
            <a:off x="548640" y="4937760"/>
            <a:ext cx="11094415" cy="1051560"/>
          </a:xfrm>
          <a:prstGeom prst="roundRect">
            <a:avLst>
              <a:gd name="adj" fmla="val 5000"/>
            </a:avLst>
          </a:prstGeom>
          <a:solidFill>
            <a:srgbClr val="E8FBF7"/>
          </a:solidFill>
          <a:ln>
            <a:noFill/>
          </a:ln>
          <a:effectLst/>
        </p:spPr>
        <p:txBody>
          <a:bodyPr rtlCol="0" anchor="ctr"/>
          <a:lstStyle/>
          <a:p>
            <a:pPr algn="ctr"/>
          </a:p>
        </p:txBody>
      </p:sp>
      <p:sp>
        <p:nvSpPr>
          <p:cNvPr id="8" name="Rectangle 7"/>
          <p:cNvSpPr/>
          <p:nvPr/>
        </p:nvSpPr>
        <p:spPr>
          <a:xfrm>
            <a:off x="11569903" y="4937760"/>
            <a:ext cx="73152" cy="1051560"/>
          </a:xfrm>
          <a:prstGeom prst="rect">
            <a:avLst/>
          </a:prstGeom>
          <a:solidFill>
            <a:srgbClr val="64CAAD"/>
          </a:solidFill>
          <a:ln>
            <a:noFill/>
          </a:ln>
          <a:effectLst/>
        </p:spPr>
        <p:txBody>
          <a:bodyPr rtlCol="0" anchor="ctr"/>
          <a:lstStyle/>
          <a:p>
            <a:pPr algn="ctr"/>
          </a:p>
        </p:txBody>
      </p:sp>
      <p:sp>
        <p:nvSpPr>
          <p:cNvPr id="9" name="TextBox 8"/>
          <p:cNvSpPr txBox="1"/>
          <p:nvPr/>
        </p:nvSpPr>
        <p:spPr>
          <a:xfrm>
            <a:off x="731520" y="504748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0" name="TextBox 9"/>
          <p:cNvSpPr txBox="1"/>
          <p:nvPr/>
        </p:nvSpPr>
        <p:spPr>
          <a:xfrm>
            <a:off x="731520" y="5376672"/>
            <a:ext cx="10682935" cy="548639"/>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0A1A33"/>
                </a:solidFill>
                <a:latin typeface="Rubik"/>
                <a:ea typeface="Rubik"/>
                <a:cs typeface="Rubik"/>
              </a:rPr>
              <a:t>חלץ לטבלה: נושא, נתון, מקור, הערה. הפרד בין מה שנמצא למה שחסר. שמור ב־‎03_reports/data_summary.md‎.</a:t>
            </a:r>
          </a:p>
        </p:txBody>
      </p:sp>
      <p:sp>
        <p:nvSpPr>
          <p:cNvPr id="11" name="TextBox 10"/>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19</a:t>
            </a:r>
            <a:r>
              <a:rPr sz="1200" b="0" i="0" lang="he-IL">
                <a:solidFill>
                  <a:srgbClr val="8D9299"/>
                </a:solidFill>
                <a:latin typeface="Rubik"/>
                <a:ea typeface="Rubik"/>
                <a:cs typeface="Rubik"/>
              </a:rPr>
              <a:t>  |  Claude Code ליועצי משכנתאות</a:t>
            </a:r>
          </a:p>
        </p:txBody>
      </p:sp>
      <p:pic>
        <p:nvPicPr>
          <p:cNvPr id="12" name="Picture 11"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מסמכים חסרים ונתונים סותרים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pose-confused.png"/>
          <p:cNvPicPr>
            <a:picLocks noChangeAspect="1"/>
          </p:cNvPicPr>
          <p:nvPr/>
        </p:nvPicPr>
        <p:blipFill>
          <a:blip r:embed="rId2"/>
          <a:stretch>
            <a:fillRect/>
          </a:stretch>
        </p:blipFill>
        <p:spPr>
          <a:xfrm>
            <a:off x="502920" y="1417319"/>
            <a:ext cx="2437458" cy="4937760"/>
          </a:xfrm>
          <a:prstGeom prst="rect">
            <a:avLst/>
          </a:prstGeom>
        </p:spPr>
      </p:pic>
      <p:sp>
        <p:nvSpPr>
          <p:cNvPr id="6" name="Rounded Rectangle 5"/>
          <p:cNvSpPr/>
          <p:nvPr/>
        </p:nvSpPr>
        <p:spPr>
          <a:xfrm>
            <a:off x="7993227" y="1600200"/>
            <a:ext cx="3649827" cy="1920240"/>
          </a:xfrm>
          <a:prstGeom prst="roundRect">
            <a:avLst>
              <a:gd name="adj" fmla="val 8000"/>
            </a:avLst>
          </a:prstGeom>
          <a:solidFill>
            <a:srgbClr val="EAF3FF"/>
          </a:solidFill>
          <a:ln>
            <a:noFill/>
          </a:ln>
          <a:effectLst/>
        </p:spPr>
        <p:txBody>
          <a:bodyPr rtlCol="0" anchor="ctr"/>
          <a:lstStyle/>
          <a:p>
            <a:pPr algn="ctr"/>
          </a:p>
        </p:txBody>
      </p:sp>
      <p:sp>
        <p:nvSpPr>
          <p:cNvPr id="7" name="TextBox 6"/>
          <p:cNvSpPr txBox="1"/>
          <p:nvPr/>
        </p:nvSpPr>
        <p:spPr>
          <a:xfrm>
            <a:off x="8267547" y="1755648"/>
            <a:ext cx="3101187" cy="41148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4C5058"/>
                </a:solidFill>
                <a:latin typeface="Rubik"/>
                <a:ea typeface="Rubik"/>
                <a:cs typeface="Rubik"/>
              </a:rPr>
              <a:t>לפי השאלון</a:t>
            </a:r>
          </a:p>
        </p:txBody>
      </p:sp>
      <p:sp>
        <p:nvSpPr>
          <p:cNvPr id="8" name="TextBox 7"/>
          <p:cNvSpPr txBox="1"/>
          <p:nvPr/>
        </p:nvSpPr>
        <p:spPr>
          <a:xfrm>
            <a:off x="8267547" y="2212848"/>
            <a:ext cx="3101187" cy="640080"/>
          </a:xfrm>
          <a:prstGeom prst="rect">
            <a:avLst/>
          </a:prstGeom>
          <a:noFill/>
        </p:spPr>
        <p:txBody>
          <a:bodyPr wrap="square" lIns="73152" rIns="73152" tIns="54864" bIns="54864" anchor="t">
            <a:noAutofit/>
          </a:bodyPr>
          <a:lstStyle/>
          <a:p>
            <a:pPr rtl="1" algn="r">
              <a:lnSpc>
                <a:spcPct val="110000"/>
              </a:lnSpc>
              <a:spcAft>
                <a:spcPts val="600"/>
              </a:spcAft>
            </a:pPr>
            <a:r>
              <a:rPr sz="3200" b="1" i="0" lang="he-IL">
                <a:solidFill>
                  <a:srgbClr val="435FB5"/>
                </a:solidFill>
                <a:latin typeface="Rubik"/>
                <a:ea typeface="Rubik"/>
                <a:cs typeface="Rubik"/>
              </a:rPr>
              <a:t>1,200,000 ₪</a:t>
            </a:r>
          </a:p>
        </p:txBody>
      </p:sp>
      <p:sp>
        <p:nvSpPr>
          <p:cNvPr id="9" name="TextBox 8"/>
          <p:cNvSpPr txBox="1"/>
          <p:nvPr/>
        </p:nvSpPr>
        <p:spPr>
          <a:xfrm>
            <a:off x="8267547" y="2971800"/>
            <a:ext cx="3101187" cy="36576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01_questionnaire.txt</a:t>
            </a:r>
          </a:p>
        </p:txBody>
      </p:sp>
      <p:sp>
        <p:nvSpPr>
          <p:cNvPr id="10" name="Rounded Rectangle 9"/>
          <p:cNvSpPr/>
          <p:nvPr/>
        </p:nvSpPr>
        <p:spPr>
          <a:xfrm>
            <a:off x="3977639" y="1600200"/>
            <a:ext cx="3649827" cy="1920240"/>
          </a:xfrm>
          <a:prstGeom prst="roundRect">
            <a:avLst>
              <a:gd name="adj" fmla="val 8000"/>
            </a:avLst>
          </a:prstGeom>
          <a:solidFill>
            <a:srgbClr val="EAF3FF"/>
          </a:solidFill>
          <a:ln>
            <a:noFill/>
          </a:ln>
          <a:effectLst/>
        </p:spPr>
        <p:txBody>
          <a:bodyPr rtlCol="0" anchor="ctr"/>
          <a:lstStyle/>
          <a:p>
            <a:pPr algn="ctr"/>
          </a:p>
        </p:txBody>
      </p:sp>
      <p:sp>
        <p:nvSpPr>
          <p:cNvPr id="11" name="TextBox 10"/>
          <p:cNvSpPr txBox="1"/>
          <p:nvPr/>
        </p:nvSpPr>
        <p:spPr>
          <a:xfrm>
            <a:off x="4251959" y="1755648"/>
            <a:ext cx="3101187" cy="41148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4C5058"/>
                </a:solidFill>
                <a:latin typeface="Rubik"/>
                <a:ea typeface="Rubik"/>
                <a:cs typeface="Rubik"/>
              </a:rPr>
              <a:t>לפי סיכום השיחה</a:t>
            </a:r>
          </a:p>
        </p:txBody>
      </p:sp>
      <p:sp>
        <p:nvSpPr>
          <p:cNvPr id="12" name="TextBox 11"/>
          <p:cNvSpPr txBox="1"/>
          <p:nvPr/>
        </p:nvSpPr>
        <p:spPr>
          <a:xfrm>
            <a:off x="4251959" y="2212848"/>
            <a:ext cx="3101187" cy="640080"/>
          </a:xfrm>
          <a:prstGeom prst="rect">
            <a:avLst/>
          </a:prstGeom>
          <a:noFill/>
        </p:spPr>
        <p:txBody>
          <a:bodyPr wrap="square" lIns="73152" rIns="73152" tIns="54864" bIns="54864" anchor="t">
            <a:noAutofit/>
          </a:bodyPr>
          <a:lstStyle/>
          <a:p>
            <a:pPr rtl="1" algn="r">
              <a:lnSpc>
                <a:spcPct val="110000"/>
              </a:lnSpc>
              <a:spcAft>
                <a:spcPts val="600"/>
              </a:spcAft>
            </a:pPr>
            <a:r>
              <a:rPr sz="3200" b="1" i="0" lang="he-IL">
                <a:solidFill>
                  <a:srgbClr val="435FB5"/>
                </a:solidFill>
                <a:latin typeface="Rubik"/>
                <a:ea typeface="Rubik"/>
                <a:cs typeface="Rubik"/>
              </a:rPr>
              <a:t>1,300,000 ₪</a:t>
            </a:r>
          </a:p>
        </p:txBody>
      </p:sp>
      <p:sp>
        <p:nvSpPr>
          <p:cNvPr id="13" name="TextBox 12"/>
          <p:cNvSpPr txBox="1"/>
          <p:nvPr/>
        </p:nvSpPr>
        <p:spPr>
          <a:xfrm>
            <a:off x="4251959" y="2971800"/>
            <a:ext cx="3101187" cy="36576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02_call_summary.txt</a:t>
            </a:r>
          </a:p>
        </p:txBody>
      </p:sp>
      <p:sp>
        <p:nvSpPr>
          <p:cNvPr id="14" name="Rounded Rectangle 13"/>
          <p:cNvSpPr/>
          <p:nvPr/>
        </p:nvSpPr>
        <p:spPr>
          <a:xfrm>
            <a:off x="7124547" y="3310128"/>
            <a:ext cx="1371600" cy="438912"/>
          </a:xfrm>
          <a:prstGeom prst="roundRect">
            <a:avLst>
              <a:gd name="adj" fmla="val 50000"/>
            </a:avLst>
          </a:prstGeom>
          <a:solidFill>
            <a:srgbClr val="E0A72E"/>
          </a:solidFill>
          <a:ln>
            <a:noFill/>
          </a:ln>
          <a:effectLst/>
        </p:spPr>
        <p:txBody>
          <a:bodyPr rtlCol="0" anchor="ctr" wrap="square" lIns="45720" rIns="45720">
            <a:noAutofit/>
          </a:bodyPr>
          <a:lstStyle/>
          <a:p>
            <a:pPr algn="ctr" rtl="1">
              <a:lnSpc>
                <a:spcPct val="110000"/>
              </a:lnSpc>
            </a:pPr>
            <a:r>
              <a:rPr sz="1600" b="1" i="0" lang="he-IL">
                <a:solidFill>
                  <a:srgbClr val="0A1A33"/>
                </a:solidFill>
                <a:latin typeface="Rubik"/>
                <a:ea typeface="Rubik"/>
                <a:cs typeface="Rubik"/>
              </a:rPr>
              <a:t>לבירור</a:t>
            </a:r>
          </a:p>
        </p:txBody>
      </p:sp>
      <p:sp>
        <p:nvSpPr>
          <p:cNvPr id="15" name="TextBox 14"/>
          <p:cNvSpPr txBox="1"/>
          <p:nvPr/>
        </p:nvSpPr>
        <p:spPr>
          <a:xfrm>
            <a:off x="3977639" y="3886200"/>
            <a:ext cx="7665415" cy="914400"/>
          </a:xfrm>
          <a:prstGeom prst="rect">
            <a:avLst/>
          </a:prstGeom>
          <a:noFill/>
        </p:spPr>
        <p:txBody>
          <a:bodyPr wrap="square" lIns="73152" rIns="73152" tIns="54864" bIns="54864" anchor="t">
            <a:noAutofit/>
          </a:bodyPr>
          <a:lstStyle/>
          <a:p>
            <a:pPr rtl="1" algn="r">
              <a:lnSpc>
                <a:spcPct val="110000"/>
              </a:lnSpc>
              <a:spcAft>
                <a:spcPts val="600"/>
              </a:spcAft>
            </a:pPr>
            <a:r>
              <a:rPr sz="2300" b="1" i="0" lang="he-IL">
                <a:solidFill>
                  <a:srgbClr val="0A1A33"/>
                </a:solidFill>
                <a:latin typeface="Rubik"/>
                <a:ea typeface="Rubik"/>
                <a:cs typeface="Rubik"/>
              </a:rPr>
              <a:t>לא בוחרים מספר. מציגים את שני המקורות ומסמנים לבירור.</a:t>
            </a:r>
          </a:p>
        </p:txBody>
      </p:sp>
      <p:sp>
        <p:nvSpPr>
          <p:cNvPr id="16" name="Rounded Rectangle 15"/>
          <p:cNvSpPr/>
          <p:nvPr/>
        </p:nvSpPr>
        <p:spPr>
          <a:xfrm>
            <a:off x="3977639" y="4983480"/>
            <a:ext cx="7665415" cy="868680"/>
          </a:xfrm>
          <a:prstGeom prst="roundRect">
            <a:avLst>
              <a:gd name="adj" fmla="val 10000"/>
            </a:avLst>
          </a:prstGeom>
          <a:solidFill>
            <a:srgbClr val="FDF0D5"/>
          </a:solidFill>
          <a:ln>
            <a:noFill/>
          </a:ln>
          <a:effectLst/>
        </p:spPr>
        <p:txBody>
          <a:bodyPr rtlCol="0" anchor="ctr"/>
          <a:lstStyle/>
          <a:p>
            <a:pPr algn="ctr"/>
          </a:p>
        </p:txBody>
      </p:sp>
      <p:sp>
        <p:nvSpPr>
          <p:cNvPr id="17" name="TextBox 16"/>
          <p:cNvSpPr txBox="1"/>
          <p:nvPr/>
        </p:nvSpPr>
        <p:spPr>
          <a:xfrm>
            <a:off x="4251959" y="4983480"/>
            <a:ext cx="7116775" cy="868680"/>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0A1A33"/>
                </a:solidFill>
                <a:latin typeface="Rubik"/>
                <a:ea typeface="Rubik"/>
                <a:cs typeface="Rubik"/>
              </a:rPr>
              <a:t>חסר: </a:t>
            </a:r>
            <a:r>
              <a:rPr sz="1900" b="0" i="0" lang="he-IL">
                <a:solidFill>
                  <a:srgbClr val="0A1A33"/>
                </a:solidFill>
                <a:latin typeface="Rubik"/>
                <a:ea typeface="Rubik"/>
                <a:cs typeface="Rubik"/>
              </a:rPr>
              <a:t>דפי עו״ש. נכנסים לרשימת החוסרים ולשאלות ללקוח.</a:t>
            </a:r>
          </a:p>
        </p:txBody>
      </p:sp>
      <p:sp>
        <p:nvSpPr>
          <p:cNvPr id="18" name="TextBox 17"/>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20</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טיוטת התיק לקראת פנייה לבנק</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Oval 5"/>
          <p:cNvSpPr/>
          <p:nvPr/>
        </p:nvSpPr>
        <p:spPr>
          <a:xfrm>
            <a:off x="11204143" y="160020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1</a:t>
            </a:r>
          </a:p>
        </p:txBody>
      </p:sp>
      <p:sp>
        <p:nvSpPr>
          <p:cNvPr id="7" name="TextBox 6"/>
          <p:cNvSpPr txBox="1"/>
          <p:nvPr/>
        </p:nvSpPr>
        <p:spPr>
          <a:xfrm>
            <a:off x="8625535" y="1581912"/>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פרטי התיק</a:t>
            </a:r>
          </a:p>
        </p:txBody>
      </p:sp>
      <p:sp>
        <p:nvSpPr>
          <p:cNvPr id="8" name="Oval 7"/>
          <p:cNvSpPr/>
          <p:nvPr/>
        </p:nvSpPr>
        <p:spPr>
          <a:xfrm>
            <a:off x="11204143" y="235000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2</a:t>
            </a:r>
          </a:p>
        </p:txBody>
      </p:sp>
      <p:sp>
        <p:nvSpPr>
          <p:cNvPr id="9" name="TextBox 8"/>
          <p:cNvSpPr txBox="1"/>
          <p:nvPr/>
        </p:nvSpPr>
        <p:spPr>
          <a:xfrm>
            <a:off x="8625535" y="2331720"/>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מטרת הפנייה</a:t>
            </a:r>
          </a:p>
        </p:txBody>
      </p:sp>
      <p:sp>
        <p:nvSpPr>
          <p:cNvPr id="10" name="Oval 9"/>
          <p:cNvSpPr/>
          <p:nvPr/>
        </p:nvSpPr>
        <p:spPr>
          <a:xfrm>
            <a:off x="11204143" y="3099815"/>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3</a:t>
            </a:r>
          </a:p>
        </p:txBody>
      </p:sp>
      <p:sp>
        <p:nvSpPr>
          <p:cNvPr id="11" name="TextBox 10"/>
          <p:cNvSpPr txBox="1"/>
          <p:nvPr/>
        </p:nvSpPr>
        <p:spPr>
          <a:xfrm>
            <a:off x="8625535" y="3081527"/>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נתונים</a:t>
            </a:r>
          </a:p>
        </p:txBody>
      </p:sp>
      <p:sp>
        <p:nvSpPr>
          <p:cNvPr id="12" name="Oval 11"/>
          <p:cNvSpPr/>
          <p:nvPr/>
        </p:nvSpPr>
        <p:spPr>
          <a:xfrm>
            <a:off x="11204143" y="3849624"/>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4</a:t>
            </a:r>
          </a:p>
        </p:txBody>
      </p:sp>
      <p:sp>
        <p:nvSpPr>
          <p:cNvPr id="13" name="TextBox 12"/>
          <p:cNvSpPr txBox="1"/>
          <p:nvPr/>
        </p:nvSpPr>
        <p:spPr>
          <a:xfrm>
            <a:off x="8625535" y="3831336"/>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מסמכים</a:t>
            </a:r>
          </a:p>
        </p:txBody>
      </p:sp>
      <p:sp>
        <p:nvSpPr>
          <p:cNvPr id="14" name="Oval 13"/>
          <p:cNvSpPr/>
          <p:nvPr/>
        </p:nvSpPr>
        <p:spPr>
          <a:xfrm>
            <a:off x="8003743" y="160020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5</a:t>
            </a:r>
          </a:p>
        </p:txBody>
      </p:sp>
      <p:sp>
        <p:nvSpPr>
          <p:cNvPr id="15" name="TextBox 14"/>
          <p:cNvSpPr txBox="1"/>
          <p:nvPr/>
        </p:nvSpPr>
        <p:spPr>
          <a:xfrm>
            <a:off x="5425135" y="1581912"/>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חוסרים</a:t>
            </a:r>
          </a:p>
        </p:txBody>
      </p:sp>
      <p:sp>
        <p:nvSpPr>
          <p:cNvPr id="16" name="Oval 15"/>
          <p:cNvSpPr/>
          <p:nvPr/>
        </p:nvSpPr>
        <p:spPr>
          <a:xfrm>
            <a:off x="8003743" y="235000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6</a:t>
            </a:r>
          </a:p>
        </p:txBody>
      </p:sp>
      <p:sp>
        <p:nvSpPr>
          <p:cNvPr id="17" name="TextBox 16"/>
          <p:cNvSpPr txBox="1"/>
          <p:nvPr/>
        </p:nvSpPr>
        <p:spPr>
          <a:xfrm>
            <a:off x="5425135" y="2331720"/>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שאלות לבירור</a:t>
            </a:r>
          </a:p>
        </p:txBody>
      </p:sp>
      <p:sp>
        <p:nvSpPr>
          <p:cNvPr id="18" name="Oval 17"/>
          <p:cNvSpPr/>
          <p:nvPr/>
        </p:nvSpPr>
        <p:spPr>
          <a:xfrm>
            <a:off x="8003743" y="3099815"/>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7</a:t>
            </a:r>
          </a:p>
        </p:txBody>
      </p:sp>
      <p:sp>
        <p:nvSpPr>
          <p:cNvPr id="19" name="TextBox 18"/>
          <p:cNvSpPr txBox="1"/>
          <p:nvPr/>
        </p:nvSpPr>
        <p:spPr>
          <a:xfrm>
            <a:off x="5425135" y="3081527"/>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מקורות</a:t>
            </a:r>
          </a:p>
        </p:txBody>
      </p:sp>
      <p:sp>
        <p:nvSpPr>
          <p:cNvPr id="20" name="Rounded Rectangle 19"/>
          <p:cNvSpPr/>
          <p:nvPr/>
        </p:nvSpPr>
        <p:spPr>
          <a:xfrm>
            <a:off x="548640" y="1554480"/>
            <a:ext cx="4572000" cy="3063240"/>
          </a:xfrm>
          <a:prstGeom prst="roundRect">
            <a:avLst>
              <a:gd name="adj" fmla="val 5000"/>
            </a:avLst>
          </a:prstGeom>
          <a:solidFill>
            <a:srgbClr val="E8FBF7"/>
          </a:solidFill>
          <a:ln>
            <a:noFill/>
          </a:ln>
          <a:effectLst/>
        </p:spPr>
        <p:txBody>
          <a:bodyPr rtlCol="0" anchor="ctr"/>
          <a:lstStyle/>
          <a:p>
            <a:pPr algn="ctr"/>
          </a:p>
        </p:txBody>
      </p:sp>
      <p:sp>
        <p:nvSpPr>
          <p:cNvPr id="21" name="Rectangle 20"/>
          <p:cNvSpPr/>
          <p:nvPr/>
        </p:nvSpPr>
        <p:spPr>
          <a:xfrm>
            <a:off x="5047488" y="1554480"/>
            <a:ext cx="73152" cy="3063240"/>
          </a:xfrm>
          <a:prstGeom prst="rect">
            <a:avLst/>
          </a:prstGeom>
          <a:solidFill>
            <a:srgbClr val="64CAAD"/>
          </a:solidFill>
          <a:ln>
            <a:noFill/>
          </a:ln>
          <a:effectLst/>
        </p:spPr>
        <p:txBody>
          <a:bodyPr rtlCol="0" anchor="ctr"/>
          <a:lstStyle/>
          <a:p>
            <a:pPr algn="ctr"/>
          </a:p>
        </p:txBody>
      </p:sp>
      <p:sp>
        <p:nvSpPr>
          <p:cNvPr id="22" name="TextBox 21"/>
          <p:cNvSpPr txBox="1"/>
          <p:nvPr/>
        </p:nvSpPr>
        <p:spPr>
          <a:xfrm>
            <a:off x="731520" y="1664207"/>
            <a:ext cx="4160520"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23" name="TextBox 22"/>
          <p:cNvSpPr txBox="1"/>
          <p:nvPr/>
        </p:nvSpPr>
        <p:spPr>
          <a:xfrm>
            <a:off x="731520" y="1993391"/>
            <a:ext cx="4160520" cy="2560320"/>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הכן טיוטה לפי שבעת החלקים, רק מתוך ‎data_summary.md‎. בראש הקובץ: „טיוטה לבדיקת היועץ”. שמור ב־‎03_reports/draft.md‎.</a:t>
            </a:r>
          </a:p>
        </p:txBody>
      </p:sp>
      <p:sp>
        <p:nvSpPr>
          <p:cNvPr id="24" name="Rounded Rectangle 23"/>
          <p:cNvSpPr/>
          <p:nvPr/>
        </p:nvSpPr>
        <p:spPr>
          <a:xfrm>
            <a:off x="548640" y="4983480"/>
            <a:ext cx="11094415" cy="868680"/>
          </a:xfrm>
          <a:prstGeom prst="roundRect">
            <a:avLst>
              <a:gd name="adj" fmla="val 10000"/>
            </a:avLst>
          </a:prstGeom>
          <a:solidFill>
            <a:srgbClr val="EAF3FF"/>
          </a:solidFill>
          <a:ln>
            <a:noFill/>
          </a:ln>
          <a:effectLst/>
        </p:spPr>
        <p:txBody>
          <a:bodyPr rtlCol="0" anchor="ctr"/>
          <a:lstStyle/>
          <a:p>
            <a:pPr algn="ctr"/>
          </a:p>
        </p:txBody>
      </p:sp>
      <p:sp>
        <p:nvSpPr>
          <p:cNvPr id="25" name="TextBox 24"/>
          <p:cNvSpPr txBox="1"/>
          <p:nvPr/>
        </p:nvSpPr>
        <p:spPr>
          <a:xfrm>
            <a:off x="822959" y="4983480"/>
            <a:ext cx="10545775" cy="868680"/>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435FB5"/>
                </a:solidFill>
                <a:latin typeface="Rubik"/>
                <a:ea typeface="Rubik"/>
                <a:cs typeface="Rubik"/>
              </a:rPr>
              <a:t>טיוטה לבדיקת היועץ. </a:t>
            </a:r>
            <a:r>
              <a:rPr sz="1900" b="0" i="0" lang="he-IL">
                <a:solidFill>
                  <a:srgbClr val="0A1A33"/>
                </a:solidFill>
                <a:latin typeface="Rubik"/>
                <a:ea typeface="Rubik"/>
                <a:cs typeface="Rubik"/>
              </a:rPr>
              <a:t>לא אישור מקצועי, לא המלצת אשראי, ולא נשלחת לבנק אוטומטית.</a:t>
            </a:r>
          </a:p>
        </p:txBody>
      </p:sp>
      <p:sp>
        <p:nvSpPr>
          <p:cNvPr id="26" name="TextBox 25"/>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21</a:t>
            </a:r>
            <a:r>
              <a:rPr sz="1200" b="0" i="0" lang="he-IL">
                <a:solidFill>
                  <a:srgbClr val="8D9299"/>
                </a:solidFill>
                <a:latin typeface="Rubik"/>
                <a:ea typeface="Rubik"/>
                <a:cs typeface="Rubik"/>
              </a:rPr>
              <a:t>  |  Claude Code ליועצי משכנתאות</a:t>
            </a:r>
          </a:p>
        </p:txBody>
      </p:sp>
      <p:pic>
        <p:nvPicPr>
          <p:cNvPr id="27" name="Picture 26"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בדיקת הטיוטה ותיקון</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3977639"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pic>
        <p:nvPicPr>
          <p:cNvPr id="6" name="Picture 5" descr="pose-magnifier.png"/>
          <p:cNvPicPr>
            <a:picLocks noChangeAspect="1"/>
          </p:cNvPicPr>
          <p:nvPr/>
        </p:nvPicPr>
        <p:blipFill>
          <a:blip r:embed="rId2"/>
          <a:stretch>
            <a:fillRect/>
          </a:stretch>
        </p:blipFill>
        <p:spPr>
          <a:xfrm>
            <a:off x="731520" y="1417319"/>
            <a:ext cx="2159148" cy="4937760"/>
          </a:xfrm>
          <a:prstGeom prst="rect">
            <a:avLst/>
          </a:prstGeom>
        </p:spPr>
      </p:pic>
      <p:sp>
        <p:nvSpPr>
          <p:cNvPr id="7" name="Rounded Rectangle 6"/>
          <p:cNvSpPr/>
          <p:nvPr/>
        </p:nvSpPr>
        <p:spPr>
          <a:xfrm>
            <a:off x="11259007" y="1655064"/>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8" name="TextBox 7"/>
          <p:cNvSpPr txBox="1"/>
          <p:nvPr/>
        </p:nvSpPr>
        <p:spPr>
          <a:xfrm>
            <a:off x="4160520" y="1600200"/>
            <a:ext cx="6933895" cy="457200"/>
          </a:xfrm>
          <a:prstGeom prst="rect">
            <a:avLst/>
          </a:prstGeom>
          <a:noFill/>
        </p:spPr>
        <p:txBody>
          <a:bodyPr wrap="square" lIns="73152" rIns="73152" tIns="54864" bIns="54864" anchor="ctr">
            <a:noAutofit/>
          </a:bodyPr>
          <a:lstStyle/>
          <a:p>
            <a:pPr rtl="1" algn="r">
              <a:lnSpc>
                <a:spcPct val="110000"/>
              </a:lnSpc>
              <a:spcAft>
                <a:spcPts val="600"/>
              </a:spcAft>
            </a:pPr>
            <a:r>
              <a:rPr sz="2000" b="0" i="0" lang="he-IL">
                <a:solidFill>
                  <a:srgbClr val="0A1A33"/>
                </a:solidFill>
                <a:latin typeface="Rubik"/>
                <a:ea typeface="Rubik"/>
                <a:cs typeface="Rubik"/>
              </a:rPr>
              <a:t>סכומים תואמים למקור</a:t>
            </a:r>
          </a:p>
        </p:txBody>
      </p:sp>
      <p:sp>
        <p:nvSpPr>
          <p:cNvPr id="9" name="Rounded Rectangle 8"/>
          <p:cNvSpPr/>
          <p:nvPr/>
        </p:nvSpPr>
        <p:spPr>
          <a:xfrm>
            <a:off x="11259007" y="2276856"/>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0" name="TextBox 9"/>
          <p:cNvSpPr txBox="1"/>
          <p:nvPr/>
        </p:nvSpPr>
        <p:spPr>
          <a:xfrm>
            <a:off x="4160520" y="2221992"/>
            <a:ext cx="6933895" cy="457200"/>
          </a:xfrm>
          <a:prstGeom prst="rect">
            <a:avLst/>
          </a:prstGeom>
          <a:noFill/>
        </p:spPr>
        <p:txBody>
          <a:bodyPr wrap="square" lIns="73152" rIns="73152" tIns="54864" bIns="54864" anchor="ctr">
            <a:noAutofit/>
          </a:bodyPr>
          <a:lstStyle/>
          <a:p>
            <a:pPr rtl="1" algn="r">
              <a:lnSpc>
                <a:spcPct val="110000"/>
              </a:lnSpc>
              <a:spcAft>
                <a:spcPts val="600"/>
              </a:spcAft>
            </a:pPr>
            <a:r>
              <a:rPr sz="2000" b="0" i="0" lang="he-IL">
                <a:solidFill>
                  <a:srgbClr val="0A1A33"/>
                </a:solidFill>
                <a:latin typeface="Rubik"/>
                <a:ea typeface="Rubik"/>
                <a:cs typeface="Rubik"/>
              </a:rPr>
              <a:t>תאריכים נכונים</a:t>
            </a:r>
          </a:p>
        </p:txBody>
      </p:sp>
      <p:sp>
        <p:nvSpPr>
          <p:cNvPr id="11" name="Rounded Rectangle 10"/>
          <p:cNvSpPr/>
          <p:nvPr/>
        </p:nvSpPr>
        <p:spPr>
          <a:xfrm>
            <a:off x="11259007" y="2898648"/>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2" name="TextBox 11"/>
          <p:cNvSpPr txBox="1"/>
          <p:nvPr/>
        </p:nvSpPr>
        <p:spPr>
          <a:xfrm>
            <a:off x="4160520" y="2843784"/>
            <a:ext cx="6933895" cy="457200"/>
          </a:xfrm>
          <a:prstGeom prst="rect">
            <a:avLst/>
          </a:prstGeom>
          <a:noFill/>
        </p:spPr>
        <p:txBody>
          <a:bodyPr wrap="square" lIns="73152" rIns="73152" tIns="54864" bIns="54864" anchor="ctr">
            <a:noAutofit/>
          </a:bodyPr>
          <a:lstStyle/>
          <a:p>
            <a:pPr rtl="1" algn="r">
              <a:lnSpc>
                <a:spcPct val="110000"/>
              </a:lnSpc>
              <a:spcAft>
                <a:spcPts val="600"/>
              </a:spcAft>
            </a:pPr>
            <a:r>
              <a:rPr sz="2000" b="0" i="0" lang="he-IL">
                <a:solidFill>
                  <a:srgbClr val="0A1A33"/>
                </a:solidFill>
                <a:latin typeface="Rubik"/>
                <a:ea typeface="Rubik"/>
                <a:cs typeface="Rubik"/>
              </a:rPr>
              <a:t>לכל נתון יש מקור</a:t>
            </a:r>
          </a:p>
        </p:txBody>
      </p:sp>
      <p:sp>
        <p:nvSpPr>
          <p:cNvPr id="13" name="Rounded Rectangle 12"/>
          <p:cNvSpPr/>
          <p:nvPr/>
        </p:nvSpPr>
        <p:spPr>
          <a:xfrm>
            <a:off x="11259007" y="3520440"/>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4" name="TextBox 13"/>
          <p:cNvSpPr txBox="1"/>
          <p:nvPr/>
        </p:nvSpPr>
        <p:spPr>
          <a:xfrm>
            <a:off x="4160520" y="3465576"/>
            <a:ext cx="6933895" cy="457200"/>
          </a:xfrm>
          <a:prstGeom prst="rect">
            <a:avLst/>
          </a:prstGeom>
          <a:noFill/>
        </p:spPr>
        <p:txBody>
          <a:bodyPr wrap="square" lIns="73152" rIns="73152" tIns="54864" bIns="54864" anchor="ctr">
            <a:noAutofit/>
          </a:bodyPr>
          <a:lstStyle/>
          <a:p>
            <a:pPr rtl="1" algn="r">
              <a:lnSpc>
                <a:spcPct val="110000"/>
              </a:lnSpc>
              <a:spcAft>
                <a:spcPts val="600"/>
              </a:spcAft>
            </a:pPr>
            <a:r>
              <a:rPr sz="2000" b="0" i="0" lang="he-IL">
                <a:solidFill>
                  <a:srgbClr val="0A1A33"/>
                </a:solidFill>
                <a:latin typeface="Rubik"/>
                <a:ea typeface="Rubik"/>
                <a:cs typeface="Rubik"/>
              </a:rPr>
              <a:t>חוסרים ושאלות מופיעים</a:t>
            </a:r>
          </a:p>
        </p:txBody>
      </p:sp>
      <p:sp>
        <p:nvSpPr>
          <p:cNvPr id="15" name="Rounded Rectangle 14"/>
          <p:cNvSpPr/>
          <p:nvPr/>
        </p:nvSpPr>
        <p:spPr>
          <a:xfrm>
            <a:off x="3977639" y="4206240"/>
            <a:ext cx="7665415" cy="1783080"/>
          </a:xfrm>
          <a:prstGeom prst="roundRect">
            <a:avLst>
              <a:gd name="adj" fmla="val 5000"/>
            </a:avLst>
          </a:prstGeom>
          <a:solidFill>
            <a:srgbClr val="E8FBF7"/>
          </a:solidFill>
          <a:ln>
            <a:noFill/>
          </a:ln>
          <a:effectLst/>
        </p:spPr>
        <p:txBody>
          <a:bodyPr rtlCol="0" anchor="ctr"/>
          <a:lstStyle/>
          <a:p>
            <a:pPr algn="ctr"/>
          </a:p>
        </p:txBody>
      </p:sp>
      <p:sp>
        <p:nvSpPr>
          <p:cNvPr id="16" name="Rectangle 15"/>
          <p:cNvSpPr/>
          <p:nvPr/>
        </p:nvSpPr>
        <p:spPr>
          <a:xfrm>
            <a:off x="11569903" y="4206240"/>
            <a:ext cx="73152" cy="1783080"/>
          </a:xfrm>
          <a:prstGeom prst="rect">
            <a:avLst/>
          </a:prstGeom>
          <a:solidFill>
            <a:srgbClr val="64CAAD"/>
          </a:solidFill>
          <a:ln>
            <a:noFill/>
          </a:ln>
          <a:effectLst/>
        </p:spPr>
        <p:txBody>
          <a:bodyPr rtlCol="0" anchor="ctr"/>
          <a:lstStyle/>
          <a:p>
            <a:pPr algn="ctr"/>
          </a:p>
        </p:txBody>
      </p:sp>
      <p:sp>
        <p:nvSpPr>
          <p:cNvPr id="17" name="TextBox 16"/>
          <p:cNvSpPr txBox="1"/>
          <p:nvPr/>
        </p:nvSpPr>
        <p:spPr>
          <a:xfrm>
            <a:off x="4160520" y="4315968"/>
            <a:ext cx="7253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8" name="TextBox 17"/>
          <p:cNvSpPr txBox="1"/>
          <p:nvPr/>
        </p:nvSpPr>
        <p:spPr>
          <a:xfrm>
            <a:off x="4160520" y="4645152"/>
            <a:ext cx="7253935" cy="1280160"/>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בדוק שכל סכום ותאריך בטיוטה מופיע בקובץ המקור. תקן מה שלא תואם, ופרט מה שינית.</a:t>
            </a:r>
          </a:p>
        </p:txBody>
      </p:sp>
      <p:sp>
        <p:nvSpPr>
          <p:cNvPr id="19" name="TextBox 18"/>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22</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A33"/>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64CAAD"/>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FFFFFF"/>
                </a:solidFill>
                <a:latin typeface="Rubik"/>
                <a:ea typeface="Rubik"/>
                <a:cs typeface="Rubik"/>
              </a:rPr>
              <a:t>מהו סקיל (Skill)</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TextBox 4"/>
          <p:cNvSpPr txBox="1"/>
          <p:nvPr/>
        </p:nvSpPr>
        <p:spPr>
          <a:xfrm>
            <a:off x="548640" y="1600200"/>
            <a:ext cx="11094415" cy="640080"/>
          </a:xfrm>
          <a:prstGeom prst="rect">
            <a:avLst/>
          </a:prstGeom>
          <a:noFill/>
        </p:spPr>
        <p:txBody>
          <a:bodyPr wrap="square" lIns="73152" rIns="73152" tIns="54864" bIns="54864" anchor="t">
            <a:noAutofit/>
          </a:bodyPr>
          <a:lstStyle/>
          <a:p>
            <a:pPr rtl="1" algn="r">
              <a:lnSpc>
                <a:spcPct val="110000"/>
              </a:lnSpc>
              <a:spcAft>
                <a:spcPts val="600"/>
              </a:spcAft>
            </a:pPr>
            <a:r>
              <a:rPr sz="2600" b="1" i="0" lang="he-IL">
                <a:solidFill>
                  <a:srgbClr val="FFFFFF"/>
                </a:solidFill>
                <a:latin typeface="Rubik"/>
                <a:ea typeface="Rubik"/>
                <a:cs typeface="Rubik"/>
              </a:rPr>
              <a:t>הוראות כתובות לתהליך שחוזר, שמפעילים שוב בכל תיק.</a:t>
            </a:r>
          </a:p>
        </p:txBody>
      </p:sp>
      <p:sp>
        <p:nvSpPr>
          <p:cNvPr id="6" name="Rounded Rectangle 5"/>
          <p:cNvSpPr/>
          <p:nvPr/>
        </p:nvSpPr>
        <p:spPr>
          <a:xfrm>
            <a:off x="8127796" y="2606040"/>
            <a:ext cx="3515258" cy="1417320"/>
          </a:xfrm>
          <a:prstGeom prst="roundRect">
            <a:avLst>
              <a:gd name="adj" fmla="val 8000"/>
            </a:avLst>
          </a:prstGeom>
          <a:solidFill>
            <a:srgbClr val="142A4D"/>
          </a:solidFill>
          <a:ln>
            <a:noFill/>
          </a:ln>
          <a:effectLst/>
        </p:spPr>
        <p:txBody>
          <a:bodyPr rtlCol="0" anchor="ctr"/>
          <a:lstStyle/>
          <a:p>
            <a:pPr algn="ctr"/>
          </a:p>
        </p:txBody>
      </p:sp>
      <p:sp>
        <p:nvSpPr>
          <p:cNvPr id="7" name="TextBox 6"/>
          <p:cNvSpPr txBox="1"/>
          <p:nvPr/>
        </p:nvSpPr>
        <p:spPr>
          <a:xfrm>
            <a:off x="8402116" y="278892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‎SKILL.md‎</a:t>
            </a:r>
          </a:p>
        </p:txBody>
      </p:sp>
      <p:sp>
        <p:nvSpPr>
          <p:cNvPr id="8" name="TextBox 7"/>
          <p:cNvSpPr txBox="1"/>
          <p:nvPr/>
        </p:nvSpPr>
        <p:spPr>
          <a:xfrm>
            <a:off x="8402116" y="329184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D4D6D8"/>
                </a:solidFill>
                <a:latin typeface="Rubik"/>
                <a:ea typeface="Rubik"/>
                <a:cs typeface="Rubik"/>
              </a:rPr>
              <a:t>השלבים והכללים</a:t>
            </a:r>
          </a:p>
        </p:txBody>
      </p:sp>
      <p:sp>
        <p:nvSpPr>
          <p:cNvPr id="9" name="Rounded Rectangle 8"/>
          <p:cNvSpPr/>
          <p:nvPr/>
        </p:nvSpPr>
        <p:spPr>
          <a:xfrm>
            <a:off x="4338218" y="2606040"/>
            <a:ext cx="3515258" cy="1417320"/>
          </a:xfrm>
          <a:prstGeom prst="roundRect">
            <a:avLst>
              <a:gd name="adj" fmla="val 8000"/>
            </a:avLst>
          </a:prstGeom>
          <a:solidFill>
            <a:srgbClr val="142A4D"/>
          </a:solidFill>
          <a:ln>
            <a:noFill/>
          </a:ln>
          <a:effectLst/>
        </p:spPr>
        <p:txBody>
          <a:bodyPr rtlCol="0" anchor="ctr"/>
          <a:lstStyle/>
          <a:p>
            <a:pPr algn="ctr"/>
          </a:p>
        </p:txBody>
      </p:sp>
      <p:sp>
        <p:nvSpPr>
          <p:cNvPr id="10" name="TextBox 9"/>
          <p:cNvSpPr txBox="1"/>
          <p:nvPr/>
        </p:nvSpPr>
        <p:spPr>
          <a:xfrm>
            <a:off x="4612538" y="278892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קבצי עזר</a:t>
            </a:r>
          </a:p>
        </p:txBody>
      </p:sp>
      <p:sp>
        <p:nvSpPr>
          <p:cNvPr id="11" name="TextBox 10"/>
          <p:cNvSpPr txBox="1"/>
          <p:nvPr/>
        </p:nvSpPr>
        <p:spPr>
          <a:xfrm>
            <a:off x="4612538" y="329184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D4D6D8"/>
                </a:solidFill>
                <a:latin typeface="Rubik"/>
                <a:ea typeface="Rubik"/>
                <a:cs typeface="Rubik"/>
              </a:rPr>
              <a:t>תבניות ודוגמאות</a:t>
            </a:r>
          </a:p>
        </p:txBody>
      </p:sp>
      <p:sp>
        <p:nvSpPr>
          <p:cNvPr id="12" name="Rounded Rectangle 11"/>
          <p:cNvSpPr/>
          <p:nvPr/>
        </p:nvSpPr>
        <p:spPr>
          <a:xfrm>
            <a:off x="548639" y="2606040"/>
            <a:ext cx="3515258" cy="1417320"/>
          </a:xfrm>
          <a:prstGeom prst="roundRect">
            <a:avLst>
              <a:gd name="adj" fmla="val 8000"/>
            </a:avLst>
          </a:prstGeom>
          <a:solidFill>
            <a:srgbClr val="142A4D"/>
          </a:solidFill>
          <a:ln>
            <a:noFill/>
          </a:ln>
          <a:effectLst/>
        </p:spPr>
        <p:txBody>
          <a:bodyPr rtlCol="0" anchor="ctr"/>
          <a:lstStyle/>
          <a:p>
            <a:pPr algn="ctr"/>
          </a:p>
        </p:txBody>
      </p:sp>
      <p:sp>
        <p:nvSpPr>
          <p:cNvPr id="13" name="TextBox 12"/>
          <p:cNvSpPr txBox="1"/>
          <p:nvPr/>
        </p:nvSpPr>
        <p:spPr>
          <a:xfrm>
            <a:off x="822959" y="278892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הפעלה</a:t>
            </a:r>
          </a:p>
        </p:txBody>
      </p:sp>
      <p:sp>
        <p:nvSpPr>
          <p:cNvPr id="14" name="TextBox 13"/>
          <p:cNvSpPr txBox="1"/>
          <p:nvPr/>
        </p:nvSpPr>
        <p:spPr>
          <a:xfrm>
            <a:off x="822959" y="329184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D4D6D8"/>
                </a:solidFill>
                <a:latin typeface="Rubik"/>
                <a:ea typeface="Rubik"/>
                <a:cs typeface="Rubik"/>
              </a:rPr>
              <a:t>פקודה עם שם הסקיל</a:t>
            </a:r>
          </a:p>
        </p:txBody>
      </p:sp>
      <p:sp>
        <p:nvSpPr>
          <p:cNvPr id="15" name="Rounded Rectangle 14"/>
          <p:cNvSpPr/>
          <p:nvPr/>
        </p:nvSpPr>
        <p:spPr>
          <a:xfrm>
            <a:off x="548640" y="4434840"/>
            <a:ext cx="11094415" cy="1097280"/>
          </a:xfrm>
          <a:prstGeom prst="roundRect">
            <a:avLst>
              <a:gd name="adj" fmla="val 6000"/>
            </a:avLst>
          </a:prstGeom>
          <a:solidFill>
            <a:srgbClr val="142A4D"/>
          </a:solidFill>
          <a:ln>
            <a:noFill/>
          </a:ln>
          <a:effectLst/>
        </p:spPr>
        <p:txBody>
          <a:bodyPr rtlCol="0" anchor="ctr"/>
          <a:lstStyle/>
          <a:p>
            <a:pPr algn="ctr"/>
          </a:p>
        </p:txBody>
      </p:sp>
      <p:sp>
        <p:nvSpPr>
          <p:cNvPr id="16" name="TextBox 15"/>
          <p:cNvSpPr txBox="1"/>
          <p:nvPr/>
        </p:nvSpPr>
        <p:spPr>
          <a:xfrm>
            <a:off x="685800" y="4544568"/>
            <a:ext cx="10820095" cy="914399"/>
          </a:xfrm>
          <a:prstGeom prst="rect">
            <a:avLst/>
          </a:prstGeom>
          <a:noFill/>
        </p:spPr>
        <p:txBody>
          <a:bodyPr wrap="square" lIns="73152" rIns="73152" tIns="54864" bIns="54864" anchor="t">
            <a:noAutofit/>
          </a:bodyPr>
          <a:lstStyle/>
          <a:p>
            <a:pPr rtl="0" algn="l">
              <a:lnSpc>
                <a:spcPct val="115000"/>
              </a:lnSpc>
              <a:spcAft>
                <a:spcPts val="200"/>
              </a:spcAft>
            </a:pPr>
            <a:r>
              <a:rPr sz="2000" b="0" i="0" lang="en-US">
                <a:solidFill>
                  <a:srgbClr val="FFFFFF"/>
                </a:solidFill>
                <a:latin typeface="Consolas"/>
                <a:ea typeface="Consolas"/>
                <a:cs typeface="Rubik"/>
              </a:rPr>
              <a:t>.claude\skills\prepare-bank-file\SKILL.md</a:t>
            </a:r>
          </a:p>
        </p:txBody>
      </p:sp>
      <p:sp>
        <p:nvSpPr>
          <p:cNvPr id="17" name="TextBox 1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23</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סקיל לדוגמה: הכנת תיק לבנק</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Oval 4"/>
          <p:cNvSpPr/>
          <p:nvPr/>
        </p:nvSpPr>
        <p:spPr>
          <a:xfrm>
            <a:off x="10259293"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1</a:t>
            </a:r>
          </a:p>
        </p:txBody>
      </p:sp>
      <p:sp>
        <p:nvSpPr>
          <p:cNvPr id="6" name="TextBox 5"/>
          <p:cNvSpPr txBox="1"/>
          <p:nvPr/>
        </p:nvSpPr>
        <p:spPr>
          <a:xfrm>
            <a:off x="9527773"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מיפוי</a:t>
            </a:r>
          </a:p>
        </p:txBody>
      </p:sp>
      <p:cxnSp>
        <p:nvCxnSpPr>
          <p:cNvPr id="7" name="Connector 6"/>
          <p:cNvCxnSpPr/>
          <p:nvPr/>
        </p:nvCxnSpPr>
        <p:spPr>
          <a:xfrm>
            <a:off x="8726210" y="1874519"/>
            <a:ext cx="1395923"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8040410"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2</a:t>
            </a:r>
          </a:p>
        </p:txBody>
      </p:sp>
      <p:sp>
        <p:nvSpPr>
          <p:cNvPr id="9" name="TextBox 8"/>
          <p:cNvSpPr txBox="1"/>
          <p:nvPr/>
        </p:nvSpPr>
        <p:spPr>
          <a:xfrm>
            <a:off x="7308890"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ארגון</a:t>
            </a:r>
          </a:p>
        </p:txBody>
      </p:sp>
      <p:cxnSp>
        <p:nvCxnSpPr>
          <p:cNvPr id="10" name="Connector 9"/>
          <p:cNvCxnSpPr/>
          <p:nvPr/>
        </p:nvCxnSpPr>
        <p:spPr>
          <a:xfrm>
            <a:off x="6507327" y="1874519"/>
            <a:ext cx="1395923"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5821527"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3</a:t>
            </a:r>
          </a:p>
        </p:txBody>
      </p:sp>
      <p:sp>
        <p:nvSpPr>
          <p:cNvPr id="12" name="TextBox 11"/>
          <p:cNvSpPr txBox="1"/>
          <p:nvPr/>
        </p:nvSpPr>
        <p:spPr>
          <a:xfrm>
            <a:off x="5090007"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חילוץ</a:t>
            </a:r>
          </a:p>
        </p:txBody>
      </p:sp>
      <p:cxnSp>
        <p:nvCxnSpPr>
          <p:cNvPr id="13" name="Connector 12"/>
          <p:cNvCxnSpPr/>
          <p:nvPr/>
        </p:nvCxnSpPr>
        <p:spPr>
          <a:xfrm>
            <a:off x="4288444" y="1874519"/>
            <a:ext cx="1395923"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602644"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4</a:t>
            </a:r>
          </a:p>
        </p:txBody>
      </p:sp>
      <p:sp>
        <p:nvSpPr>
          <p:cNvPr id="15" name="TextBox 14"/>
          <p:cNvSpPr txBox="1"/>
          <p:nvPr/>
        </p:nvSpPr>
        <p:spPr>
          <a:xfrm>
            <a:off x="2871124"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חוסרים</a:t>
            </a:r>
          </a:p>
        </p:txBody>
      </p:sp>
      <p:cxnSp>
        <p:nvCxnSpPr>
          <p:cNvPr id="16" name="Connector 15"/>
          <p:cNvCxnSpPr/>
          <p:nvPr/>
        </p:nvCxnSpPr>
        <p:spPr>
          <a:xfrm>
            <a:off x="2069561" y="1874519"/>
            <a:ext cx="1395923"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383761" y="1600200"/>
            <a:ext cx="548640" cy="548640"/>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2000" b="1" i="0" lang="he-IL">
                <a:solidFill>
                  <a:srgbClr val="0A1A33"/>
                </a:solidFill>
                <a:latin typeface="Rubik"/>
                <a:ea typeface="Rubik"/>
                <a:cs typeface="Rubik"/>
              </a:rPr>
              <a:t>5</a:t>
            </a:r>
          </a:p>
        </p:txBody>
      </p:sp>
      <p:sp>
        <p:nvSpPr>
          <p:cNvPr id="18" name="TextBox 17"/>
          <p:cNvSpPr txBox="1"/>
          <p:nvPr/>
        </p:nvSpPr>
        <p:spPr>
          <a:xfrm>
            <a:off x="652241"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טיוטה</a:t>
            </a:r>
          </a:p>
        </p:txBody>
      </p:sp>
      <p:sp>
        <p:nvSpPr>
          <p:cNvPr id="19" name="Rounded Rectangle 18"/>
          <p:cNvSpPr/>
          <p:nvPr/>
        </p:nvSpPr>
        <p:spPr>
          <a:xfrm>
            <a:off x="548640" y="3017520"/>
            <a:ext cx="5120640" cy="2926080"/>
          </a:xfrm>
          <a:prstGeom prst="roundRect">
            <a:avLst>
              <a:gd name="adj" fmla="val 6000"/>
            </a:avLst>
          </a:prstGeom>
          <a:solidFill>
            <a:srgbClr val="0A1A33"/>
          </a:solidFill>
          <a:ln>
            <a:noFill/>
          </a:ln>
          <a:effectLst/>
        </p:spPr>
        <p:txBody>
          <a:bodyPr rtlCol="0" anchor="ctr"/>
          <a:lstStyle/>
          <a:p>
            <a:pPr algn="ctr"/>
          </a:p>
        </p:txBody>
      </p:sp>
      <p:sp>
        <p:nvSpPr>
          <p:cNvPr id="20" name="TextBox 19"/>
          <p:cNvSpPr txBox="1"/>
          <p:nvPr/>
        </p:nvSpPr>
        <p:spPr>
          <a:xfrm>
            <a:off x="731520" y="3108960"/>
            <a:ext cx="4754879"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64CAAD"/>
                </a:solidFill>
                <a:latin typeface="Rubik"/>
                <a:ea typeface="Rubik"/>
                <a:cs typeface="Rubik"/>
              </a:rPr>
              <a:t>ראש הקובץ ‎SKILL.md‎</a:t>
            </a:r>
          </a:p>
        </p:txBody>
      </p:sp>
      <p:sp>
        <p:nvSpPr>
          <p:cNvPr id="21" name="TextBox 20"/>
          <p:cNvSpPr txBox="1"/>
          <p:nvPr/>
        </p:nvSpPr>
        <p:spPr>
          <a:xfrm>
            <a:off x="685800" y="3429000"/>
            <a:ext cx="4846320" cy="2441448"/>
          </a:xfrm>
          <a:prstGeom prst="rect">
            <a:avLst/>
          </a:prstGeom>
          <a:noFill/>
        </p:spPr>
        <p:txBody>
          <a:bodyPr wrap="square" lIns="73152" rIns="73152" tIns="54864" bIns="54864" anchor="t">
            <a:noAutofit/>
          </a:bodyPr>
          <a:lstStyle/>
          <a:p>
            <a:pPr rtl="0" algn="l">
              <a:lnSpc>
                <a:spcPct val="115000"/>
              </a:lnSpc>
              <a:spcAft>
                <a:spcPts val="200"/>
              </a:spcAft>
            </a:pPr>
            <a:r>
              <a:rPr sz="1700" b="0" i="0" lang="en-US">
                <a:solidFill>
                  <a:srgbClr val="FFFFFF"/>
                </a:solidFill>
                <a:latin typeface="Consolas"/>
                <a:ea typeface="Consolas"/>
                <a:cs typeface="Rubik"/>
              </a:rPr>
              <a:t>---</a:t>
            </a:r>
          </a:p>
          <a:p>
            <a:pPr rtl="0" algn="l">
              <a:lnSpc>
                <a:spcPct val="115000"/>
              </a:lnSpc>
              <a:spcAft>
                <a:spcPts val="200"/>
              </a:spcAft>
            </a:pPr>
            <a:r>
              <a:rPr sz="1700" b="0" i="0" lang="en-US">
                <a:solidFill>
                  <a:srgbClr val="FFFFFF"/>
                </a:solidFill>
                <a:latin typeface="Consolas"/>
                <a:ea typeface="Consolas"/>
                <a:cs typeface="Rubik"/>
              </a:rPr>
              <a:t>name: prepare-bank-file</a:t>
            </a:r>
          </a:p>
          <a:p>
            <a:pPr rtl="0" algn="l">
              <a:lnSpc>
                <a:spcPct val="115000"/>
              </a:lnSpc>
              <a:spcAft>
                <a:spcPts val="200"/>
              </a:spcAft>
            </a:pPr>
            <a:r>
              <a:rPr sz="1700" b="0" i="0" lang="en-US">
                <a:solidFill>
                  <a:srgbClr val="FFFFFF"/>
                </a:solidFill>
                <a:latin typeface="Consolas"/>
                <a:ea typeface="Consolas"/>
                <a:cs typeface="Rubik"/>
              </a:rPr>
              <a:t>description: הכנת תיק לבנק</a:t>
            </a:r>
          </a:p>
          <a:p>
            <a:pPr rtl="0" algn="l">
              <a:lnSpc>
                <a:spcPct val="115000"/>
              </a:lnSpc>
              <a:spcAft>
                <a:spcPts val="200"/>
              </a:spcAft>
            </a:pPr>
            <a:r>
              <a:rPr sz="1700" b="0" i="0" lang="en-US">
                <a:solidFill>
                  <a:srgbClr val="FFFFFF"/>
                </a:solidFill>
                <a:latin typeface="Consolas"/>
                <a:ea typeface="Consolas"/>
                <a:cs typeface="Rubik"/>
              </a:rPr>
              <a:t>  לבדיקת היועץ</a:t>
            </a:r>
          </a:p>
          <a:p>
            <a:pPr rtl="0" algn="l">
              <a:lnSpc>
                <a:spcPct val="115000"/>
              </a:lnSpc>
              <a:spcAft>
                <a:spcPts val="200"/>
              </a:spcAft>
            </a:pPr>
            <a:r>
              <a:rPr sz="1700" b="0" i="0" lang="en-US">
                <a:solidFill>
                  <a:srgbClr val="FFFFFF"/>
                </a:solidFill>
                <a:latin typeface="Consolas"/>
                <a:ea typeface="Consolas"/>
                <a:cs typeface="Rubik"/>
              </a:rPr>
              <a:t>disable-model-invocation: true</a:t>
            </a:r>
          </a:p>
          <a:p>
            <a:pPr rtl="0" algn="l">
              <a:lnSpc>
                <a:spcPct val="115000"/>
              </a:lnSpc>
              <a:spcAft>
                <a:spcPts val="200"/>
              </a:spcAft>
            </a:pPr>
            <a:r>
              <a:rPr sz="1700" b="0" i="0" lang="en-US">
                <a:solidFill>
                  <a:srgbClr val="FFFFFF"/>
                </a:solidFill>
                <a:latin typeface="Consolas"/>
                <a:ea typeface="Consolas"/>
                <a:cs typeface="Rubik"/>
              </a:rPr>
              <a:t>---</a:t>
            </a:r>
          </a:p>
        </p:txBody>
      </p:sp>
      <p:sp>
        <p:nvSpPr>
          <p:cNvPr id="22" name="TextBox 21"/>
          <p:cNvSpPr txBox="1"/>
          <p:nvPr/>
        </p:nvSpPr>
        <p:spPr>
          <a:xfrm>
            <a:off x="6217920" y="3017520"/>
            <a:ext cx="5425135" cy="45720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כללים קבועים</a:t>
            </a:r>
          </a:p>
        </p:txBody>
      </p:sp>
      <p:sp>
        <p:nvSpPr>
          <p:cNvPr id="23" name="TextBox 22"/>
          <p:cNvSpPr txBox="1"/>
          <p:nvPr/>
        </p:nvSpPr>
        <p:spPr>
          <a:xfrm>
            <a:off x="6217920" y="3566160"/>
            <a:ext cx="5425135" cy="2377440"/>
          </a:xfrm>
          <a:prstGeom prst="rect">
            <a:avLst/>
          </a:prstGeom>
          <a:noFill/>
        </p:spPr>
        <p:txBody>
          <a:bodyPr wrap="square" lIns="73152" rIns="73152" tIns="54864" bIns="54864" anchor="t">
            <a:noAutofit/>
          </a:bodyPr>
          <a:lstStyle/>
          <a:p>
            <a:pPr rtl="1" algn="r">
              <a:lnSpc>
                <a:spcPct val="110000"/>
              </a:lnSpc>
              <a:spcAft>
                <a:spcPts val="1200"/>
              </a:spcAft>
            </a:pPr>
            <a:r>
              <a:rPr sz="1900" b="0" i="0" lang="he-IL">
                <a:solidFill>
                  <a:srgbClr val="0A1A33"/>
                </a:solidFill>
                <a:latin typeface="Rubik"/>
                <a:ea typeface="Rubik"/>
                <a:cs typeface="Rubik"/>
              </a:rPr>
              <a:t>•  המקורות לא משתנים</a:t>
            </a:r>
          </a:p>
          <a:p>
            <a:pPr rtl="1" algn="r">
              <a:lnSpc>
                <a:spcPct val="110000"/>
              </a:lnSpc>
              <a:spcAft>
                <a:spcPts val="1200"/>
              </a:spcAft>
            </a:pPr>
            <a:r>
              <a:rPr sz="1900" b="0" i="0" lang="he-IL">
                <a:solidFill>
                  <a:srgbClr val="0A1A33"/>
                </a:solidFill>
                <a:latin typeface="Rubik"/>
                <a:ea typeface="Rubik"/>
                <a:cs typeface="Rubik"/>
              </a:rPr>
              <a:t>•  לכל נתון יש מקור</a:t>
            </a:r>
          </a:p>
          <a:p>
            <a:pPr rtl="1" algn="r">
              <a:lnSpc>
                <a:spcPct val="110000"/>
              </a:lnSpc>
              <a:spcAft>
                <a:spcPts val="1200"/>
              </a:spcAft>
            </a:pPr>
            <a:r>
              <a:rPr sz="1900" b="0" i="0" lang="he-IL">
                <a:solidFill>
                  <a:srgbClr val="0A1A33"/>
                </a:solidFill>
                <a:latin typeface="Rubik"/>
                <a:ea typeface="Rubik"/>
                <a:cs typeface="Rubik"/>
              </a:rPr>
              <a:t>•  חוסרים וסתירות מסומנים</a:t>
            </a:r>
          </a:p>
          <a:p>
            <a:pPr rtl="1" algn="r">
              <a:lnSpc>
                <a:spcPct val="110000"/>
              </a:lnSpc>
              <a:spcAft>
                <a:spcPts val="1200"/>
              </a:spcAft>
            </a:pPr>
            <a:r>
              <a:rPr sz="1900" b="0" i="0" lang="he-IL">
                <a:solidFill>
                  <a:srgbClr val="0A1A33"/>
                </a:solidFill>
                <a:latin typeface="Rubik"/>
                <a:ea typeface="Rubik"/>
                <a:cs typeface="Rubik"/>
              </a:rPr>
              <a:t>•  הטיוטה לבדיקת היועץ</a:t>
            </a:r>
          </a:p>
        </p:txBody>
      </p:sp>
      <p:sp>
        <p:nvSpPr>
          <p:cNvPr id="24" name="TextBox 23"/>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24</a:t>
            </a:r>
            <a:r>
              <a:rPr sz="1200" b="0" i="0" lang="he-IL">
                <a:solidFill>
                  <a:srgbClr val="8D9299"/>
                </a:solidFill>
                <a:latin typeface="Rubik"/>
                <a:ea typeface="Rubik"/>
                <a:cs typeface="Rubik"/>
              </a:rPr>
              <a:t>  |  Claude Code ליועצי משכנתאות</a:t>
            </a:r>
          </a:p>
        </p:txBody>
      </p:sp>
      <p:pic>
        <p:nvPicPr>
          <p:cNvPr id="25" name="Picture 24"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יצירת סקיל מתוך התרגול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48640" y="1554480"/>
            <a:ext cx="11094415" cy="1691640"/>
          </a:xfrm>
          <a:prstGeom prst="roundRect">
            <a:avLst>
              <a:gd name="adj" fmla="val 5000"/>
            </a:avLst>
          </a:prstGeom>
          <a:solidFill>
            <a:srgbClr val="E8FBF7"/>
          </a:solidFill>
          <a:ln>
            <a:noFill/>
          </a:ln>
          <a:effectLst/>
        </p:spPr>
        <p:txBody>
          <a:bodyPr rtlCol="0" anchor="ctr"/>
          <a:lstStyle/>
          <a:p>
            <a:pPr algn="ctr"/>
          </a:p>
        </p:txBody>
      </p:sp>
      <p:sp>
        <p:nvSpPr>
          <p:cNvPr id="7" name="Rectangle 6"/>
          <p:cNvSpPr/>
          <p:nvPr/>
        </p:nvSpPr>
        <p:spPr>
          <a:xfrm>
            <a:off x="11569903" y="1554480"/>
            <a:ext cx="73152" cy="1691640"/>
          </a:xfrm>
          <a:prstGeom prst="rect">
            <a:avLst/>
          </a:prstGeom>
          <a:solidFill>
            <a:srgbClr val="64CAAD"/>
          </a:solidFill>
          <a:ln>
            <a:noFill/>
          </a:ln>
          <a:effectLst/>
        </p:spPr>
        <p:txBody>
          <a:bodyPr rtlCol="0" anchor="ctr"/>
          <a:lstStyle/>
          <a:p>
            <a:pPr algn="ctr"/>
          </a:p>
        </p:txBody>
      </p:sp>
      <p:sp>
        <p:nvSpPr>
          <p:cNvPr id="8" name="TextBox 7"/>
          <p:cNvSpPr txBox="1"/>
          <p:nvPr/>
        </p:nvSpPr>
        <p:spPr>
          <a:xfrm>
            <a:off x="731520" y="1664207"/>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9" name="TextBox 8"/>
          <p:cNvSpPr txBox="1"/>
          <p:nvPr/>
        </p:nvSpPr>
        <p:spPr>
          <a:xfrm>
            <a:off x="731520" y="1993391"/>
            <a:ext cx="10682935" cy="1188720"/>
          </a:xfrm>
          <a:prstGeom prst="rect">
            <a:avLst/>
          </a:prstGeom>
          <a:noFill/>
        </p:spPr>
        <p:txBody>
          <a:bodyPr wrap="square" lIns="73152" rIns="73152" tIns="54864" bIns="54864" anchor="t">
            <a:noAutofit/>
          </a:bodyPr>
          <a:lstStyle/>
          <a:p>
            <a:pPr rtl="1" algn="r">
              <a:lnSpc>
                <a:spcPct val="115000"/>
              </a:lnSpc>
              <a:spcAft>
                <a:spcPts val="400"/>
              </a:spcAft>
            </a:pPr>
            <a:r>
              <a:rPr sz="1900" b="0" i="0" lang="he-IL">
                <a:solidFill>
                  <a:srgbClr val="0A1A33"/>
                </a:solidFill>
                <a:latin typeface="Rubik"/>
                <a:ea typeface="Rubik"/>
                <a:cs typeface="Rubik"/>
              </a:rPr>
              <a:t>שמור את התהליך שעשינו היום כסקיל בפרויקט בשם ‎prepare-bank-file‎, עם הכללים מ־‎CLAUDE.md‎. הסקיל יופעל רק כשאני מבקש. אל תריץ אותו עכשיו.</a:t>
            </a:r>
          </a:p>
        </p:txBody>
      </p:sp>
      <p:sp>
        <p:nvSpPr>
          <p:cNvPr id="10" name="TextBox 9"/>
          <p:cNvSpPr txBox="1"/>
          <p:nvPr/>
        </p:nvSpPr>
        <p:spPr>
          <a:xfrm>
            <a:off x="6309360" y="3611880"/>
            <a:ext cx="5333695" cy="41148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איפה הוא נשמר</a:t>
            </a:r>
          </a:p>
        </p:txBody>
      </p:sp>
      <p:sp>
        <p:nvSpPr>
          <p:cNvPr id="11" name="Rounded Rectangle 10"/>
          <p:cNvSpPr/>
          <p:nvPr/>
        </p:nvSpPr>
        <p:spPr>
          <a:xfrm>
            <a:off x="6309360" y="4069080"/>
            <a:ext cx="5333695" cy="685800"/>
          </a:xfrm>
          <a:prstGeom prst="roundRect">
            <a:avLst>
              <a:gd name="adj" fmla="val 6000"/>
            </a:avLst>
          </a:prstGeom>
          <a:solidFill>
            <a:srgbClr val="0A1A33"/>
          </a:solidFill>
          <a:ln>
            <a:noFill/>
          </a:ln>
          <a:effectLst/>
        </p:spPr>
        <p:txBody>
          <a:bodyPr rtlCol="0" anchor="ctr"/>
          <a:lstStyle/>
          <a:p>
            <a:pPr algn="ctr"/>
          </a:p>
        </p:txBody>
      </p:sp>
      <p:sp>
        <p:nvSpPr>
          <p:cNvPr id="12" name="TextBox 11"/>
          <p:cNvSpPr txBox="1"/>
          <p:nvPr/>
        </p:nvSpPr>
        <p:spPr>
          <a:xfrm>
            <a:off x="6446520" y="4178808"/>
            <a:ext cx="5059375" cy="502919"/>
          </a:xfrm>
          <a:prstGeom prst="rect">
            <a:avLst/>
          </a:prstGeom>
          <a:noFill/>
        </p:spPr>
        <p:txBody>
          <a:bodyPr wrap="square" lIns="73152" rIns="73152" tIns="54864" bIns="54864" anchor="t">
            <a:noAutofit/>
          </a:bodyPr>
          <a:lstStyle/>
          <a:p>
            <a:pPr rtl="0" algn="l">
              <a:lnSpc>
                <a:spcPct val="115000"/>
              </a:lnSpc>
              <a:spcAft>
                <a:spcPts val="200"/>
              </a:spcAft>
            </a:pPr>
            <a:r>
              <a:rPr sz="1500" b="0" i="0" lang="en-US">
                <a:solidFill>
                  <a:srgbClr val="FFFFFF"/>
                </a:solidFill>
                <a:latin typeface="Consolas"/>
                <a:ea typeface="Consolas"/>
                <a:cs typeface="Rubik"/>
              </a:rPr>
              <a:t>.claude/skills/prepare-bank-file/SKILL.md</a:t>
            </a:r>
          </a:p>
        </p:txBody>
      </p:sp>
      <p:sp>
        <p:nvSpPr>
          <p:cNvPr id="13" name="TextBox 12"/>
          <p:cNvSpPr txBox="1"/>
          <p:nvPr/>
        </p:nvSpPr>
        <p:spPr>
          <a:xfrm>
            <a:off x="548640" y="3611880"/>
            <a:ext cx="5212080" cy="41148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איך מפעילים אותו</a:t>
            </a:r>
          </a:p>
        </p:txBody>
      </p:sp>
      <p:sp>
        <p:nvSpPr>
          <p:cNvPr id="14" name="Rounded Rectangle 13"/>
          <p:cNvSpPr/>
          <p:nvPr/>
        </p:nvSpPr>
        <p:spPr>
          <a:xfrm>
            <a:off x="548640" y="4069080"/>
            <a:ext cx="5212080" cy="685800"/>
          </a:xfrm>
          <a:prstGeom prst="roundRect">
            <a:avLst>
              <a:gd name="adj" fmla="val 6000"/>
            </a:avLst>
          </a:prstGeom>
          <a:solidFill>
            <a:srgbClr val="0A1A33"/>
          </a:solidFill>
          <a:ln>
            <a:noFill/>
          </a:ln>
          <a:effectLst/>
        </p:spPr>
        <p:txBody>
          <a:bodyPr rtlCol="0" anchor="ctr"/>
          <a:lstStyle/>
          <a:p>
            <a:pPr algn="ctr"/>
          </a:p>
        </p:txBody>
      </p:sp>
      <p:sp>
        <p:nvSpPr>
          <p:cNvPr id="15" name="TextBox 14"/>
          <p:cNvSpPr txBox="1"/>
          <p:nvPr/>
        </p:nvSpPr>
        <p:spPr>
          <a:xfrm>
            <a:off x="685800" y="4178808"/>
            <a:ext cx="4937760" cy="502919"/>
          </a:xfrm>
          <a:prstGeom prst="rect">
            <a:avLst/>
          </a:prstGeom>
          <a:noFill/>
        </p:spPr>
        <p:txBody>
          <a:bodyPr wrap="square" lIns="73152" rIns="73152" tIns="54864" bIns="54864" anchor="t">
            <a:noAutofit/>
          </a:bodyPr>
          <a:lstStyle/>
          <a:p>
            <a:pPr rtl="0" algn="l">
              <a:lnSpc>
                <a:spcPct val="115000"/>
              </a:lnSpc>
              <a:spcAft>
                <a:spcPts val="200"/>
              </a:spcAft>
            </a:pPr>
            <a:r>
              <a:rPr sz="2200" b="0" i="0" lang="en-US">
                <a:solidFill>
                  <a:srgbClr val="FFFFFF"/>
                </a:solidFill>
                <a:latin typeface="Consolas"/>
                <a:ea typeface="Consolas"/>
                <a:cs typeface="Rubik"/>
              </a:rPr>
              <a:t>/prepare-bank-file</a:t>
            </a:r>
          </a:p>
        </p:txBody>
      </p:sp>
      <p:sp>
        <p:nvSpPr>
          <p:cNvPr id="16" name="TextBox 15"/>
          <p:cNvSpPr txBox="1"/>
          <p:nvPr/>
        </p:nvSpPr>
        <p:spPr>
          <a:xfrm>
            <a:off x="548640" y="507492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4C5058"/>
                </a:solidFill>
                <a:latin typeface="Rubik"/>
                <a:ea typeface="Rubik"/>
                <a:cs typeface="Rubik"/>
              </a:rPr>
              <a:t>כותבים ‎/‎ בתיבת ההוראות, או לוחצים ‎+‎ ואז Slash commands.</a:t>
            </a:r>
          </a:p>
        </p:txBody>
      </p:sp>
      <p:sp>
        <p:nvSpPr>
          <p:cNvPr id="17" name="TextBox 1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25</a:t>
            </a:r>
            <a:r>
              <a:rPr sz="1200" b="0" i="0" lang="he-IL">
                <a:solidFill>
                  <a:srgbClr val="8D9299"/>
                </a:solidFill>
                <a:latin typeface="Rubik"/>
                <a:ea typeface="Rubik"/>
                <a:cs typeface="Rubik"/>
              </a:rPr>
              <a:t>  |  Claude Code ליועצי משכנתאות</a:t>
            </a:r>
          </a:p>
        </p:txBody>
      </p:sp>
      <p:pic>
        <p:nvPicPr>
          <p:cNvPr id="18" name="Picture 17"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מהו סוכן משנה (Subagent)</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character-army.png"/>
          <p:cNvPicPr>
            <a:picLocks noChangeAspect="1"/>
          </p:cNvPicPr>
          <p:nvPr/>
        </p:nvPicPr>
        <p:blipFill>
          <a:blip r:embed="rId2"/>
          <a:stretch>
            <a:fillRect/>
          </a:stretch>
        </p:blipFill>
        <p:spPr>
          <a:xfrm>
            <a:off x="411480" y="1874519"/>
            <a:ext cx="3447736" cy="4480560"/>
          </a:xfrm>
          <a:prstGeom prst="rect">
            <a:avLst/>
          </a:prstGeom>
        </p:spPr>
      </p:pic>
      <p:sp>
        <p:nvSpPr>
          <p:cNvPr id="6" name="Oval 5"/>
          <p:cNvSpPr/>
          <p:nvPr/>
        </p:nvSpPr>
        <p:spPr>
          <a:xfrm>
            <a:off x="11185855" y="161848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7" name="TextBox 6"/>
          <p:cNvSpPr txBox="1"/>
          <p:nvPr/>
        </p:nvSpPr>
        <p:spPr>
          <a:xfrm>
            <a:off x="4160520" y="158191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משימה ממוקדת</a:t>
            </a:r>
          </a:p>
        </p:txBody>
      </p:sp>
      <p:sp>
        <p:nvSpPr>
          <p:cNvPr id="8" name="TextBox 7"/>
          <p:cNvSpPr txBox="1"/>
          <p:nvPr/>
        </p:nvSpPr>
        <p:spPr>
          <a:xfrm>
            <a:off x="4160520" y="198424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למשל: בדיקת הטיוטה</a:t>
            </a:r>
          </a:p>
        </p:txBody>
      </p:sp>
      <p:sp>
        <p:nvSpPr>
          <p:cNvPr id="9" name="Oval 8"/>
          <p:cNvSpPr/>
          <p:nvPr/>
        </p:nvSpPr>
        <p:spPr>
          <a:xfrm>
            <a:off x="11185855" y="248716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10" name="TextBox 9"/>
          <p:cNvSpPr txBox="1"/>
          <p:nvPr/>
        </p:nvSpPr>
        <p:spPr>
          <a:xfrm>
            <a:off x="4160520" y="245059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הקשר נפרד</a:t>
            </a:r>
          </a:p>
        </p:txBody>
      </p:sp>
      <p:sp>
        <p:nvSpPr>
          <p:cNvPr id="11" name="TextBox 10"/>
          <p:cNvSpPr txBox="1"/>
          <p:nvPr/>
        </p:nvSpPr>
        <p:spPr>
          <a:xfrm>
            <a:off x="4160520" y="285292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מחזיר לשיחה רק סיכום</a:t>
            </a:r>
          </a:p>
        </p:txBody>
      </p:sp>
      <p:sp>
        <p:nvSpPr>
          <p:cNvPr id="12" name="Oval 11"/>
          <p:cNvSpPr/>
          <p:nvPr/>
        </p:nvSpPr>
        <p:spPr>
          <a:xfrm>
            <a:off x="11185855" y="335584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13" name="TextBox 12"/>
          <p:cNvSpPr txBox="1"/>
          <p:nvPr/>
        </p:nvSpPr>
        <p:spPr>
          <a:xfrm>
            <a:off x="4160520" y="331927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כלים מוגדרים</a:t>
            </a:r>
          </a:p>
        </p:txBody>
      </p:sp>
      <p:sp>
        <p:nvSpPr>
          <p:cNvPr id="14" name="TextBox 13"/>
          <p:cNvSpPr txBox="1"/>
          <p:nvPr/>
        </p:nvSpPr>
        <p:spPr>
          <a:xfrm>
            <a:off x="4160520" y="372160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למשל: קריאה בלבד</a:t>
            </a:r>
          </a:p>
        </p:txBody>
      </p:sp>
      <p:sp>
        <p:nvSpPr>
          <p:cNvPr id="15" name="Rounded Rectangle 14"/>
          <p:cNvSpPr/>
          <p:nvPr/>
        </p:nvSpPr>
        <p:spPr>
          <a:xfrm>
            <a:off x="3977639" y="4297680"/>
            <a:ext cx="7665415" cy="1234440"/>
          </a:xfrm>
          <a:prstGeom prst="roundRect">
            <a:avLst>
              <a:gd name="adj" fmla="val 6000"/>
            </a:avLst>
          </a:prstGeom>
          <a:solidFill>
            <a:srgbClr val="0A1A33"/>
          </a:solidFill>
          <a:ln>
            <a:noFill/>
          </a:ln>
          <a:effectLst/>
        </p:spPr>
        <p:txBody>
          <a:bodyPr rtlCol="0" anchor="ctr"/>
          <a:lstStyle/>
          <a:p>
            <a:pPr algn="ctr"/>
          </a:p>
        </p:txBody>
      </p:sp>
      <p:sp>
        <p:nvSpPr>
          <p:cNvPr id="16" name="TextBox 15"/>
          <p:cNvSpPr txBox="1"/>
          <p:nvPr/>
        </p:nvSpPr>
        <p:spPr>
          <a:xfrm>
            <a:off x="4160520" y="4389120"/>
            <a:ext cx="729965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64CAAD"/>
                </a:solidFill>
                <a:latin typeface="Rubik"/>
                <a:ea typeface="Rubik"/>
                <a:cs typeface="Rubik"/>
              </a:rPr>
              <a:t>‎.claude/agents/report-checker.md‎</a:t>
            </a:r>
          </a:p>
        </p:txBody>
      </p:sp>
      <p:sp>
        <p:nvSpPr>
          <p:cNvPr id="17" name="TextBox 16"/>
          <p:cNvSpPr txBox="1"/>
          <p:nvPr/>
        </p:nvSpPr>
        <p:spPr>
          <a:xfrm>
            <a:off x="4114800" y="4709160"/>
            <a:ext cx="7391095" cy="749808"/>
          </a:xfrm>
          <a:prstGeom prst="rect">
            <a:avLst/>
          </a:prstGeom>
          <a:noFill/>
        </p:spPr>
        <p:txBody>
          <a:bodyPr wrap="square" lIns="73152" rIns="73152" tIns="54864" bIns="54864" anchor="t">
            <a:noAutofit/>
          </a:bodyPr>
          <a:lstStyle/>
          <a:p>
            <a:pPr rtl="0" algn="l">
              <a:lnSpc>
                <a:spcPct val="115000"/>
              </a:lnSpc>
              <a:spcAft>
                <a:spcPts val="200"/>
              </a:spcAft>
            </a:pPr>
            <a:r>
              <a:rPr sz="1700" b="0" i="0" lang="en-US">
                <a:solidFill>
                  <a:srgbClr val="FFFFFF"/>
                </a:solidFill>
                <a:latin typeface="Consolas"/>
                <a:ea typeface="Consolas"/>
                <a:cs typeface="Rubik"/>
              </a:rPr>
              <a:t>name: report-checker</a:t>
            </a:r>
          </a:p>
          <a:p>
            <a:pPr rtl="0" algn="l">
              <a:lnSpc>
                <a:spcPct val="115000"/>
              </a:lnSpc>
              <a:spcAft>
                <a:spcPts val="200"/>
              </a:spcAft>
            </a:pPr>
            <a:r>
              <a:rPr sz="1700" b="0" i="0" lang="en-US">
                <a:solidFill>
                  <a:srgbClr val="FFFFFF"/>
                </a:solidFill>
                <a:latin typeface="Consolas"/>
                <a:ea typeface="Consolas"/>
                <a:cs typeface="Rubik"/>
              </a:rPr>
              <a:t>tools: Read, Grep, Glob</a:t>
            </a:r>
          </a:p>
        </p:txBody>
      </p:sp>
      <p:sp>
        <p:nvSpPr>
          <p:cNvPr id="18" name="TextBox 17"/>
          <p:cNvSpPr txBox="1"/>
          <p:nvPr/>
        </p:nvSpPr>
        <p:spPr>
          <a:xfrm>
            <a:off x="3977639" y="5623560"/>
            <a:ext cx="7665415" cy="41148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4C5058"/>
                </a:solidFill>
                <a:latin typeface="Rubik"/>
                <a:ea typeface="Rubik"/>
                <a:cs typeface="Rubik"/>
              </a:rPr>
              <a:t>Agent Teams הוא דבר אחר, וזמין רק בטרמינל.</a:t>
            </a:r>
          </a:p>
        </p:txBody>
      </p:sp>
      <p:sp>
        <p:nvSpPr>
          <p:cNvPr id="19" name="TextBox 18"/>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26</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בקשה, הוראות, סקיל וסוכן</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graphicFrame>
        <p:nvGraphicFramePr>
          <p:cNvPr id="5" name="Table 4"/>
          <p:cNvGraphicFramePr>
            <a:graphicFrameLocks noGrp="1"/>
          </p:cNvGraphicFramePr>
          <p:nvPr/>
        </p:nvGraphicFramePr>
        <p:xfrm>
          <a:off x="548640" y="1508760"/>
          <a:ext cx="11094414" cy="2834640"/>
        </p:xfrm>
        <a:graphic>
          <a:graphicData uri="http://schemas.openxmlformats.org/drawingml/2006/table">
            <a:tbl>
              <a:tblPr firstRow="1" bandRow="0" rtl="1">
                <a:tableStyleId>{5940675A-B579-460E-94D1-54222C63F5DA}</a:tableStyleId>
              </a:tblPr>
              <a:tblGrid>
                <a:gridCol w="2420599"/>
                <a:gridCol w="3630899"/>
                <a:gridCol w="5042916"/>
              </a:tblGrid>
              <a:tr h="566928">
                <a:tc>
                  <a:txBody>
                    <a:bodyPr wrap="square"/>
                    <a:lstStyle/>
                    <a:p>
                      <a:pPr rtl="1" algn="r"/>
                      <a:r>
                        <a:rPr sz="1800" b="1" i="0" lang="he-IL">
                          <a:solidFill>
                            <a:srgbClr val="FFFFFF"/>
                          </a:solidFill>
                          <a:latin typeface="Rubik"/>
                          <a:ea typeface="Rubik"/>
                          <a:cs typeface="Rubik"/>
                        </a:rPr>
                        <a:t>רכיב</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מתי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דוגמה מתיק לוי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66928">
                <a:tc>
                  <a:txBody>
                    <a:bodyPr wrap="square"/>
                    <a:lstStyle/>
                    <a:p>
                      <a:pPr rtl="1" algn="r"/>
                      <a:r>
                        <a:rPr sz="1800" b="1" i="0" lang="he-IL">
                          <a:solidFill>
                            <a:srgbClr val="0A1A33"/>
                          </a:solidFill>
                          <a:latin typeface="Rubik"/>
                          <a:ea typeface="Rubik"/>
                          <a:cs typeface="Rubik"/>
                        </a:rPr>
                        <a:t>בקשה בשיחה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משימה אחת, עכשיו</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„הצג את הסכומים שבשאלון”</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1" algn="r"/>
                      <a:r>
                        <a:rPr sz="1800" b="1" i="0" lang="he-IL">
                          <a:solidFill>
                            <a:srgbClr val="0A1A33"/>
                          </a:solidFill>
                          <a:latin typeface="Rubik"/>
                          <a:ea typeface="Rubik"/>
                          <a:cs typeface="Rubik"/>
                        </a:rPr>
                        <a:t>‎CLAUDE.md‎</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כלל שחל תמיד</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„לכל נתון ציין מקור”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66928">
                <a:tc>
                  <a:txBody>
                    <a:bodyPr wrap="square"/>
                    <a:lstStyle/>
                    <a:p>
                      <a:pPr rtl="1" algn="r"/>
                      <a:r>
                        <a:rPr sz="1800" b="1" i="0" lang="he-IL">
                          <a:solidFill>
                            <a:srgbClr val="0A1A33"/>
                          </a:solidFill>
                          <a:latin typeface="Rubik"/>
                          <a:ea typeface="Rubik"/>
                          <a:cs typeface="Rubik"/>
                        </a:rPr>
                        <a:t>סקיל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תהליך שחוזר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‎‎/prepare-bank-file‎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1" algn="r"/>
                      <a:r>
                        <a:rPr sz="1800" b="1" i="0" lang="he-IL">
                          <a:solidFill>
                            <a:srgbClr val="0A1A33"/>
                          </a:solidFill>
                          <a:latin typeface="Rubik"/>
                          <a:ea typeface="Rubik"/>
                          <a:cs typeface="Rubik"/>
                        </a:rPr>
                        <a:t>סוכן משנה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בדיקה ממוקדת בנפרד</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‎report-checker‎</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bl>
          </a:graphicData>
        </a:graphic>
      </p:graphicFrame>
      <p:sp>
        <p:nvSpPr>
          <p:cNvPr id="6" name="Rounded Rectangle 5"/>
          <p:cNvSpPr/>
          <p:nvPr/>
        </p:nvSpPr>
        <p:spPr>
          <a:xfrm>
            <a:off x="548640" y="4572000"/>
            <a:ext cx="11094415" cy="1371600"/>
          </a:xfrm>
          <a:prstGeom prst="roundRect">
            <a:avLst>
              <a:gd name="adj" fmla="val 5000"/>
            </a:avLst>
          </a:prstGeom>
          <a:solidFill>
            <a:srgbClr val="E8FBF7"/>
          </a:solidFill>
          <a:ln>
            <a:noFill/>
          </a:ln>
          <a:effectLst/>
        </p:spPr>
        <p:txBody>
          <a:bodyPr rtlCol="0" anchor="ctr"/>
          <a:lstStyle/>
          <a:p>
            <a:pPr algn="ctr"/>
          </a:p>
        </p:txBody>
      </p:sp>
      <p:sp>
        <p:nvSpPr>
          <p:cNvPr id="7" name="Rectangle 6"/>
          <p:cNvSpPr/>
          <p:nvPr/>
        </p:nvSpPr>
        <p:spPr>
          <a:xfrm>
            <a:off x="11569903" y="4572000"/>
            <a:ext cx="73152" cy="1371600"/>
          </a:xfrm>
          <a:prstGeom prst="rect">
            <a:avLst/>
          </a:prstGeom>
          <a:solidFill>
            <a:srgbClr val="64CAAD"/>
          </a:solidFill>
          <a:ln>
            <a:noFill/>
          </a:ln>
          <a:effectLst/>
        </p:spPr>
        <p:txBody>
          <a:bodyPr rtlCol="0" anchor="ctr"/>
          <a:lstStyle/>
          <a:p>
            <a:pPr algn="ctr"/>
          </a:p>
        </p:txBody>
      </p:sp>
      <p:sp>
        <p:nvSpPr>
          <p:cNvPr id="8" name="TextBox 7"/>
          <p:cNvSpPr txBox="1"/>
          <p:nvPr/>
        </p:nvSpPr>
        <p:spPr>
          <a:xfrm>
            <a:off x="731520" y="468172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האצלה לסוכן משנה</a:t>
            </a:r>
          </a:p>
        </p:txBody>
      </p:sp>
      <p:sp>
        <p:nvSpPr>
          <p:cNvPr id="9" name="TextBox 8"/>
          <p:cNvSpPr txBox="1"/>
          <p:nvPr/>
        </p:nvSpPr>
        <p:spPr>
          <a:xfrm>
            <a:off x="731520" y="5010912"/>
            <a:ext cx="10682935" cy="868680"/>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השתמש בסוכן ‎report-checker‎ כדי להשוות את ‎03_reports/draft.md‎ למקורות. החזר רק נתונים ללא מקור וסתירות.</a:t>
            </a:r>
          </a:p>
        </p:txBody>
      </p:sp>
      <p:sp>
        <p:nvSpPr>
          <p:cNvPr id="10" name="TextBox 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27</a:t>
            </a:r>
            <a:r>
              <a:rPr sz="1200" b="0" i="0" lang="he-IL">
                <a:solidFill>
                  <a:srgbClr val="8D9299"/>
                </a:solidFill>
                <a:latin typeface="Rubik"/>
                <a:ea typeface="Rubik"/>
                <a:cs typeface="Rubik"/>
              </a:rPr>
              <a:t>  |  Claude Code ליועצי משכנתאות</a:t>
            </a:r>
          </a:p>
        </p:txBody>
      </p:sp>
      <p:pic>
        <p:nvPicPr>
          <p:cNvPr id="11" name="Picture 10"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סיכום</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תקלות נפוצות</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graphicFrame>
        <p:nvGraphicFramePr>
          <p:cNvPr id="5" name="Table 4"/>
          <p:cNvGraphicFramePr>
            <a:graphicFrameLocks noGrp="1"/>
          </p:cNvGraphicFramePr>
          <p:nvPr/>
        </p:nvGraphicFramePr>
        <p:xfrm>
          <a:off x="548640" y="1508760"/>
          <a:ext cx="11094414" cy="3401568"/>
        </p:xfrm>
        <a:graphic>
          <a:graphicData uri="http://schemas.openxmlformats.org/drawingml/2006/table">
            <a:tbl>
              <a:tblPr firstRow="1" bandRow="0" rtl="1">
                <a:tableStyleId>{5940675A-B579-460E-94D1-54222C63F5DA}</a:tableStyleId>
              </a:tblPr>
              <a:tblGrid>
                <a:gridCol w="3025749"/>
                <a:gridCol w="8068665"/>
              </a:tblGrid>
              <a:tr h="566928">
                <a:tc>
                  <a:txBody>
                    <a:bodyPr wrap="square"/>
                    <a:lstStyle/>
                    <a:p>
                      <a:pPr rtl="1" algn="r"/>
                      <a:r>
                        <a:rPr sz="1800" b="1" i="0" lang="he-IL">
                          <a:solidFill>
                            <a:srgbClr val="FFFFFF"/>
                          </a:solidFill>
                          <a:latin typeface="Rubik"/>
                          <a:ea typeface="Rubik"/>
                          <a:cs typeface="Rubik"/>
                        </a:rPr>
                        <a:t>תקלה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בקשת תיקון ממוקדת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66928">
                <a:tc>
                  <a:txBody>
                    <a:bodyPr wrap="square"/>
                    <a:lstStyle/>
                    <a:p>
                      <a:pPr rtl="1" algn="r"/>
                      <a:r>
                        <a:rPr sz="1800" b="1" i="0" lang="he-IL">
                          <a:solidFill>
                            <a:srgbClr val="0A1A33"/>
                          </a:solidFill>
                          <a:latin typeface="Rubik"/>
                          <a:ea typeface="Rubik"/>
                          <a:cs typeface="Rubik"/>
                        </a:rPr>
                        <a:t>תיקייה שגויה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„באיזו תיקייה אתה עובד?”</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1" algn="r"/>
                      <a:r>
                        <a:rPr sz="1800" b="1" i="0" lang="he-IL">
                          <a:solidFill>
                            <a:srgbClr val="0A1A33"/>
                          </a:solidFill>
                          <a:latin typeface="Rubik"/>
                          <a:ea typeface="Rubik"/>
                          <a:cs typeface="Rubik"/>
                        </a:rPr>
                        <a:t>קובץ שלא נקרא</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„‎scan_0012.txt‎ חסר ברשימה. קרא אותו.”</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66928">
                <a:tc>
                  <a:txBody>
                    <a:bodyPr wrap="square"/>
                    <a:lstStyle/>
                    <a:p>
                      <a:pPr rtl="1" algn="r"/>
                      <a:r>
                        <a:rPr sz="1800" b="1" i="0" lang="he-IL">
                          <a:solidFill>
                            <a:srgbClr val="0A1A33"/>
                          </a:solidFill>
                          <a:latin typeface="Rubik"/>
                          <a:ea typeface="Rubik"/>
                          <a:cs typeface="Rubik"/>
                        </a:rPr>
                        <a:t>תוצר במקום אחר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„העבר את הדוח ל־‎03_reports‎.”</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1" algn="r"/>
                      <a:r>
                        <a:rPr sz="1800" b="1" i="0" lang="he-IL">
                          <a:solidFill>
                            <a:srgbClr val="0A1A33"/>
                          </a:solidFill>
                          <a:latin typeface="Rubik"/>
                          <a:ea typeface="Rubik"/>
                          <a:cs typeface="Rubik"/>
                        </a:rPr>
                        <a:t>מידע חסר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„סמן ׳חסר׳ והוסף לשאלות.”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66928">
                <a:tc>
                  <a:txBody>
                    <a:bodyPr wrap="square"/>
                    <a:lstStyle/>
                    <a:p>
                      <a:pPr rtl="1" algn="r"/>
                      <a:r>
                        <a:rPr sz="1800" b="1" i="0" lang="he-IL">
                          <a:solidFill>
                            <a:srgbClr val="0A1A33"/>
                          </a:solidFill>
                          <a:latin typeface="Rubik"/>
                          <a:ea typeface="Rubik"/>
                          <a:cs typeface="Rubik"/>
                        </a:rPr>
                        <a:t>מגבלת שימוש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ממתינים לחידוש. טבעת השימוש ליד בורר המודל.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bl>
          </a:graphicData>
        </a:graphic>
      </p:graphicFrame>
      <p:sp>
        <p:nvSpPr>
          <p:cNvPr id="6" name="TextBox 5"/>
          <p:cNvSpPr txBox="1"/>
          <p:nvPr/>
        </p:nvSpPr>
        <p:spPr>
          <a:xfrm>
            <a:off x="548640" y="525780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435FB5"/>
                </a:solidFill>
                <a:latin typeface="Rubik"/>
                <a:ea typeface="Rubik"/>
                <a:cs typeface="Rubik"/>
              </a:rPr>
              <a:t>העיקרון: </a:t>
            </a:r>
            <a:r>
              <a:rPr sz="1900" b="0" i="0" lang="he-IL">
                <a:solidFill>
                  <a:srgbClr val="0A1A33"/>
                </a:solidFill>
                <a:latin typeface="Rubik"/>
                <a:ea typeface="Rubik"/>
                <a:cs typeface="Rubik"/>
              </a:rPr>
              <a:t>מתארים מה קרה בפועל ומבקשים תיקון אחד.</a:t>
            </a:r>
          </a:p>
        </p:txBody>
      </p:sp>
      <p:sp>
        <p:nvSpPr>
          <p:cNvPr id="7" name="TextBox 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28</a:t>
            </a:r>
            <a:r>
              <a:rPr sz="1200" b="0" i="0" lang="he-IL">
                <a:solidFill>
                  <a:srgbClr val="8D9299"/>
                </a:solidFill>
                <a:latin typeface="Rubik"/>
                <a:ea typeface="Rubik"/>
                <a:cs typeface="Rubik"/>
              </a:rPr>
              <a:t>  |  Claude Code ליועצי משכנתאות</a:t>
            </a:r>
          </a:p>
        </p:txBody>
      </p:sp>
      <p:pic>
        <p:nvPicPr>
          <p:cNvPr id="8" name="Picture 7"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סיכום</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בדיקת התוצר של המשתתף</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pose-clipboard.png"/>
          <p:cNvPicPr>
            <a:picLocks noChangeAspect="1"/>
          </p:cNvPicPr>
          <p:nvPr/>
        </p:nvPicPr>
        <p:blipFill>
          <a:blip r:embed="rId2"/>
          <a:stretch>
            <a:fillRect/>
          </a:stretch>
        </p:blipFill>
        <p:spPr>
          <a:xfrm>
            <a:off x="685800" y="1417319"/>
            <a:ext cx="2235459" cy="4937760"/>
          </a:xfrm>
          <a:prstGeom prst="rect">
            <a:avLst/>
          </a:prstGeom>
        </p:spPr>
      </p:pic>
      <p:sp>
        <p:nvSpPr>
          <p:cNvPr id="6" name="Rounded Rectangle 5"/>
          <p:cNvSpPr/>
          <p:nvPr/>
        </p:nvSpPr>
        <p:spPr>
          <a:xfrm>
            <a:off x="7947507" y="1600200"/>
            <a:ext cx="3695547" cy="1828800"/>
          </a:xfrm>
          <a:prstGeom prst="roundRect">
            <a:avLst>
              <a:gd name="adj" fmla="val 8000"/>
            </a:avLst>
          </a:prstGeom>
          <a:solidFill>
            <a:srgbClr val="F7F8F8"/>
          </a:solidFill>
          <a:ln>
            <a:noFill/>
          </a:ln>
          <a:effectLst/>
        </p:spPr>
        <p:txBody>
          <a:bodyPr rtlCol="0" anchor="ctr"/>
          <a:lstStyle/>
          <a:p>
            <a:pPr algn="ctr"/>
          </a:p>
        </p:txBody>
      </p:sp>
      <p:sp>
        <p:nvSpPr>
          <p:cNvPr id="7" name="Rounded Rectangle 6"/>
          <p:cNvSpPr/>
          <p:nvPr/>
        </p:nvSpPr>
        <p:spPr>
          <a:xfrm>
            <a:off x="11048695" y="1892807"/>
            <a:ext cx="347472" cy="347472"/>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8" name="TextBox 7"/>
          <p:cNvSpPr txBox="1"/>
          <p:nvPr/>
        </p:nvSpPr>
        <p:spPr>
          <a:xfrm>
            <a:off x="8221827" y="1828800"/>
            <a:ext cx="268970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מקורות שמורים</a:t>
            </a:r>
          </a:p>
        </p:txBody>
      </p:sp>
      <p:sp>
        <p:nvSpPr>
          <p:cNvPr id="9" name="TextBox 8"/>
          <p:cNvSpPr txBox="1"/>
          <p:nvPr/>
        </p:nvSpPr>
        <p:spPr>
          <a:xfrm>
            <a:off x="8221827" y="2377440"/>
            <a:ext cx="3146907" cy="91440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5 קבצים ב־‎01_originals‎</a:t>
            </a:r>
          </a:p>
        </p:txBody>
      </p:sp>
      <p:sp>
        <p:nvSpPr>
          <p:cNvPr id="10" name="Rounded Rectangle 9"/>
          <p:cNvSpPr/>
          <p:nvPr/>
        </p:nvSpPr>
        <p:spPr>
          <a:xfrm>
            <a:off x="3977640" y="1600200"/>
            <a:ext cx="3695547" cy="1828800"/>
          </a:xfrm>
          <a:prstGeom prst="roundRect">
            <a:avLst>
              <a:gd name="adj" fmla="val 8000"/>
            </a:avLst>
          </a:prstGeom>
          <a:solidFill>
            <a:srgbClr val="F7F8F8"/>
          </a:solidFill>
          <a:ln>
            <a:noFill/>
          </a:ln>
          <a:effectLst/>
        </p:spPr>
        <p:txBody>
          <a:bodyPr rtlCol="0" anchor="ctr"/>
          <a:lstStyle/>
          <a:p>
            <a:pPr algn="ctr"/>
          </a:p>
        </p:txBody>
      </p:sp>
      <p:sp>
        <p:nvSpPr>
          <p:cNvPr id="11" name="Rounded Rectangle 10"/>
          <p:cNvSpPr/>
          <p:nvPr/>
        </p:nvSpPr>
        <p:spPr>
          <a:xfrm>
            <a:off x="7078827" y="1892807"/>
            <a:ext cx="347472" cy="347472"/>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2" name="TextBox 11"/>
          <p:cNvSpPr txBox="1"/>
          <p:nvPr/>
        </p:nvSpPr>
        <p:spPr>
          <a:xfrm>
            <a:off x="4251960" y="1828800"/>
            <a:ext cx="268970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עותקים מסודרים</a:t>
            </a:r>
          </a:p>
        </p:txBody>
      </p:sp>
      <p:sp>
        <p:nvSpPr>
          <p:cNvPr id="13" name="TextBox 12"/>
          <p:cNvSpPr txBox="1"/>
          <p:nvPr/>
        </p:nvSpPr>
        <p:spPr>
          <a:xfrm>
            <a:off x="4251960" y="2377440"/>
            <a:ext cx="3146907" cy="91440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4 עותקים ב־‎02_organized‎</a:t>
            </a:r>
          </a:p>
        </p:txBody>
      </p:sp>
      <p:sp>
        <p:nvSpPr>
          <p:cNvPr id="14" name="Rounded Rectangle 13"/>
          <p:cNvSpPr/>
          <p:nvPr/>
        </p:nvSpPr>
        <p:spPr>
          <a:xfrm>
            <a:off x="7947507" y="3703320"/>
            <a:ext cx="3695547" cy="1828800"/>
          </a:xfrm>
          <a:prstGeom prst="roundRect">
            <a:avLst>
              <a:gd name="adj" fmla="val 8000"/>
            </a:avLst>
          </a:prstGeom>
          <a:solidFill>
            <a:srgbClr val="F7F8F8"/>
          </a:solidFill>
          <a:ln>
            <a:noFill/>
          </a:ln>
          <a:effectLst/>
        </p:spPr>
        <p:txBody>
          <a:bodyPr rtlCol="0" anchor="ctr"/>
          <a:lstStyle/>
          <a:p>
            <a:pPr algn="ctr"/>
          </a:p>
        </p:txBody>
      </p:sp>
      <p:sp>
        <p:nvSpPr>
          <p:cNvPr id="15" name="Rounded Rectangle 14"/>
          <p:cNvSpPr/>
          <p:nvPr/>
        </p:nvSpPr>
        <p:spPr>
          <a:xfrm>
            <a:off x="11048695" y="3995928"/>
            <a:ext cx="347472" cy="347472"/>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6" name="TextBox 15"/>
          <p:cNvSpPr txBox="1"/>
          <p:nvPr/>
        </p:nvSpPr>
        <p:spPr>
          <a:xfrm>
            <a:off x="8221827" y="3931920"/>
            <a:ext cx="268970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טיוטה עם מקורות</a:t>
            </a:r>
          </a:p>
        </p:txBody>
      </p:sp>
      <p:sp>
        <p:nvSpPr>
          <p:cNvPr id="17" name="TextBox 16"/>
          <p:cNvSpPr txBox="1"/>
          <p:nvPr/>
        </p:nvSpPr>
        <p:spPr>
          <a:xfrm>
            <a:off x="8221827" y="4480559"/>
            <a:ext cx="3146907" cy="91440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לכל נתון יש מקור</a:t>
            </a:r>
          </a:p>
        </p:txBody>
      </p:sp>
      <p:sp>
        <p:nvSpPr>
          <p:cNvPr id="18" name="Rounded Rectangle 17"/>
          <p:cNvSpPr/>
          <p:nvPr/>
        </p:nvSpPr>
        <p:spPr>
          <a:xfrm>
            <a:off x="3977640" y="3703320"/>
            <a:ext cx="3695547" cy="1828800"/>
          </a:xfrm>
          <a:prstGeom prst="roundRect">
            <a:avLst>
              <a:gd name="adj" fmla="val 8000"/>
            </a:avLst>
          </a:prstGeom>
          <a:solidFill>
            <a:srgbClr val="F7F8F8"/>
          </a:solidFill>
          <a:ln>
            <a:noFill/>
          </a:ln>
          <a:effectLst/>
        </p:spPr>
        <p:txBody>
          <a:bodyPr rtlCol="0" anchor="ctr"/>
          <a:lstStyle/>
          <a:p>
            <a:pPr algn="ctr"/>
          </a:p>
        </p:txBody>
      </p:sp>
      <p:sp>
        <p:nvSpPr>
          <p:cNvPr id="19" name="Rounded Rectangle 18"/>
          <p:cNvSpPr/>
          <p:nvPr/>
        </p:nvSpPr>
        <p:spPr>
          <a:xfrm>
            <a:off x="7078827" y="3995928"/>
            <a:ext cx="347472" cy="347472"/>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20" name="TextBox 19"/>
          <p:cNvSpPr txBox="1"/>
          <p:nvPr/>
        </p:nvSpPr>
        <p:spPr>
          <a:xfrm>
            <a:off x="4251960" y="3931920"/>
            <a:ext cx="268970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חוסרים ושאלות</a:t>
            </a:r>
          </a:p>
        </p:txBody>
      </p:sp>
      <p:sp>
        <p:nvSpPr>
          <p:cNvPr id="21" name="TextBox 20"/>
          <p:cNvSpPr txBox="1"/>
          <p:nvPr/>
        </p:nvSpPr>
        <p:spPr>
          <a:xfrm>
            <a:off x="4251960" y="4480559"/>
            <a:ext cx="3146907" cy="91440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עו״ש חסר, סתירה מסומנת</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29</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A33"/>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64CAAD"/>
                </a:solidFill>
                <a:latin typeface="Rubik"/>
                <a:ea typeface="Rubik"/>
                <a:cs typeface="Rubik"/>
              </a:rPr>
              <a:t>סיכום</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FFFFFF"/>
                </a:solidFill>
                <a:latin typeface="Rubik"/>
                <a:ea typeface="Rubik"/>
                <a:cs typeface="Rubik"/>
              </a:rPr>
              <a:t>שאלות והמשך 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pose-thinking.png"/>
          <p:cNvPicPr>
            <a:picLocks noChangeAspect="1"/>
          </p:cNvPicPr>
          <p:nvPr/>
        </p:nvPicPr>
        <p:blipFill>
          <a:blip r:embed="rId2"/>
          <a:stretch>
            <a:fillRect/>
          </a:stretch>
        </p:blipFill>
        <p:spPr>
          <a:xfrm>
            <a:off x="640080" y="1143000"/>
            <a:ext cx="2425986" cy="5212080"/>
          </a:xfrm>
          <a:prstGeom prst="rect">
            <a:avLst/>
          </a:prstGeom>
        </p:spPr>
      </p:pic>
      <p:sp>
        <p:nvSpPr>
          <p:cNvPr id="6" name="TextBox 5"/>
          <p:cNvSpPr txBox="1"/>
          <p:nvPr/>
        </p:nvSpPr>
        <p:spPr>
          <a:xfrm>
            <a:off x="4160520" y="1600200"/>
            <a:ext cx="7482535"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שאלות הבנה</a:t>
            </a:r>
          </a:p>
        </p:txBody>
      </p:sp>
      <p:sp>
        <p:nvSpPr>
          <p:cNvPr id="7" name="TextBox 6"/>
          <p:cNvSpPr txBox="1"/>
          <p:nvPr/>
        </p:nvSpPr>
        <p:spPr>
          <a:xfrm>
            <a:off x="4160520" y="2103120"/>
            <a:ext cx="7482535" cy="1645920"/>
          </a:xfrm>
          <a:prstGeom prst="rect">
            <a:avLst/>
          </a:prstGeom>
          <a:noFill/>
        </p:spPr>
        <p:txBody>
          <a:bodyPr wrap="square" lIns="73152" rIns="73152" tIns="54864" bIns="54864" anchor="t">
            <a:noAutofit/>
          </a:bodyPr>
          <a:lstStyle/>
          <a:p>
            <a:pPr rtl="1" algn="r">
              <a:lnSpc>
                <a:spcPct val="110000"/>
              </a:lnSpc>
              <a:spcAft>
                <a:spcPts val="1000"/>
              </a:spcAft>
            </a:pPr>
            <a:r>
              <a:rPr sz="1900" b="0" i="0" lang="he-IL">
                <a:solidFill>
                  <a:srgbClr val="FFFFFF"/>
                </a:solidFill>
                <a:latin typeface="Rubik"/>
                <a:ea typeface="Rubik"/>
                <a:cs typeface="Rubik"/>
              </a:rPr>
              <a:t>מתי כלל, ומתי סקיל?</a:t>
            </a:r>
          </a:p>
          <a:p>
            <a:pPr rtl="1" algn="r">
              <a:lnSpc>
                <a:spcPct val="110000"/>
              </a:lnSpc>
              <a:spcAft>
                <a:spcPts val="1000"/>
              </a:spcAft>
            </a:pPr>
            <a:r>
              <a:rPr sz="1900" b="0" i="0" lang="he-IL">
                <a:solidFill>
                  <a:srgbClr val="FFFFFF"/>
                </a:solidFill>
                <a:latin typeface="Rubik"/>
                <a:ea typeface="Rubik"/>
                <a:cs typeface="Rubik"/>
              </a:rPr>
              <a:t>למה לא בוחרים בין שני הסכומים?</a:t>
            </a:r>
          </a:p>
          <a:p>
            <a:pPr rtl="1" algn="r">
              <a:lnSpc>
                <a:spcPct val="110000"/>
              </a:lnSpc>
              <a:spcAft>
                <a:spcPts val="1000"/>
              </a:spcAft>
            </a:pPr>
            <a:r>
              <a:rPr sz="1900" b="0" i="0" lang="he-IL">
                <a:solidFill>
                  <a:srgbClr val="FFFFFF"/>
                </a:solidFill>
                <a:latin typeface="Rubik"/>
                <a:ea typeface="Rubik"/>
                <a:cs typeface="Rubik"/>
              </a:rPr>
              <a:t>מה סוכן המשנה מחזיר?</a:t>
            </a:r>
          </a:p>
        </p:txBody>
      </p:sp>
      <p:sp>
        <p:nvSpPr>
          <p:cNvPr id="8" name="TextBox 7"/>
          <p:cNvSpPr txBox="1"/>
          <p:nvPr/>
        </p:nvSpPr>
        <p:spPr>
          <a:xfrm>
            <a:off x="4160520" y="3794760"/>
            <a:ext cx="7482535"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משימת המשך</a:t>
            </a:r>
          </a:p>
        </p:txBody>
      </p:sp>
      <p:sp>
        <p:nvSpPr>
          <p:cNvPr id="9" name="TextBox 8"/>
          <p:cNvSpPr txBox="1"/>
          <p:nvPr/>
        </p:nvSpPr>
        <p:spPr>
          <a:xfrm>
            <a:off x="4160520" y="4297680"/>
            <a:ext cx="7482535" cy="1188720"/>
          </a:xfrm>
          <a:prstGeom prst="rect">
            <a:avLst/>
          </a:prstGeom>
          <a:noFill/>
        </p:spPr>
        <p:txBody>
          <a:bodyPr wrap="square" lIns="73152" rIns="73152" tIns="54864" bIns="54864" anchor="t">
            <a:noAutofit/>
          </a:bodyPr>
          <a:lstStyle/>
          <a:p>
            <a:pPr rtl="1" algn="r">
              <a:lnSpc>
                <a:spcPct val="110000"/>
              </a:lnSpc>
              <a:spcAft>
                <a:spcPts val="600"/>
              </a:spcAft>
            </a:pPr>
            <a:r>
              <a:rPr sz="1900" b="0" i="0" lang="he-IL">
                <a:solidFill>
                  <a:srgbClr val="FFFFFF"/>
                </a:solidFill>
                <a:latin typeface="Rubik"/>
                <a:ea typeface="Rubik"/>
                <a:cs typeface="Rubik"/>
              </a:rPr>
              <a:t>תיק פיקטיבי חדש בתיקייה חדשה,</a:t>
            </a:r>
          </a:p>
          <a:p>
            <a:pPr rtl="1" algn="r">
              <a:lnSpc>
                <a:spcPct val="110000"/>
              </a:lnSpc>
              <a:spcAft>
                <a:spcPts val="600"/>
              </a:spcAft>
            </a:pPr>
            <a:r>
              <a:rPr sz="1900" b="0" i="0" lang="he-IL">
                <a:solidFill>
                  <a:srgbClr val="FFFFFF"/>
                </a:solidFill>
                <a:latin typeface="Rubik"/>
                <a:ea typeface="Rubik"/>
                <a:cs typeface="Rubik"/>
              </a:rPr>
              <a:t>הפעלת הסקיל ‎prepare-bank-file‎, ובדיקה לפי הרשימה.</a:t>
            </a:r>
          </a:p>
        </p:txBody>
      </p:sp>
      <p:sp>
        <p:nvSpPr>
          <p:cNvPr id="10" name="TextBox 9"/>
          <p:cNvSpPr txBox="1"/>
          <p:nvPr/>
        </p:nvSpPr>
        <p:spPr>
          <a:xfrm>
            <a:off x="4160520" y="5623560"/>
            <a:ext cx="7482535" cy="457200"/>
          </a:xfrm>
          <a:prstGeom prst="rect">
            <a:avLst/>
          </a:prstGeom>
          <a:noFill/>
        </p:spPr>
        <p:txBody>
          <a:bodyPr wrap="square" lIns="73152" rIns="73152" tIns="54864" bIns="54864" anchor="t">
            <a:noAutofit/>
          </a:bodyPr>
          <a:lstStyle/>
          <a:p>
            <a:pPr rtl="1" algn="r">
              <a:lnSpc>
                <a:spcPct val="110000"/>
              </a:lnSpc>
              <a:spcAft>
                <a:spcPts val="600"/>
              </a:spcAft>
            </a:pPr>
            <a:r>
              <a:rPr sz="1800" b="1" i="0" lang="he-IL">
                <a:solidFill>
                  <a:srgbClr val="D4D6D8"/>
                </a:solidFill>
                <a:latin typeface="Rubik"/>
                <a:ea typeface="Rubik"/>
                <a:cs typeface="Rubik"/>
              </a:rPr>
              <a:t>יוחנן שבדרון</a:t>
            </a:r>
            <a:r>
              <a:rPr sz="1800" b="0" i="0" lang="he-IL">
                <a:solidFill>
                  <a:srgbClr val="D4D6D8"/>
                </a:solidFill>
                <a:latin typeface="Rubik"/>
                <a:ea typeface="Rubik"/>
                <a:cs typeface="Rubik"/>
              </a:rPr>
              <a:t>  |  ‎SHWADRON.AI‎</a:t>
            </a:r>
          </a:p>
        </p:txBody>
      </p:sp>
      <p:sp>
        <p:nvSpPr>
          <p:cNvPr id="11" name="TextBox 10"/>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30</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