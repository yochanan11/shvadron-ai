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 (שקפים 1–3: 8 דקות).</a:t>
            </a:r>
          </a:p>
          <a:p>
            <a:r>
              <a:t>פתיחה: מי אני, מה נעשה היום ומה כל משתתף ייקח מהשיעור.</a:t>
            </a:r>
          </a:p>
          <a:p>
            <a:r>
              <a:t>להזכיר: כל הנתונים בשיעור פיקטיביים. לא עובדים היום על תיקים אמיתיים של לקוחות.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המצב שכל יועץ מכיר: קבצים מוואטסאפ ומהמייל עם שמות כמו doc1 ו־scan.</a:t>
            </a:r>
          </a:p>
          <a:p>
            <a:r>
              <a:t>המטרה היום היא לא תיק אמיתי. בונים תהליך עבודה עם Claude Code על תיק פיקטיבי של משפחת לוי.</a:t>
            </a:r>
          </a:p>
          <a:p>
            <a:r>
              <a:t>הדוגמה עקבית לאורך כל השיעור: 5 קבצים, אחד מהם כפול. חסרים דפי העו״ש. הסכום המבוקש: 1,200,000 ₪ בשאלון, 1,300,000 ₪ בסיכום השיחה.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ארבעת חלקי התיק שנבנה עד סוף השיעור. הכול נשמר כקבצים בתיקייה של התרגול.</a:t>
            </a:r>
          </a:p>
          <a:p>
            <a:r>
              <a:t>להדגיש: Claude מכין טיוטה, והיועץ אחראי לבדוק ולהחליט. שום דבר לא יוצא לבנק בלי בדיקה ושליחה של היועץ.</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8 דקות, כולל זמן התקנה למשתתפים (שקפים 4–7: 22 דקות).</a:t>
            </a:r>
          </a:p>
          <a:p>
            <a:r>
              <a:t>משתתף שכבר התקין: לבדוק שהוא מחובר ושהלשונית Code נפתחת.</a:t>
            </a:r>
          </a:p>
          <a:p>
            <a:r>
              <a:t>אם אחרי הלחיצה על Code מופיעה בקשה לשדרג, החשבון לא על מנוי מתאים.</a:t>
            </a:r>
          </a:p>
          <a:p>
            <a:r>
              <a:t>Git: באפליקציה נדרש רק לסשנים שרצים ב־worktree נפרד, ולא נשתמש בזה היום. גרסאות ישנות של האפליקציה ב־Windows ביקשו Git לכל סשן מקומי; אם מופיעה הבקשה הזו, לעדכן את האפליקציה.</a:t>
            </a:r>
          </a:p>
          <a:p/>
          <a:p>
            <a:r>
              <a:t>מקורות:</a:t>
            </a:r>
          </a:p>
          <a:p>
            <a:r>
              <a:t>https://code.claude.com/docs/en/desktop-quickstart</a:t>
            </a:r>
          </a:p>
          <a:p>
            <a:r>
              <a:t>https://code.claude.com/docs/en/desktop (Windows requirements, Troubleshooting)</a:t>
            </a:r>
          </a:p>
          <a:p>
            <a:r>
              <a:t>הורדה ישירה x64: https://claude.ai/api/desktop/win32/x64/setup/latest/redirect</a:t>
            </a:r>
          </a:p>
          <a:p>
            <a:r>
              <a:t>ARM64: https://claude.ai/api/desktop/win32/arm64/setup/latest/redirect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להדגים בשיתוף מסך, ואז לתת למשתתפים לבצע. לוודא שכולם רואים את שם התיקייה levi-case ליד בורר הסביבה.</a:t>
            </a:r>
          </a:p>
          <a:p>
            <a:r>
              <a:t>אם בורר הסביבה לא מופיע מתחת לתיבת ההוראות, זה המבנה הישן של המסך. התיעוד מסביר איך לבדוק באיזו גרסה המשתתף נמצא.</a:t>
            </a:r>
          </a:p>
          <a:p>
            <a:r>
              <a:t>שמות האפשרויות מופיעים באנגלית, כמו בממשק.</a:t>
            </a:r>
          </a:p>
          <a:p/>
          <a:p>
            <a:r>
              <a:t>מקורות:</a:t>
            </a:r>
          </a:p>
          <a:p>
            <a:r>
              <a:t>https://code.claude.com/docs/en/desktop-quickstart (Start your first session)</a:t>
            </a:r>
          </a:p>
          <a:p>
            <a:r>
              <a:t>https://code.claude.com/docs/en/desktop (Choose a permission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התרשים הוא המחשה ולא צילום מסך. בשיעור עוברים על המסך האמיתי בשיתוף מסך.</a:t>
            </a:r>
          </a:p>
          <a:p>
            <a:r>
              <a:t>שורת הבקרים שמתחת לתיבת ההוראות: בורר הסביבה הוא הבקר הראשון, בורר התיקייה לידו, ובורר המודל בקצה.</a:t>
            </a:r>
          </a:p>
          <a:p>
            <a:r>
              <a:t>מצבי הרשאות באפליקציה: Manual (שואל לפני עריכה או פקודה), Accept edits, Plan, Auto, וגם Bypass permissions, שלא נשתמש בו.</a:t>
            </a:r>
          </a:p>
          <a:p>
            <a:r>
              <a:t>בגרסאות קודמות המצבים נקראו Ask permissions,‏ Auto accept edits ו־Plan mode.</a:t>
            </a:r>
          </a:p>
          <a:p>
            <a:r>
              <a:t>המיקום המדויק של בורר ההרשאות בתוך השורה עשוי להשתנות בין גרסאות.</a:t>
            </a:r>
          </a:p>
          <a:p/>
          <a:p>
            <a:r>
              <a:t>מקורות:</a:t>
            </a:r>
          </a:p>
          <a:p>
            <a:r>
              <a:t>https://code.claude.com/docs/en/desktop-quickstart</a:t>
            </a:r>
          </a:p>
          <a:p>
            <a:r>
              <a:t>https://code.claude.com/docs/en/desktop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המסר: זה אותו Claude Code. האפליקציה היא דרך נוחה לעבוד בלי טרמינל.</a:t>
            </a:r>
          </a:p>
          <a:p>
            <a:r>
              <a:t>גם בטרמינל כותבים ל־Claude בשפה רגילה, ולא צריך לדעת פקודות.</a:t>
            </a:r>
          </a:p>
          <a:p>
            <a:r>
              <a:t>באפליקציה יש גם חלונית טרמינל (Ctrl+`), אבל היום לא נשתמש בה.</a:t>
            </a:r>
          </a:p>
          <a:p>
            <a:r>
              <a:t>הבדלים: קיצור Shift+Tab להחלפת מצב הרשאות לא עובד באפליקציה. Agent Teams זמין רק בטרמינל.</a:t>
            </a:r>
          </a:p>
          <a:p/>
          <a:p>
            <a:r>
              <a:t>מקורות:</a:t>
            </a:r>
          </a:p>
          <a:p>
            <a:r>
              <a:t>https://code.claude.com/docs/en/desktop (Coming from the CLI)</a:t>
            </a:r>
          </a:p>
          <a:p>
            <a:r>
              <a:t>https://code.claude.com/docs/en/how-claude-code-works (Environments and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8–13: 20 דקות).</a:t>
            </a:r>
          </a:p>
          <a:p>
            <a:r>
              <a:t>Claude Code הוא שכבה סביב המודל: הוא נותן למודל כלים ומנהל את ההקשר.</a:t>
            </a:r>
          </a:p>
          <a:p>
            <a:r>
              <a:t>התיעוד מתאר שלושה שלבים: איסוף מידע (gather context), ביצוע (take action) ובדיקה (verify results). השלבים חוזרים עד שהמשימה הושלמה.</a:t>
            </a:r>
          </a:p>
          <a:p>
            <a:r>
              <a:t>הכלים: פעולות על קבצים, חיפוש, הרצת פקודות ואינטרנט. מצב ההרשאות קובע מתי Claude שואל לפני פעולה.</a:t>
            </a:r>
          </a:p>
          <a:p>
            <a:r>
              <a:t>אפשר לעצור ולתקן בכל שלב: כפתור עצירה, או לכתוב תיקון ולשלוח.</a:t>
            </a:r>
          </a:p>
          <a:p/>
          <a:p>
            <a:r>
              <a:t>מקורות:</a:t>
            </a:r>
          </a:p>
          <a:p>
            <a:r>
              <a:t>https://code.claude.com/docs/en/how-claude-code-works (The agentic loop, Tools,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a:t>
            </a:r>
          </a:p>
          <a:p>
            <a:r>
              <a:t>בסשן מקומי (Local) הקבצים והפקודות רצים במחשב שלכם, אבל המודל עצמו רץ בשרתי Anthropic, ולכן התוכן שנקרא נשלח לעיבוד.</a:t>
            </a:r>
          </a:p>
          <a:p>
            <a:r>
              <a:t>עבודה עם מסמכים אמיתיים של לקוחות דורשת החלטה מסודרת על מדיניות פרטיות, הסכמת לקוחות והגדרות החשבון. זה מחוץ להיקף השיעור.</a:t>
            </a:r>
          </a:p>
          <a:p/>
          <a:p>
            <a:r>
              <a:t>מקורות:</a:t>
            </a:r>
          </a:p>
          <a:p>
            <a:r>
              <a:t>https://code.claude.com/docs/en/how-claude-code-works (Execution environments, What Claude can access)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שולחים את הבקשה. במצב Manual, Claude יבקש אישור לפני שהוא יוצר את התיקיות.</a:t>
            </a:r>
          </a:p>
          <a:p>
            <a:r>
              <a:t>אחרי הביצוע בודקים בסייר הקבצים של Windows שנוצרו שלוש תיקיות.</a:t>
            </a:r>
          </a:p>
          <a:p>
            <a:r>
              <a:t>את CLAUDE.md ניצור בשקף 12. התיקייה ‎.claude תיווצר כשנשמור סקיל או סוכן משנה. אם היא לא מופיעה בסייר, ייתכן שהיא מוסתרת כי השם מתחיל בנקודה.</a:t>
            </a:r>
          </a:p>
          <a:p/>
          <a:p>
            <a:r>
              <a:t>מקורות:</a:t>
            </a:r>
          </a:p>
          <a:p>
            <a:r>
              <a:t>https://code.claude.com/docs/en/memory</a:t>
            </a:r>
          </a:p>
          <a:p>
            <a:r>
              <a:t>https://code.claude.com/docs/en/skills</a:t>
            </a:r>
          </a:p>
          <a:p>
            <a:r>
              <a:t>https://code.claude.com/docs/en/sub-agents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כל שיחה חדשה מתחילה עם הקשר ריק. מה שנשמר בין שיחות: הקבצים בתיקייה, CLAUDE.md, וזיכרון אוטומטי ש־Claude כותב לעצמו.</a:t>
            </a:r>
          </a:p>
          <a:p>
            <a:r>
              <a:t>לכן תוצר חשוב שומרים כקובץ, וכלל קבוע כותבים ב־CLAUDE.md ולא רק בשיחה.</a:t>
            </a:r>
          </a:p>
          <a:p>
            <a:r>
              <a:t>גם בתוך שיחה ארוכה, Claude מסכם את השיחה כשההקשר מתמלא, והוראות מתחילת השיחה עלולות ללכת לאיבוד.</a:t>
            </a:r>
          </a:p>
          <a:p/>
          <a:p>
            <a:r>
              <a:t>מקורות:</a:t>
            </a:r>
          </a:p>
          <a:p>
            <a:r>
              <a:t>https://code.claude.com/docs/en/how-claude-code-works (Work with sessions, The context window)</a:t>
            </a:r>
          </a:p>
          <a:p>
            <a:r>
              <a:t>https://code.claude.com/docs/en/memory</a:t>
            </a:r>
          </a:p>
          <a:p>
            <a:r>
              <a:t>https://code.claude.com/docs/en/desktop (Sessions)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מעתיקים את ההוראות לבקשה, או מבקשים מ־Claude ליצור את הקובץ ומקלידים את הכללים.</a:t>
            </a:r>
          </a:p>
          <a:p>
            <a:r>
              <a:t>אפשר לשמור את הקובץ בשורש הפרויקט (‎./CLAUDE.md) או ב־‎./.claude/CLAUDE.md. הקובץ נטען בתחילת כל שיחה.</a:t>
            </a:r>
          </a:p>
          <a:p>
            <a:r>
              <a:t>התיעוד מדגיש ש־Claude מתייחס ל־CLAUDE.md כהקשר ולא כהגדרה נאכפת. כדי לחסום פעולה בכל מקרה משתמשים בהרשאות.</a:t>
            </a:r>
          </a:p>
          <a:p>
            <a:r>
              <a:t>הפקודה ‎/init יוצרת קובץ התחלתי, אבל היום כותבים אותו ידנית כדי להבין מה יש בו.</a:t>
            </a:r>
          </a:p>
          <a:p/>
          <a:p>
            <a:r>
              <a:t>מקורות:</a:t>
            </a:r>
          </a:p>
          <a:p>
            <a:r>
              <a:t>https://code.claude.com/docs/en/memory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ארבעת חלקי הבקשה: משימה, חומרי מקור, תוצר ומגבלות. לא חייבים ניסוח מושלם, אבל מגבלות ברורות חוסכות תיקונים.</a:t>
            </a:r>
          </a:p>
          <a:p>
            <a:r>
              <a:t>מצב Plan: Claude בודק ומציע גישה בלי לערוך קבצים. זה טוב לפני שינוי גדול.</a:t>
            </a:r>
          </a:p>
          <a:p>
            <a:r>
              <a:t>מצב Manual: Claude מבקש אישור לפני עריכה או הרצת פקודה, ומציג מה ישתנה.</a:t>
            </a:r>
          </a:p>
          <a:p>
            <a:r>
              <a:t>את המצב בוחרים בשורה שמתחת לתיבת ההוראות. Shift+Tab לא מחליף מצב באפליקציה.</a:t>
            </a:r>
          </a:p>
          <a:p>
            <a:r>
              <a:t>Auto ו־Bypass permissions לא מתאימים לשלב הלמידה.</a:t>
            </a:r>
          </a:p>
          <a:p/>
          <a:p>
            <a:r>
              <a:t>מקורות:</a:t>
            </a:r>
          </a:p>
          <a:p>
            <a:r>
              <a:t>https://code.claude.com/docs/en/desktop (Choose a permission mode)</a:t>
            </a:r>
          </a:p>
          <a:p>
            <a:r>
              <a:t>https://code.claude.com/docs/en/desktop-quickstart (Review and accept changes)</a:t>
            </a:r>
          </a:p>
          <a:p>
            <a:r>
              <a:t>https://code.claude.com/docs/en/how-claude-code-works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14–22: 40 דקות).</a:t>
            </a:r>
          </a:p>
          <a:p>
            <a:r>
              <a:t>כל הנתונים פיקטיביים, לתרגול בלבד.</a:t>
            </a:r>
          </a:p>
          <a:p>
            <a:r>
              <a:t>רשימת המסמכים בתרגיל היא דוגמה שהיועץ מגדיר לעצמו. היא לא רשימת דרישות רשמית או אחידה של הבנקים.</a:t>
            </a:r>
          </a:p>
          <a:p>
            <a:r>
              <a:t>שני האתגרים המכוונים בתרגיל: הסכום המבוקש שונה בין השאלון לסיכום השיחה, ודפי העו״ש חסרים. וגם קובץ כפול: doc1_copy.txt.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שמות הקבצים באנגלית בכוונה: כך הנתיבים מוצגים נכון גם בתוך טקסט בעברית. אפשר לעבוד גם עם שמות בעברית.</a:t>
            </a:r>
          </a:p>
          <a:p>
            <a:r>
              <a:t>המשתתפים מעתיקים את הבקשה. אפשר להדביק אותה מהצ׳אט של הזום.</a:t>
            </a:r>
          </a:p>
          <a:p>
            <a:r>
              <a:t>אחרי הביצוע: לפתוח את 01_originals בסייר הקבצים ולוודא שיש בדיוק 5 קבצים, ושבראש כל אחד כתוב „לתרגול בלבד”.</a:t>
            </a:r>
          </a:p>
          <a:p>
            <a:r>
              <a:t>הנתונים כאן הם הבסיס לכל ההמשך: 1,200,000 מול 1,300,000, דפי עו״ש חסרים, ו־doc1 כפול.</a:t>
            </a:r>
          </a:p>
          <a:p>
            <a:r>
              <a:t>אם Claude הוסיף נתונים שלא נתבקשו, מבקשים ממנו להסיר אותם. זו הזדמנות טובה לתרגל בקשת תיקון.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המטרה: לראות מה יש בתיק לפני שמשנים משהו. הבקשה אוסרת במפורש לשנות קבצים.</a:t>
            </a:r>
          </a:p>
          <a:p>
            <a:r>
              <a:t>במצב Manual, Claude יבקש אישור רק לשמירת הטבלה ב־03_reports.</a:t>
            </a:r>
          </a:p>
          <a:p>
            <a:r>
              <a:t>הבדיקה מול הסייר חשובה: אם קובץ חסר בטבלה, Claude לא קרא אותו. התיקון בשקף 28.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משתמשים בבקשה מהשקף 13 (תוכנית בלי לשנות קבצים), במצב Plan או Manual.</a:t>
            </a:r>
          </a:p>
          <a:p>
            <a:r>
              <a:t>שמות הקבצים החדשים הם דוגמה. כל יועץ יכול לקבוע שיטה משלו, וכדאי לכתוב אותה ב־CLAUDE.md.</a:t>
            </a:r>
          </a:p>
          <a:p>
            <a:r>
              <a:t>לשאול את המשתתפים: מה הייתם משנים בתוכנית? ולבקש מ־Claude לעדכן לפני ביצוע.</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המילה החשובה בבקשה היא „העתק”. לא מעבירים ולא מוחקים: המקורות נשארים כמו שהם.</a:t>
            </a:r>
          </a:p>
          <a:p>
            <a:r>
              <a:t>בודקים בסייר: ב־01_originals עדיין 5 קבצים, וב־02_organized יש 4 עותקים.</a:t>
            </a:r>
          </a:p>
          <a:p>
            <a:r>
              <a:t>קובץ המיפוי מאפשר לכל אחד לדעת מאיזה קובץ מקורי הגיע כל עותק.</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כלל המפתח מ־CLAUDE.md: לכל נתון יש קובץ מקור. בלי מקור, הנתון לא נכנס.</a:t>
            </a:r>
          </a:p>
          <a:p>
            <a:r>
              <a:t>השורות המסומנות דורשות פעולה של היועץ: סתירה בסכום, ומסמך חסר.</a:t>
            </a:r>
          </a:p>
          <a:p>
            <a:r>
              <a:t>לבקש ממשתתף אחד להשוות שורה אחת מהטבלה מול הקובץ עצמו. זו בדיקה שהיועץ עושה בכל תיק.</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השאלה למשתתפים: מה Claude היה אמור לעשות כשמצא שני סכומים? התשובה: לא לבחור ולא למצע. מציגים את שניהם, עם המקור של כל אחד.</a:t>
            </a:r>
          </a:p>
          <a:p>
            <a:r>
              <a:t>אם בטבלה של משתתף מופיע רק סכום אחד, מבקשים: „בטבלה מופיע רק 1,200,000. הוסף את הסכום מסיכום השיחה וסמן לבירור.”</a:t>
            </a:r>
          </a:p>
          <a:p>
            <a:r>
              <a:t>ההחלטה על הסכום הנכון היא של היועץ, אחרי בירור עם הלקוח.</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מבנה קבוע: פרטי התיק, מטרת הפנייה, נתונים, מסמכים, חוסרים, שאלות לבירור ומקורות.</a:t>
            </a:r>
          </a:p>
          <a:p>
            <a:r>
              <a:t>הטיוטה נשענת רק על קובץ הריכוז, כך שכל נתון בה כבר מגיע עם מקור.</a:t>
            </a:r>
          </a:p>
          <a:p>
            <a:r>
              <a:t>להדגיש שוב: זו טיוטה לבדיקת היועץ, לא מסמך לבנק.</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בקשה 1 מתרגלת בדיקה עצמית. בכל זאת, היועץ בודק בעצמו לפחות שני נתונים מול המקור.</a:t>
            </a:r>
          </a:p>
          <a:p>
            <a:r>
              <a:t>בקשה 2 היא דוגמה להמשך עבודה אחרי שמגיע מסמך. בתרגול אין קובץ עו״ש. אפשר להדגים אותה רק אם יוצרים קודם קובץ עו״ש פיקטיבי (עם הסימון „לתרגול בלבד”).</a:t>
            </a:r>
          </a:p>
          <a:p>
            <a:r>
              <a:t>את הסתירה בסכום לא פותרים בטיוטה. היא נשארת בשאלות לבירור עד שהיועץ מברר עם הלקוח.</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23–27: 20 דקות).</a:t>
            </a:r>
          </a:p>
          <a:p>
            <a:r>
              <a:t>סקיל הוא תיקייה עם קובץ SKILL.md. בראש הקובץ יש name ו־description, ואחריהם ההוראות.</a:t>
            </a:r>
          </a:p>
          <a:p>
            <a:r>
              <a:t>סקיל של פרויקט נשמר ב־‎.claude/skills/&lt;שם&gt;/SKILL.md. סקיל אישי לכל הפרויקטים נשמר ב־‎~/.claude/skills/.</a:t>
            </a:r>
          </a:p>
          <a:p>
            <a:r>
              <a:t>יש שתי דרכים להפעיל: ‎/שם-הסקיל, או ש־Claude מפעיל אותו לבד לפי התיאור. באפליקציה כותבים / בתיבה, או לוחצים + ואז Slash commands.</a:t>
            </a:r>
          </a:p>
          <a:p>
            <a:r>
              <a:t>ההבדל מ־CLAUDE.md: התוכן של סקיל נטען רק כשמשתמשים בו.</a:t>
            </a:r>
          </a:p>
          <a:p/>
          <a:p>
            <a:r>
              <a:t>מקורות:</a:t>
            </a:r>
          </a:p>
          <a:p>
            <a:r>
              <a:t>https://code.claude.com/docs/en/skills</a:t>
            </a:r>
          </a:p>
          <a:p>
            <a:r>
              <a:t>https://code.claude.com/docs/en/desktop (Skills and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הסקיל אורז את חמשת השלבים שעשינו בשקפים 16–22, יחד עם הכללים.</a:t>
            </a:r>
          </a:p>
          <a:p>
            <a:r>
              <a:t>השדה disable-model-invocation: true קובע ש־Claude לא יפעיל את הסקיל לבד, אלא רק כשהיועץ כותב ‎/prepare-bank-file. זה מתאים לתהליך שיוצר ומשנה קבצים.</a:t>
            </a:r>
          </a:p>
          <a:p>
            <a:r>
              <a:t>השדה description עוזר ל־Claude ולמשתמש להבין מתי להשתמש בסקיל.</a:t>
            </a:r>
          </a:p>
          <a:p/>
          <a:p>
            <a:r>
              <a:t>מקורות:</a:t>
            </a:r>
          </a:p>
          <a:p>
            <a:r>
              <a:t>https://code.claude.com/docs/en/skills (Frontmatter reference, Control who invokes a skill)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הנתיב מוצג עם / כמו בתיעוד. ב־Windows הסייר מציג אותו עם \, וזו אותה תיקייה: levi-case\.claude\skills\prepare-bank-file\SKILL.md.</a:t>
            </a:r>
          </a:p>
          <a:p>
            <a:r>
              <a:t>אם התיקייה ‎.claude לא מופיעה בסייר, ייתכן שהיא מוסתרת כי השם מתחיל בנקודה.</a:t>
            </a:r>
          </a:p>
          <a:p>
            <a:r>
              <a:t>סקיל של פרויקט זמין בתיקייה הזו. כדי להשתמש בו בתיקיות של לקוחות אחרים, אפשר לשמור אותו כסקיל אישי ב־‎~/.claude/skills/ (בהמשך, לא היום).</a:t>
            </a:r>
          </a:p>
          <a:p>
            <a:r>
              <a:t>את הסקיל נריץ בפעם הראשונה בתרגיל ההמשך (שקף 30), על תיק פיקטיבי חדש.</a:t>
            </a:r>
          </a:p>
          <a:p/>
          <a:p>
            <a:r>
              <a:t>מקורות:</a:t>
            </a:r>
          </a:p>
          <a:p>
            <a:r>
              <a:t>https://code.claude.com/docs/en/skills</a:t>
            </a:r>
          </a:p>
          <a:p>
            <a:r>
              <a:t>https://code.claude.com/docs/en/desktop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סוכן משנה נשמר כקובץ Markdown ב־‎.claude/agents/. בראש הקובץ: name,‏ description,‏ tools. גוף הקובץ הוא ההוראות שלו.</a:t>
            </a:r>
          </a:p>
          <a:p>
            <a:r>
              <a:t>הכלים Read,‏ Grep ו־Glob מאפשרים רק לקרוא ולחפש, כך שהסוכן לא יכול לשנות קבצים.</a:t>
            </a:r>
          </a:p>
          <a:p>
            <a:r>
              <a:t>יוצרים אותו בבקשה מ־Claude: „צור סוכן משנה בשם report-checker בתיקייה ‎.claude/agents, עם כלי קריאה בלבד, שמשווה טיוטה למקורות.”</a:t>
            </a:r>
          </a:p>
          <a:p>
            <a:r>
              <a:t>באפליקציה, חלונית Background tasks מציגה את סוכני המשנה שרצים.</a:t>
            </a:r>
          </a:p>
          <a:p>
            <a:r>
              <a:t>Agent Teams: צוות של שיחות ש־Claude מתאם. זמין בטרמינל ולא באפליקציה.</a:t>
            </a:r>
          </a:p>
          <a:p>
            <a:r>
              <a:t>השימוש בסוכני משנה נספר באותן מגבלות שימוש של השיחה הראשית.</a:t>
            </a:r>
          </a:p>
          <a:p/>
          <a:p>
            <a:r>
              <a:t>מקורות:</a:t>
            </a:r>
          </a:p>
          <a:p>
            <a:r>
              <a:t>https://code.claude.com/docs/en/sub-agents</a:t>
            </a:r>
          </a:p>
          <a:p>
            <a:r>
              <a:t>https://code.claude.com/docs/en/desktop (Agent teams, Background tasks)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כלל אצבע: משהו שאומרים פעם אחת הוא בקשה. כלל שחל תמיד נכנס ל־CLAUDE.md. תהליך שחוזר הופך לסקיל. בדיקה ממוקדת עוברת לסוכן משנה.</a:t>
            </a:r>
          </a:p>
          <a:p>
            <a:r>
              <a:t>אפשר להפעיל סוכן משנה בבקשה שמזכירה את השם שלו, כמו כאן, או עם @ ובחירה מהרשימה. Claude יכול גם להאציל אליו לבד לפי התיאור.</a:t>
            </a:r>
          </a:p>
          <a:p>
            <a:r>
              <a:t>התוצאה חוזרת לשיחה כסיכום. היועץ מחליט מה לתקן.</a:t>
            </a:r>
          </a:p>
          <a:p/>
          <a:p>
            <a:r>
              <a:t>מקורות:</a:t>
            </a:r>
          </a:p>
          <a:p>
            <a:r>
              <a:t>https://code.claude.com/docs/en/sub-agents (Invoke subagents)</a:t>
            </a:r>
          </a:p>
          <a:p>
            <a:r>
              <a:t>https://code.claude.com/docs/en/skills</a:t>
            </a:r>
          </a:p>
          <a:p>
            <a:r>
              <a:t>https://code.claude.com/docs/en/memory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 (שקפים 28–30: 10 דקות).</a:t>
            </a:r>
          </a:p>
          <a:p>
            <a:r>
              <a:t>לא כותבים „זה לא עובד”. מתארים מה ראיתם ומה ציפיתם לראות.</a:t>
            </a:r>
          </a:p>
          <a:p>
            <a:r>
              <a:t>מגבלת שימוש: המכסה משותפת לכל הדרכים שבהן עובדים עם Claude Code. טבעת השימוש ליד בורר המודל מראה כמה נוצל. הפקודה ‎/context מראה מה תופס מקום בהקשר של השיחה.</a:t>
            </a:r>
          </a:p>
          <a:p>
            <a:r>
              <a:t>אפשר לעצור את Claude בכל רגע בכפתור העצירה, או לכתוב תיקון ולשלוח בלי לעצור.</a:t>
            </a:r>
          </a:p>
          <a:p/>
          <a:p>
            <a:r>
              <a:t>מקורות:</a:t>
            </a:r>
          </a:p>
          <a:p>
            <a:r>
              <a:t>https://code.claude.com/docs/en/desktop (Usage, Troubleshooting)</a:t>
            </a:r>
          </a:p>
          <a:p>
            <a:r>
              <a:t>https://code.claude.com/docs/en/desktop-quickstart (Interrupt and steer)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הבדיקה נעשית בסייר הקבצים ובקבצים עצמם, ולא רק לפי מה ש־Claude כתב בשיחה.</a:t>
            </a:r>
          </a:p>
          <a:p>
            <a:r>
              <a:t>מי שחסר לו פריט, מבקש תיקון ממוקד לפי שקף 28.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תשובות קצרות: (1) כלל שחל תמיד נכנס ל־CLAUDE.md, ותהליך עם שלבים הופך לסקיל. (2) ההחלטה של היועץ, אחרי בירור עם הלקוח. (3) סיכום של ממצאים, והוא לא משנה קבצים. (4) שהמידע מעובד רק במחשב.</a:t>
            </a:r>
          </a:p>
          <a:p>
            <a:r>
              <a:t>משימת ההמשך: להעתיק את ‎.claude מביא איתו את הסקיל ואת סוכן המשנה. נתונים פיקטיביים בלבד.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ai/api/desktop/win32/x64/setup/latest/redirect" TargetMode="External"/><Relationship Id="rId3" Type="http://schemas.openxmlformats.org/officeDocument/2006/relationships/hyperlink" Target="https://claude.ai/api/desktop/win32/arm64/setup/latest/redirect" TargetMode="External"/><Relationship Id="rId4" Type="http://schemas.openxmlformats.org/officeDocument/2006/relationships/image" Target="../media/image1.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crop.png"/>
          <p:cNvPicPr>
            <a:picLocks noChangeAspect="1"/>
          </p:cNvPicPr>
          <p:nvPr/>
        </p:nvPicPr>
        <p:blipFill>
          <a:blip r:embed="rId2"/>
          <a:stretch>
            <a:fillRect/>
          </a:stretch>
        </p:blipFill>
        <p:spPr>
          <a:xfrm>
            <a:off x="8076895" y="685800"/>
            <a:ext cx="3564191" cy="2075688"/>
          </a:xfrm>
          <a:prstGeom prst="rect">
            <a:avLst/>
          </a:prstGeom>
        </p:spPr>
      </p:pic>
      <p:sp>
        <p:nvSpPr>
          <p:cNvPr id="3" name="Rectangle 2"/>
          <p:cNvSpPr/>
          <p:nvPr/>
        </p:nvSpPr>
        <p:spPr>
          <a:xfrm>
            <a:off x="0" y="5989320"/>
            <a:ext cx="12191695" cy="868680"/>
          </a:xfrm>
          <a:prstGeom prst="rect">
            <a:avLst/>
          </a:prstGeom>
          <a:solidFill>
            <a:srgbClr val="0A1A33"/>
          </a:solidFill>
          <a:ln>
            <a:noFill/>
          </a:ln>
          <a:effectLst/>
        </p:spPr>
        <p:txBody>
          <a:bodyPr rtlCol="0" anchor="ctr"/>
          <a:lstStyle/>
          <a:p>
            <a:pPr algn="ctr"/>
          </a:p>
        </p:txBody>
      </p:sp>
      <p:sp>
        <p:nvSpPr>
          <p:cNvPr id="4" name="Rectangle 3"/>
          <p:cNvSpPr/>
          <p:nvPr/>
        </p:nvSpPr>
        <p:spPr>
          <a:xfrm>
            <a:off x="0" y="5916168"/>
            <a:ext cx="12191695" cy="73152"/>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2971800"/>
            <a:ext cx="11094415" cy="1005840"/>
          </a:xfrm>
          <a:prstGeom prst="rect">
            <a:avLst/>
          </a:prstGeom>
          <a:noFill/>
        </p:spPr>
        <p:txBody>
          <a:bodyPr wrap="square" lIns="73152" rIns="73152" tIns="54864" bIns="54864" anchor="t">
            <a:noAutofit/>
          </a:bodyPr>
          <a:lstStyle/>
          <a:p>
            <a:pPr rtl="1" algn="r">
              <a:lnSpc>
                <a:spcPct val="110000"/>
              </a:lnSpc>
              <a:spcAft>
                <a:spcPts val="600"/>
              </a:spcAft>
            </a:pPr>
            <a:r>
              <a:rPr sz="5400" b="1" i="0" lang="he-IL">
                <a:solidFill>
                  <a:srgbClr val="0A1A33"/>
                </a:solidFill>
                <a:latin typeface="Rubik"/>
                <a:ea typeface="Rubik"/>
                <a:cs typeface="Rubik"/>
              </a:rPr>
              <a:t>Claude Code ליועצי משכנתאות</a:t>
            </a:r>
          </a:p>
        </p:txBody>
      </p:sp>
      <p:sp>
        <p:nvSpPr>
          <p:cNvPr id="6" name="TextBox 5"/>
          <p:cNvSpPr txBox="1"/>
          <p:nvPr/>
        </p:nvSpPr>
        <p:spPr>
          <a:xfrm>
            <a:off x="548640" y="3977639"/>
            <a:ext cx="11094415" cy="548640"/>
          </a:xfrm>
          <a:prstGeom prst="rect">
            <a:avLst/>
          </a:prstGeom>
          <a:noFill/>
        </p:spPr>
        <p:txBody>
          <a:bodyPr wrap="square" lIns="73152" rIns="73152" tIns="54864" bIns="54864" anchor="t">
            <a:noAutofit/>
          </a:bodyPr>
          <a:lstStyle/>
          <a:p>
            <a:pPr rtl="1" algn="r">
              <a:lnSpc>
                <a:spcPct val="110000"/>
              </a:lnSpc>
              <a:spcAft>
                <a:spcPts val="600"/>
              </a:spcAft>
            </a:pPr>
            <a:r>
              <a:rPr sz="2600" b="0" i="0" lang="he-IL">
                <a:solidFill>
                  <a:srgbClr val="435FB5"/>
                </a:solidFill>
                <a:latin typeface="Rubik"/>
                <a:ea typeface="Rubik"/>
                <a:cs typeface="Rubik"/>
              </a:rPr>
              <a:t>עבודה עם קבצים והכנת תיק לקוח באמצעות הוראות בעברית</a:t>
            </a:r>
          </a:p>
        </p:txBody>
      </p:sp>
      <p:sp>
        <p:nvSpPr>
          <p:cNvPr id="7" name="TextBox 6"/>
          <p:cNvSpPr txBox="1"/>
          <p:nvPr/>
        </p:nvSpPr>
        <p:spPr>
          <a:xfrm>
            <a:off x="548640" y="47091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יוחנן שבדרון</a:t>
            </a:r>
            <a:r>
              <a:rPr sz="2200" b="0" i="0" lang="he-IL">
                <a:solidFill>
                  <a:srgbClr val="4C5058"/>
                </a:solidFill>
                <a:latin typeface="Rubik"/>
                <a:ea typeface="Rubik"/>
                <a:cs typeface="Rubik"/>
              </a:rPr>
              <a:t>  |  ‎SHWADRON.AI‎</a:t>
            </a:r>
          </a:p>
        </p:txBody>
      </p:sp>
      <p:sp>
        <p:nvSpPr>
          <p:cNvPr id="8" name="TextBox 7"/>
          <p:cNvSpPr txBox="1"/>
          <p:nvPr/>
        </p:nvSpPr>
        <p:spPr>
          <a:xfrm>
            <a:off x="548640" y="617220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שיעור מעשי בזום  |  שעתיים  |  התקנה, הדגמות ותרגול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העבודה שנבצע היום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128455" y="1600200"/>
            <a:ext cx="2514600" cy="1417320"/>
          </a:xfrm>
          <a:prstGeom prst="roundRect">
            <a:avLst>
              <a:gd name="adj" fmla="val 6000"/>
            </a:avLst>
          </a:prstGeom>
          <a:solidFill>
            <a:srgbClr val="F7F8F8"/>
          </a:solidFill>
          <a:ln>
            <a:noFill/>
          </a:ln>
          <a:effectLst/>
        </p:spPr>
        <p:txBody>
          <a:bodyPr rtlCol="0" anchor="ctr"/>
          <a:lstStyle/>
          <a:p>
            <a:pPr algn="ctr"/>
          </a:p>
        </p:txBody>
      </p:sp>
      <p:sp>
        <p:nvSpPr>
          <p:cNvPr id="6" name="Oval 5"/>
          <p:cNvSpPr/>
          <p:nvPr/>
        </p:nvSpPr>
        <p:spPr>
          <a:xfrm>
            <a:off x="11076127"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9238183" y="1783080"/>
            <a:ext cx="1783080"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קבלת מסמכים</a:t>
            </a:r>
          </a:p>
        </p:txBody>
      </p:sp>
      <p:sp>
        <p:nvSpPr>
          <p:cNvPr id="8" name="TextBox 7"/>
          <p:cNvSpPr txBox="1"/>
          <p:nvPr/>
        </p:nvSpPr>
        <p:spPr>
          <a:xfrm>
            <a:off x="9311335" y="2295144"/>
            <a:ext cx="2148840" cy="630936"/>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קבצים שהגיעו מהלקוח</a:t>
            </a:r>
          </a:p>
        </p:txBody>
      </p:sp>
      <p:sp>
        <p:nvSpPr>
          <p:cNvPr id="9" name="Left Arrow 8"/>
          <p:cNvSpPr/>
          <p:nvPr/>
        </p:nvSpPr>
        <p:spPr>
          <a:xfrm>
            <a:off x="8872423" y="2176272"/>
            <a:ext cx="210312" cy="274320"/>
          </a:xfrm>
          <a:prstGeom prst="leftArrow">
            <a:avLst/>
          </a:prstGeom>
          <a:solidFill>
            <a:srgbClr val="64CAAD"/>
          </a:solidFill>
          <a:ln>
            <a:noFill/>
          </a:ln>
          <a:effectLst/>
        </p:spPr>
        <p:txBody>
          <a:bodyPr rtlCol="0" anchor="ctr"/>
          <a:lstStyle/>
          <a:p>
            <a:pPr algn="ctr"/>
          </a:p>
        </p:txBody>
      </p:sp>
      <p:sp>
        <p:nvSpPr>
          <p:cNvPr id="10" name="Rounded Rectangle 9"/>
          <p:cNvSpPr/>
          <p:nvPr/>
        </p:nvSpPr>
        <p:spPr>
          <a:xfrm>
            <a:off x="6312103" y="1600200"/>
            <a:ext cx="2514600" cy="1417320"/>
          </a:xfrm>
          <a:prstGeom prst="roundRect">
            <a:avLst>
              <a:gd name="adj" fmla="val 6000"/>
            </a:avLst>
          </a:prstGeom>
          <a:solidFill>
            <a:srgbClr val="F7F8F8"/>
          </a:solidFill>
          <a:ln>
            <a:noFill/>
          </a:ln>
          <a:effectLst/>
        </p:spPr>
        <p:txBody>
          <a:bodyPr rtlCol="0" anchor="ctr"/>
          <a:lstStyle/>
          <a:p>
            <a:pPr algn="ctr"/>
          </a:p>
        </p:txBody>
      </p:sp>
      <p:sp>
        <p:nvSpPr>
          <p:cNvPr id="11" name="Oval 10"/>
          <p:cNvSpPr/>
          <p:nvPr/>
        </p:nvSpPr>
        <p:spPr>
          <a:xfrm>
            <a:off x="8259775"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2" name="TextBox 11"/>
          <p:cNvSpPr txBox="1"/>
          <p:nvPr/>
        </p:nvSpPr>
        <p:spPr>
          <a:xfrm>
            <a:off x="6421831" y="1783080"/>
            <a:ext cx="1783080"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הבנת התוכן</a:t>
            </a:r>
          </a:p>
        </p:txBody>
      </p:sp>
      <p:sp>
        <p:nvSpPr>
          <p:cNvPr id="13" name="TextBox 12"/>
          <p:cNvSpPr txBox="1"/>
          <p:nvPr/>
        </p:nvSpPr>
        <p:spPr>
          <a:xfrm>
            <a:off x="6494983" y="2295144"/>
            <a:ext cx="2148840" cy="630936"/>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מה יש בכל קובץ</a:t>
            </a:r>
          </a:p>
        </p:txBody>
      </p:sp>
      <p:sp>
        <p:nvSpPr>
          <p:cNvPr id="14" name="Left Arrow 13"/>
          <p:cNvSpPr/>
          <p:nvPr/>
        </p:nvSpPr>
        <p:spPr>
          <a:xfrm>
            <a:off x="6056071" y="2176272"/>
            <a:ext cx="210312" cy="274320"/>
          </a:xfrm>
          <a:prstGeom prst="leftArrow">
            <a:avLst/>
          </a:prstGeom>
          <a:solidFill>
            <a:srgbClr val="64CAAD"/>
          </a:solidFill>
          <a:ln>
            <a:noFill/>
          </a:ln>
          <a:effectLst/>
        </p:spPr>
        <p:txBody>
          <a:bodyPr rtlCol="0" anchor="ctr"/>
          <a:lstStyle/>
          <a:p>
            <a:pPr algn="ctr"/>
          </a:p>
        </p:txBody>
      </p:sp>
      <p:sp>
        <p:nvSpPr>
          <p:cNvPr id="15" name="Rounded Rectangle 14"/>
          <p:cNvSpPr/>
          <p:nvPr/>
        </p:nvSpPr>
        <p:spPr>
          <a:xfrm>
            <a:off x="3495751" y="1600200"/>
            <a:ext cx="2514600" cy="1417320"/>
          </a:xfrm>
          <a:prstGeom prst="roundRect">
            <a:avLst>
              <a:gd name="adj" fmla="val 6000"/>
            </a:avLst>
          </a:prstGeom>
          <a:solidFill>
            <a:srgbClr val="F7F8F8"/>
          </a:solidFill>
          <a:ln>
            <a:noFill/>
          </a:ln>
          <a:effectLst/>
        </p:spPr>
        <p:txBody>
          <a:bodyPr rtlCol="0" anchor="ctr"/>
          <a:lstStyle/>
          <a:p>
            <a:pPr algn="ctr"/>
          </a:p>
        </p:txBody>
      </p:sp>
      <p:sp>
        <p:nvSpPr>
          <p:cNvPr id="16" name="Oval 15"/>
          <p:cNvSpPr/>
          <p:nvPr/>
        </p:nvSpPr>
        <p:spPr>
          <a:xfrm>
            <a:off x="5443423"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7" name="TextBox 16"/>
          <p:cNvSpPr txBox="1"/>
          <p:nvPr/>
        </p:nvSpPr>
        <p:spPr>
          <a:xfrm>
            <a:off x="3605479" y="1783080"/>
            <a:ext cx="1783080"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ארגון</a:t>
            </a:r>
          </a:p>
        </p:txBody>
      </p:sp>
      <p:sp>
        <p:nvSpPr>
          <p:cNvPr id="18" name="TextBox 17"/>
          <p:cNvSpPr txBox="1"/>
          <p:nvPr/>
        </p:nvSpPr>
        <p:spPr>
          <a:xfrm>
            <a:off x="3678631" y="2295144"/>
            <a:ext cx="2148840" cy="630936"/>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שמות ברורים ועותקים מסודרים</a:t>
            </a:r>
          </a:p>
        </p:txBody>
      </p:sp>
      <p:sp>
        <p:nvSpPr>
          <p:cNvPr id="19" name="Left Arrow 18"/>
          <p:cNvSpPr/>
          <p:nvPr/>
        </p:nvSpPr>
        <p:spPr>
          <a:xfrm>
            <a:off x="3239719" y="2176272"/>
            <a:ext cx="210312" cy="274320"/>
          </a:xfrm>
          <a:prstGeom prst="leftArrow">
            <a:avLst/>
          </a:prstGeom>
          <a:solidFill>
            <a:srgbClr val="64CAAD"/>
          </a:solidFill>
          <a:ln>
            <a:noFill/>
          </a:ln>
          <a:effectLst/>
        </p:spPr>
        <p:txBody>
          <a:bodyPr rtlCol="0" anchor="ctr"/>
          <a:lstStyle/>
          <a:p>
            <a:pPr algn="ctr"/>
          </a:p>
        </p:txBody>
      </p:sp>
      <p:sp>
        <p:nvSpPr>
          <p:cNvPr id="20" name="Rounded Rectangle 19"/>
          <p:cNvSpPr/>
          <p:nvPr/>
        </p:nvSpPr>
        <p:spPr>
          <a:xfrm>
            <a:off x="679399" y="1600200"/>
            <a:ext cx="2514600" cy="1417320"/>
          </a:xfrm>
          <a:prstGeom prst="roundRect">
            <a:avLst>
              <a:gd name="adj" fmla="val 6000"/>
            </a:avLst>
          </a:prstGeom>
          <a:solidFill>
            <a:srgbClr val="F7F8F8"/>
          </a:solidFill>
          <a:ln>
            <a:noFill/>
          </a:ln>
          <a:effectLst/>
        </p:spPr>
        <p:txBody>
          <a:bodyPr rtlCol="0" anchor="ctr"/>
          <a:lstStyle/>
          <a:p>
            <a:pPr algn="ctr"/>
          </a:p>
        </p:txBody>
      </p:sp>
      <p:sp>
        <p:nvSpPr>
          <p:cNvPr id="21" name="Oval 20"/>
          <p:cNvSpPr/>
          <p:nvPr/>
        </p:nvSpPr>
        <p:spPr>
          <a:xfrm>
            <a:off x="2627071"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22" name="TextBox 21"/>
          <p:cNvSpPr txBox="1"/>
          <p:nvPr/>
        </p:nvSpPr>
        <p:spPr>
          <a:xfrm>
            <a:off x="789127" y="1783080"/>
            <a:ext cx="1783080"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ריכוז נתונים</a:t>
            </a:r>
          </a:p>
        </p:txBody>
      </p:sp>
      <p:sp>
        <p:nvSpPr>
          <p:cNvPr id="23" name="TextBox 22"/>
          <p:cNvSpPr txBox="1"/>
          <p:nvPr/>
        </p:nvSpPr>
        <p:spPr>
          <a:xfrm>
            <a:off x="862279" y="2295144"/>
            <a:ext cx="2148840" cy="630936"/>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טבלה עם מקור לכל נתון</a:t>
            </a:r>
          </a:p>
        </p:txBody>
      </p:sp>
      <p:sp>
        <p:nvSpPr>
          <p:cNvPr id="24" name="TextBox 23"/>
          <p:cNvSpPr txBox="1"/>
          <p:nvPr/>
        </p:nvSpPr>
        <p:spPr>
          <a:xfrm>
            <a:off x="6355080" y="3429000"/>
            <a:ext cx="5285232"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המצב בהתחלה: שמות לא ברורים ומידע מפוזר</a:t>
            </a:r>
          </a:p>
        </p:txBody>
      </p:sp>
      <p:sp>
        <p:nvSpPr>
          <p:cNvPr id="25" name="TextBox 24"/>
          <p:cNvSpPr txBox="1"/>
          <p:nvPr/>
        </p:nvSpPr>
        <p:spPr>
          <a:xfrm>
            <a:off x="6355080" y="3931920"/>
            <a:ext cx="5285232" cy="2011680"/>
          </a:xfrm>
          <a:prstGeom prst="rect">
            <a:avLst/>
          </a:prstGeom>
          <a:noFill/>
        </p:spPr>
        <p:txBody>
          <a:bodyPr wrap="square" lIns="73152" rIns="73152" tIns="54864" bIns="54864" anchor="t">
            <a:noAutofit/>
          </a:bodyPr>
          <a:lstStyle/>
          <a:p>
            <a:pPr rtl="1" algn="r">
              <a:lnSpc>
                <a:spcPct val="110000"/>
              </a:lnSpc>
              <a:spcAft>
                <a:spcPts val="800"/>
              </a:spcAft>
            </a:pPr>
            <a:r>
              <a:rPr sz="1800" b="0" i="0" lang="he-IL">
                <a:solidFill>
                  <a:srgbClr val="4C5058"/>
                </a:solidFill>
                <a:latin typeface="Rubik"/>
                <a:ea typeface="Rubik"/>
                <a:cs typeface="Rubik"/>
              </a:rPr>
              <a:t>•  אי אפשר לדעת מהשם מה יש בקובץ</a:t>
            </a:r>
          </a:p>
          <a:p>
            <a:pPr rtl="1" algn="r">
              <a:lnSpc>
                <a:spcPct val="110000"/>
              </a:lnSpc>
              <a:spcAft>
                <a:spcPts val="800"/>
              </a:spcAft>
            </a:pPr>
            <a:r>
              <a:rPr sz="1800" b="0" i="0" lang="he-IL">
                <a:solidFill>
                  <a:srgbClr val="4C5058"/>
                </a:solidFill>
                <a:latin typeface="Rubik"/>
                <a:ea typeface="Rubik"/>
                <a:cs typeface="Rubik"/>
              </a:rPr>
              <a:t>•  אותו מסמך נשלח פעמיים</a:t>
            </a:r>
          </a:p>
          <a:p>
            <a:pPr rtl="1" algn="r">
              <a:lnSpc>
                <a:spcPct val="110000"/>
              </a:lnSpc>
              <a:spcAft>
                <a:spcPts val="800"/>
              </a:spcAft>
            </a:pPr>
            <a:r>
              <a:rPr sz="1800" b="0" i="0" lang="he-IL">
                <a:solidFill>
                  <a:srgbClr val="4C5058"/>
                </a:solidFill>
                <a:latin typeface="Rubik"/>
                <a:ea typeface="Rubik"/>
                <a:cs typeface="Rubik"/>
              </a:rPr>
              <a:t>•  הסכום המבוקש מופיע בשני מקומות, ולא באותו סכום</a:t>
            </a:r>
          </a:p>
          <a:p>
            <a:pPr rtl="1" algn="r">
              <a:lnSpc>
                <a:spcPct val="110000"/>
              </a:lnSpc>
              <a:spcAft>
                <a:spcPts val="800"/>
              </a:spcAft>
            </a:pPr>
            <a:r>
              <a:rPr sz="1800" b="0" i="0" lang="he-IL">
                <a:solidFill>
                  <a:srgbClr val="4C5058"/>
                </a:solidFill>
                <a:latin typeface="Rubik"/>
                <a:ea typeface="Rubik"/>
                <a:cs typeface="Rubik"/>
              </a:rPr>
              <a:t>•  מסמך אחד חסר</a:t>
            </a:r>
          </a:p>
        </p:txBody>
      </p:sp>
      <p:sp>
        <p:nvSpPr>
          <p:cNvPr id="26" name="Rounded Rectangle 25"/>
          <p:cNvSpPr/>
          <p:nvPr/>
        </p:nvSpPr>
        <p:spPr>
          <a:xfrm>
            <a:off x="548640" y="3429000"/>
            <a:ext cx="5394960" cy="2514600"/>
          </a:xfrm>
          <a:prstGeom prst="roundRect">
            <a:avLst>
              <a:gd name="adj" fmla="val 6000"/>
            </a:avLst>
          </a:prstGeom>
          <a:solidFill>
            <a:srgbClr val="0A1A33"/>
          </a:solidFill>
          <a:ln>
            <a:noFill/>
          </a:ln>
          <a:effectLst/>
        </p:spPr>
        <p:txBody>
          <a:bodyPr rtlCol="0" anchor="ctr"/>
          <a:lstStyle/>
          <a:p>
            <a:pPr algn="ctr"/>
          </a:p>
        </p:txBody>
      </p:sp>
      <p:sp>
        <p:nvSpPr>
          <p:cNvPr id="27" name="TextBox 26"/>
          <p:cNvSpPr txBox="1"/>
          <p:nvPr/>
        </p:nvSpPr>
        <p:spPr>
          <a:xfrm>
            <a:off x="731520" y="3520440"/>
            <a:ext cx="502920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תיקיית המקור של תיק לוי (פיקטיבי)</a:t>
            </a:r>
          </a:p>
        </p:txBody>
      </p:sp>
      <p:sp>
        <p:nvSpPr>
          <p:cNvPr id="28" name="TextBox 27"/>
          <p:cNvSpPr txBox="1"/>
          <p:nvPr/>
        </p:nvSpPr>
        <p:spPr>
          <a:xfrm>
            <a:off x="685800" y="3840480"/>
            <a:ext cx="5120640" cy="2029967"/>
          </a:xfrm>
          <a:prstGeom prst="rect">
            <a:avLst/>
          </a:prstGeom>
          <a:noFill/>
        </p:spPr>
        <p:txBody>
          <a:bodyPr wrap="square" lIns="73152" rIns="73152" tIns="54864" bIns="54864" anchor="t">
            <a:noAutofit/>
          </a:bodyPr>
          <a:lstStyle/>
          <a:p>
            <a:pPr rtl="0" algn="l">
              <a:lnSpc>
                <a:spcPct val="115000"/>
              </a:lnSpc>
              <a:spcAft>
                <a:spcPts val="200"/>
              </a:spcAft>
            </a:pPr>
            <a:r>
              <a:rPr sz="1800" b="0" i="0" lang="en-US">
                <a:solidFill>
                  <a:srgbClr val="FFFFFF"/>
                </a:solidFill>
                <a:latin typeface="Consolas"/>
                <a:ea typeface="Consolas"/>
                <a:cs typeface="Rubik"/>
              </a:rPr>
              <a:t>01_originals\</a:t>
            </a:r>
          </a:p>
          <a:p>
            <a:pPr rtl="0" algn="l">
              <a:lnSpc>
                <a:spcPct val="115000"/>
              </a:lnSpc>
              <a:spcAft>
                <a:spcPts val="200"/>
              </a:spcAft>
            </a:pPr>
            <a:r>
              <a:rPr sz="1800" b="0" i="0" lang="en-US">
                <a:solidFill>
                  <a:srgbClr val="FFFFFF"/>
                </a:solidFill>
                <a:latin typeface="Consolas"/>
                <a:ea typeface="Consolas"/>
                <a:cs typeface="Rubik"/>
              </a:rPr>
              <a:t>  doc1.txt</a:t>
            </a:r>
          </a:p>
          <a:p>
            <a:pPr rtl="0" algn="l">
              <a:lnSpc>
                <a:spcPct val="115000"/>
              </a:lnSpc>
              <a:spcAft>
                <a:spcPts val="200"/>
              </a:spcAft>
            </a:pPr>
            <a:r>
              <a:rPr sz="1800" b="0" i="0" lang="en-US">
                <a:solidFill>
                  <a:srgbClr val="FFFFFF"/>
                </a:solidFill>
                <a:latin typeface="Consolas"/>
                <a:ea typeface="Consolas"/>
                <a:cs typeface="Rubik"/>
              </a:rPr>
              <a:t>  doc1_copy.txt</a:t>
            </a:r>
          </a:p>
          <a:p>
            <a:pPr rtl="0" algn="l">
              <a:lnSpc>
                <a:spcPct val="115000"/>
              </a:lnSpc>
              <a:spcAft>
                <a:spcPts val="200"/>
              </a:spcAft>
            </a:pPr>
            <a:r>
              <a:rPr sz="1800" b="0" i="0" lang="en-US">
                <a:solidFill>
                  <a:srgbClr val="FFFFFF"/>
                </a:solidFill>
                <a:latin typeface="Consolas"/>
                <a:ea typeface="Consolas"/>
                <a:cs typeface="Rubik"/>
              </a:rPr>
              <a:t>  scan_0012.txt</a:t>
            </a:r>
          </a:p>
          <a:p>
            <a:pPr rtl="0" algn="l">
              <a:lnSpc>
                <a:spcPct val="115000"/>
              </a:lnSpc>
              <a:spcAft>
                <a:spcPts val="200"/>
              </a:spcAft>
            </a:pPr>
            <a:r>
              <a:rPr sz="1800" b="0" i="0" lang="en-US">
                <a:solidFill>
                  <a:srgbClr val="FFFFFF"/>
                </a:solidFill>
                <a:latin typeface="Consolas"/>
                <a:ea typeface="Consolas"/>
                <a:cs typeface="Rubik"/>
              </a:rPr>
              <a:t>  new file.txt</a:t>
            </a:r>
          </a:p>
          <a:p>
            <a:pPr rtl="0" algn="l">
              <a:lnSpc>
                <a:spcPct val="115000"/>
              </a:lnSpc>
              <a:spcAft>
                <a:spcPts val="200"/>
              </a:spcAft>
            </a:pPr>
            <a:r>
              <a:rPr sz="1800" b="0" i="0" lang="en-US">
                <a:solidFill>
                  <a:srgbClr val="FFFFFF"/>
                </a:solidFill>
                <a:latin typeface="Consolas"/>
                <a:ea typeface="Consolas"/>
                <a:cs typeface="Rubik"/>
              </a:rPr>
              <a:t>  notes.txt</a:t>
            </a:r>
          </a:p>
        </p:txBody>
      </p:sp>
      <p:sp>
        <p:nvSpPr>
          <p:cNvPr id="29" name="TextBox 2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a:t>
            </a:r>
            <a:r>
              <a:rPr sz="1200" b="0" i="0" lang="he-IL">
                <a:solidFill>
                  <a:srgbClr val="8D9299"/>
                </a:solidFill>
                <a:latin typeface="Rubik"/>
                <a:ea typeface="Rubik"/>
                <a:cs typeface="Rubik"/>
              </a:rPr>
              <a:t>  |  Claude Code ליועצי משכנתאות</a:t>
            </a:r>
          </a:p>
        </p:txBody>
      </p:sp>
      <p:pic>
        <p:nvPicPr>
          <p:cNvPr id="30" name="Picture 29"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התוצר בסוף השיעור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037015" y="1600200"/>
            <a:ext cx="2606040" cy="31546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6" name="Rectangle 5"/>
          <p:cNvSpPr/>
          <p:nvPr/>
        </p:nvSpPr>
        <p:spPr>
          <a:xfrm>
            <a:off x="9265615" y="1600200"/>
            <a:ext cx="2148840" cy="54864"/>
          </a:xfrm>
          <a:prstGeom prst="rect">
            <a:avLst/>
          </a:prstGeom>
          <a:solidFill>
            <a:srgbClr val="64CAAD"/>
          </a:solidFill>
          <a:ln>
            <a:noFill/>
          </a:ln>
          <a:effectLst/>
        </p:spPr>
        <p:txBody>
          <a:bodyPr rtlCol="0" anchor="ctr"/>
          <a:lstStyle/>
          <a:p>
            <a:pPr algn="ctr"/>
          </a:p>
        </p:txBody>
      </p:sp>
      <p:sp>
        <p:nvSpPr>
          <p:cNvPr id="7" name="Oval 6"/>
          <p:cNvSpPr/>
          <p:nvPr/>
        </p:nvSpPr>
        <p:spPr>
          <a:xfrm>
            <a:off x="11076127"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8" name="TextBox 7"/>
          <p:cNvSpPr txBox="1"/>
          <p:nvPr/>
        </p:nvSpPr>
        <p:spPr>
          <a:xfrm>
            <a:off x="9146743" y="1783080"/>
            <a:ext cx="1874519" cy="841248"/>
          </a:xfrm>
          <a:prstGeom prst="rect">
            <a:avLst/>
          </a:prstGeom>
          <a:noFill/>
        </p:spPr>
        <p:txBody>
          <a:bodyPr wrap="square" lIns="73152" rIns="73152" tIns="54864" bIns="54864" anchor="t">
            <a:noAutofit/>
          </a:bodyPr>
          <a:lstStyle/>
          <a:p>
            <a:pPr rtl="1" algn="r">
              <a:lnSpc>
                <a:spcPct val="100000"/>
              </a:lnSpc>
            </a:pPr>
            <a:r>
              <a:rPr sz="1900" b="1" i="0" lang="he-IL">
                <a:solidFill>
                  <a:srgbClr val="0A1A33"/>
                </a:solidFill>
                <a:latin typeface="Rubik"/>
                <a:ea typeface="Rubik"/>
                <a:cs typeface="Rubik"/>
              </a:rPr>
              <a:t>מסמכים מסודרים</a:t>
            </a:r>
          </a:p>
        </p:txBody>
      </p:sp>
      <p:sp>
        <p:nvSpPr>
          <p:cNvPr id="9" name="TextBox 8"/>
          <p:cNvSpPr txBox="1"/>
          <p:nvPr/>
        </p:nvSpPr>
        <p:spPr>
          <a:xfrm>
            <a:off x="9219895" y="2715768"/>
            <a:ext cx="2240280" cy="1947672"/>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  עותקים בשמות ברורים</a:t>
            </a:r>
          </a:p>
          <a:p>
            <a:pPr rtl="1" algn="r">
              <a:lnSpc>
                <a:spcPct val="115000"/>
              </a:lnSpc>
              <a:spcAft>
                <a:spcPts val="400"/>
              </a:spcAft>
            </a:pPr>
            <a:r>
              <a:rPr sz="1700" b="0" i="0" lang="he-IL">
                <a:solidFill>
                  <a:srgbClr val="4C5058"/>
                </a:solidFill>
                <a:latin typeface="Rubik"/>
                <a:ea typeface="Rubik"/>
                <a:cs typeface="Rubik"/>
              </a:rPr>
              <a:t>•  בתיקייה ‎02_organized‎</a:t>
            </a:r>
          </a:p>
          <a:p>
            <a:pPr rtl="1" algn="r">
              <a:lnSpc>
                <a:spcPct val="115000"/>
              </a:lnSpc>
              <a:spcAft>
                <a:spcPts val="400"/>
              </a:spcAft>
            </a:pPr>
            <a:r>
              <a:rPr sz="1700" b="0" i="0" lang="he-IL">
                <a:solidFill>
                  <a:srgbClr val="4C5058"/>
                </a:solidFill>
                <a:latin typeface="Rubik"/>
                <a:ea typeface="Rubik"/>
                <a:cs typeface="Rubik"/>
              </a:rPr>
              <a:t>•  המקורות נשארים כמו שהם</a:t>
            </a:r>
          </a:p>
        </p:txBody>
      </p:sp>
      <p:sp>
        <p:nvSpPr>
          <p:cNvPr id="10" name="Rounded Rectangle 9"/>
          <p:cNvSpPr/>
          <p:nvPr/>
        </p:nvSpPr>
        <p:spPr>
          <a:xfrm>
            <a:off x="6211519" y="1600200"/>
            <a:ext cx="2606040" cy="31546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11" name="Rectangle 10"/>
          <p:cNvSpPr/>
          <p:nvPr/>
        </p:nvSpPr>
        <p:spPr>
          <a:xfrm>
            <a:off x="6440119" y="1600200"/>
            <a:ext cx="2148840" cy="54864"/>
          </a:xfrm>
          <a:prstGeom prst="rect">
            <a:avLst/>
          </a:prstGeom>
          <a:solidFill>
            <a:srgbClr val="64CAAD"/>
          </a:solidFill>
          <a:ln>
            <a:noFill/>
          </a:ln>
          <a:effectLst/>
        </p:spPr>
        <p:txBody>
          <a:bodyPr rtlCol="0" anchor="ctr"/>
          <a:lstStyle/>
          <a:p>
            <a:pPr algn="ctr"/>
          </a:p>
        </p:txBody>
      </p:sp>
      <p:sp>
        <p:nvSpPr>
          <p:cNvPr id="12" name="Oval 11"/>
          <p:cNvSpPr/>
          <p:nvPr/>
        </p:nvSpPr>
        <p:spPr>
          <a:xfrm>
            <a:off x="8250631"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3" name="TextBox 12"/>
          <p:cNvSpPr txBox="1"/>
          <p:nvPr/>
        </p:nvSpPr>
        <p:spPr>
          <a:xfrm>
            <a:off x="6321247" y="1783080"/>
            <a:ext cx="1874519" cy="841248"/>
          </a:xfrm>
          <a:prstGeom prst="rect">
            <a:avLst/>
          </a:prstGeom>
          <a:noFill/>
        </p:spPr>
        <p:txBody>
          <a:bodyPr wrap="square" lIns="73152" rIns="73152" tIns="54864" bIns="54864" anchor="t">
            <a:noAutofit/>
          </a:bodyPr>
          <a:lstStyle/>
          <a:p>
            <a:pPr rtl="1" algn="r">
              <a:lnSpc>
                <a:spcPct val="100000"/>
              </a:lnSpc>
            </a:pPr>
            <a:r>
              <a:rPr sz="1900" b="1" i="0" lang="he-IL">
                <a:solidFill>
                  <a:srgbClr val="0A1A33"/>
                </a:solidFill>
                <a:latin typeface="Rubik"/>
                <a:ea typeface="Rubik"/>
                <a:cs typeface="Rubik"/>
              </a:rPr>
              <a:t>רשימת קבצים</a:t>
            </a:r>
          </a:p>
        </p:txBody>
      </p:sp>
      <p:sp>
        <p:nvSpPr>
          <p:cNvPr id="14" name="TextBox 13"/>
          <p:cNvSpPr txBox="1"/>
          <p:nvPr/>
        </p:nvSpPr>
        <p:spPr>
          <a:xfrm>
            <a:off x="6394399" y="2715768"/>
            <a:ext cx="2240280" cy="1947672"/>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  מה יש בכל קובץ</a:t>
            </a:r>
          </a:p>
          <a:p>
            <a:pPr rtl="1" algn="r">
              <a:lnSpc>
                <a:spcPct val="115000"/>
              </a:lnSpc>
              <a:spcAft>
                <a:spcPts val="400"/>
              </a:spcAft>
            </a:pPr>
            <a:r>
              <a:rPr sz="1700" b="0" i="0" lang="he-IL">
                <a:solidFill>
                  <a:srgbClr val="4C5058"/>
                </a:solidFill>
                <a:latin typeface="Rubik"/>
                <a:ea typeface="Rubik"/>
                <a:cs typeface="Rubik"/>
              </a:rPr>
              <a:t>•  שם מקורי מול שם חדש</a:t>
            </a:r>
          </a:p>
          <a:p>
            <a:pPr rtl="1" algn="r">
              <a:lnSpc>
                <a:spcPct val="115000"/>
              </a:lnSpc>
              <a:spcAft>
                <a:spcPts val="400"/>
              </a:spcAft>
            </a:pPr>
            <a:r>
              <a:rPr sz="1700" b="0" i="0" lang="he-IL">
                <a:solidFill>
                  <a:srgbClr val="4C5058"/>
                </a:solidFill>
                <a:latin typeface="Rubik"/>
                <a:ea typeface="Rubik"/>
                <a:cs typeface="Rubik"/>
              </a:rPr>
              <a:t>•  קבצים כפולים מסומנים</a:t>
            </a:r>
          </a:p>
        </p:txBody>
      </p:sp>
      <p:sp>
        <p:nvSpPr>
          <p:cNvPr id="15" name="Rounded Rectangle 14"/>
          <p:cNvSpPr/>
          <p:nvPr/>
        </p:nvSpPr>
        <p:spPr>
          <a:xfrm>
            <a:off x="3386023" y="1600200"/>
            <a:ext cx="2606040" cy="31546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16" name="Rectangle 15"/>
          <p:cNvSpPr/>
          <p:nvPr/>
        </p:nvSpPr>
        <p:spPr>
          <a:xfrm>
            <a:off x="3614623" y="1600200"/>
            <a:ext cx="2148840" cy="54864"/>
          </a:xfrm>
          <a:prstGeom prst="rect">
            <a:avLst/>
          </a:prstGeom>
          <a:solidFill>
            <a:srgbClr val="64CAAD"/>
          </a:solidFill>
          <a:ln>
            <a:noFill/>
          </a:ln>
          <a:effectLst/>
        </p:spPr>
        <p:txBody>
          <a:bodyPr rtlCol="0" anchor="ctr"/>
          <a:lstStyle/>
          <a:p>
            <a:pPr algn="ctr"/>
          </a:p>
        </p:txBody>
      </p:sp>
      <p:sp>
        <p:nvSpPr>
          <p:cNvPr id="17" name="Oval 16"/>
          <p:cNvSpPr/>
          <p:nvPr/>
        </p:nvSpPr>
        <p:spPr>
          <a:xfrm>
            <a:off x="5425135"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8" name="TextBox 17"/>
          <p:cNvSpPr txBox="1"/>
          <p:nvPr/>
        </p:nvSpPr>
        <p:spPr>
          <a:xfrm>
            <a:off x="3495751" y="1783080"/>
            <a:ext cx="1874519" cy="841248"/>
          </a:xfrm>
          <a:prstGeom prst="rect">
            <a:avLst/>
          </a:prstGeom>
          <a:noFill/>
        </p:spPr>
        <p:txBody>
          <a:bodyPr wrap="square" lIns="73152" rIns="73152" tIns="54864" bIns="54864" anchor="t">
            <a:noAutofit/>
          </a:bodyPr>
          <a:lstStyle/>
          <a:p>
            <a:pPr rtl="1" algn="r">
              <a:lnSpc>
                <a:spcPct val="100000"/>
              </a:lnSpc>
            </a:pPr>
            <a:r>
              <a:rPr sz="1900" b="1" i="0" lang="he-IL">
                <a:solidFill>
                  <a:srgbClr val="0A1A33"/>
                </a:solidFill>
                <a:latin typeface="Rubik"/>
                <a:ea typeface="Rubik"/>
                <a:cs typeface="Rubik"/>
              </a:rPr>
              <a:t>ריכוז נתונים וחוסרים</a:t>
            </a:r>
          </a:p>
        </p:txBody>
      </p:sp>
      <p:sp>
        <p:nvSpPr>
          <p:cNvPr id="19" name="TextBox 18"/>
          <p:cNvSpPr txBox="1"/>
          <p:nvPr/>
        </p:nvSpPr>
        <p:spPr>
          <a:xfrm>
            <a:off x="3568903" y="2715768"/>
            <a:ext cx="2240280" cy="1947672"/>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  כל נתון עם קובץ המקור</a:t>
            </a:r>
          </a:p>
          <a:p>
            <a:pPr rtl="1" algn="r">
              <a:lnSpc>
                <a:spcPct val="115000"/>
              </a:lnSpc>
              <a:spcAft>
                <a:spcPts val="400"/>
              </a:spcAft>
            </a:pPr>
            <a:r>
              <a:rPr sz="1700" b="0" i="0" lang="he-IL">
                <a:solidFill>
                  <a:srgbClr val="4C5058"/>
                </a:solidFill>
                <a:latin typeface="Rubik"/>
                <a:ea typeface="Rubik"/>
                <a:cs typeface="Rubik"/>
              </a:rPr>
              <a:t>•  מסמכים חסרים</a:t>
            </a:r>
          </a:p>
          <a:p>
            <a:pPr rtl="1" algn="r">
              <a:lnSpc>
                <a:spcPct val="115000"/>
              </a:lnSpc>
              <a:spcAft>
                <a:spcPts val="400"/>
              </a:spcAft>
            </a:pPr>
            <a:r>
              <a:rPr sz="1700" b="0" i="0" lang="he-IL">
                <a:solidFill>
                  <a:srgbClr val="4C5058"/>
                </a:solidFill>
                <a:latin typeface="Rubik"/>
                <a:ea typeface="Rubik"/>
                <a:cs typeface="Rubik"/>
              </a:rPr>
              <a:t>•  נתונים סותרים לבירור</a:t>
            </a:r>
          </a:p>
        </p:txBody>
      </p:sp>
      <p:sp>
        <p:nvSpPr>
          <p:cNvPr id="20" name="Rounded Rectangle 19"/>
          <p:cNvSpPr/>
          <p:nvPr/>
        </p:nvSpPr>
        <p:spPr>
          <a:xfrm>
            <a:off x="560527" y="1600200"/>
            <a:ext cx="2606040" cy="31546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21" name="Rectangle 20"/>
          <p:cNvSpPr/>
          <p:nvPr/>
        </p:nvSpPr>
        <p:spPr>
          <a:xfrm>
            <a:off x="789127" y="1600200"/>
            <a:ext cx="2148840" cy="54864"/>
          </a:xfrm>
          <a:prstGeom prst="rect">
            <a:avLst/>
          </a:prstGeom>
          <a:solidFill>
            <a:srgbClr val="435FB5"/>
          </a:solidFill>
          <a:ln>
            <a:noFill/>
          </a:ln>
          <a:effectLst/>
        </p:spPr>
        <p:txBody>
          <a:bodyPr rtlCol="0" anchor="ctr"/>
          <a:lstStyle/>
          <a:p>
            <a:pPr algn="ctr"/>
          </a:p>
        </p:txBody>
      </p:sp>
      <p:sp>
        <p:nvSpPr>
          <p:cNvPr id="22" name="Oval 21"/>
          <p:cNvSpPr/>
          <p:nvPr/>
        </p:nvSpPr>
        <p:spPr>
          <a:xfrm>
            <a:off x="2599639" y="17830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23" name="TextBox 22"/>
          <p:cNvSpPr txBox="1"/>
          <p:nvPr/>
        </p:nvSpPr>
        <p:spPr>
          <a:xfrm>
            <a:off x="670255" y="1783080"/>
            <a:ext cx="1874519" cy="841248"/>
          </a:xfrm>
          <a:prstGeom prst="rect">
            <a:avLst/>
          </a:prstGeom>
          <a:noFill/>
        </p:spPr>
        <p:txBody>
          <a:bodyPr wrap="square" lIns="73152" rIns="73152" tIns="54864" bIns="54864" anchor="t">
            <a:noAutofit/>
          </a:bodyPr>
          <a:lstStyle/>
          <a:p>
            <a:pPr rtl="1" algn="r">
              <a:lnSpc>
                <a:spcPct val="100000"/>
              </a:lnSpc>
            </a:pPr>
            <a:r>
              <a:rPr sz="1900" b="1" i="0" lang="he-IL">
                <a:solidFill>
                  <a:srgbClr val="0A1A33"/>
                </a:solidFill>
                <a:latin typeface="Rubik"/>
                <a:ea typeface="Rubik"/>
                <a:cs typeface="Rubik"/>
              </a:rPr>
              <a:t>טיוטה לבדיקת היועץ</a:t>
            </a:r>
          </a:p>
        </p:txBody>
      </p:sp>
      <p:sp>
        <p:nvSpPr>
          <p:cNvPr id="24" name="TextBox 23"/>
          <p:cNvSpPr txBox="1"/>
          <p:nvPr/>
        </p:nvSpPr>
        <p:spPr>
          <a:xfrm>
            <a:off x="743407" y="2715768"/>
            <a:ext cx="2240280" cy="1947672"/>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  מבנה קבוע לקראת פנייה לבנק</a:t>
            </a:r>
          </a:p>
          <a:p>
            <a:pPr rtl="1" algn="r">
              <a:lnSpc>
                <a:spcPct val="115000"/>
              </a:lnSpc>
              <a:spcAft>
                <a:spcPts val="400"/>
              </a:spcAft>
            </a:pPr>
            <a:r>
              <a:rPr sz="1700" b="0" i="0" lang="he-IL">
                <a:solidFill>
                  <a:srgbClr val="4C5058"/>
                </a:solidFill>
                <a:latin typeface="Rubik"/>
                <a:ea typeface="Rubik"/>
                <a:cs typeface="Rubik"/>
              </a:rPr>
              <a:t>•  שאלות פתוחות ומקורות</a:t>
            </a:r>
          </a:p>
          <a:p>
            <a:pPr rtl="1" algn="r">
              <a:lnSpc>
                <a:spcPct val="115000"/>
              </a:lnSpc>
              <a:spcAft>
                <a:spcPts val="400"/>
              </a:spcAft>
            </a:pPr>
            <a:r>
              <a:rPr sz="1700" b="0" i="0" lang="he-IL">
                <a:solidFill>
                  <a:srgbClr val="4C5058"/>
                </a:solidFill>
                <a:latin typeface="Rubik"/>
                <a:ea typeface="Rubik"/>
                <a:cs typeface="Rubik"/>
              </a:rPr>
              <a:t>•  היועץ בודק ומחליט</a:t>
            </a:r>
          </a:p>
        </p:txBody>
      </p:sp>
      <p:sp>
        <p:nvSpPr>
          <p:cNvPr id="25" name="Rounded Rectangle 24"/>
          <p:cNvSpPr/>
          <p:nvPr/>
        </p:nvSpPr>
        <p:spPr>
          <a:xfrm>
            <a:off x="548640" y="4937760"/>
            <a:ext cx="11094415" cy="868680"/>
          </a:xfrm>
          <a:prstGeom prst="roundRect">
            <a:avLst>
              <a:gd name="adj" fmla="val 8000"/>
            </a:avLst>
          </a:prstGeom>
          <a:solidFill>
            <a:srgbClr val="EAF3FF"/>
          </a:solidFill>
          <a:ln>
            <a:noFill/>
          </a:ln>
          <a:effectLst/>
        </p:spPr>
        <p:txBody>
          <a:bodyPr rtlCol="0" anchor="ctr"/>
          <a:lstStyle/>
          <a:p>
            <a:pPr algn="ctr"/>
          </a:p>
        </p:txBody>
      </p:sp>
      <p:sp>
        <p:nvSpPr>
          <p:cNvPr id="26" name="TextBox 25"/>
          <p:cNvSpPr txBox="1"/>
          <p:nvPr/>
        </p:nvSpPr>
        <p:spPr>
          <a:xfrm>
            <a:off x="822959" y="4937760"/>
            <a:ext cx="10545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חשוב: </a:t>
            </a:r>
            <a:r>
              <a:rPr sz="1900" b="0" i="0" lang="he-IL">
                <a:solidFill>
                  <a:srgbClr val="0A1A33"/>
                </a:solidFill>
                <a:latin typeface="Rubik"/>
                <a:ea typeface="Rubik"/>
                <a:cs typeface="Rubik"/>
              </a:rPr>
              <a:t>הטיוטה היא חומר עבודה לבדיקת היועץ. היא לא אישור מקצועי ולא המלצת אשראי, ולא נשלחת לבנק אוטומטית.</a:t>
            </a:r>
          </a:p>
        </p:txBody>
      </p:sp>
      <p:sp>
        <p:nvSpPr>
          <p:cNvPr id="27" name="TextBox 2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a:t>
            </a:r>
            <a:r>
              <a:rPr sz="1200" b="0" i="0" lang="he-IL">
                <a:solidFill>
                  <a:srgbClr val="8D9299"/>
                </a:solidFill>
                <a:latin typeface="Rubik"/>
                <a:ea typeface="Rubik"/>
                <a:cs typeface="Rubik"/>
              </a:rPr>
              <a:t>  |  Claude Code ליועצי משכנתאות</a:t>
            </a:r>
          </a:p>
        </p:txBody>
      </p:sp>
      <p:pic>
        <p:nvPicPr>
          <p:cNvPr id="28" name="Picture 2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הכנות והתקנה ב־Windows</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185855" y="155448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5394960" y="1508760"/>
            <a:ext cx="56537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מנוי בתשלום</a:t>
            </a:r>
          </a:p>
        </p:txBody>
      </p:sp>
      <p:sp>
        <p:nvSpPr>
          <p:cNvPr id="8" name="TextBox 7"/>
          <p:cNvSpPr txBox="1"/>
          <p:nvPr/>
        </p:nvSpPr>
        <p:spPr>
          <a:xfrm>
            <a:off x="5394960" y="1892807"/>
            <a:ext cx="565373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נדרש מנוי Pro, Max, Team או Enterprise. מנוי חינמי לא מספיק.</a:t>
            </a:r>
          </a:p>
        </p:txBody>
      </p:sp>
      <p:sp>
        <p:nvSpPr>
          <p:cNvPr id="9" name="Oval 8"/>
          <p:cNvSpPr/>
          <p:nvPr/>
        </p:nvSpPr>
        <p:spPr>
          <a:xfrm>
            <a:off x="11185855" y="2423159"/>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5394960" y="2377439"/>
            <a:ext cx="56537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הורדה מהאתר הרשמי</a:t>
            </a:r>
          </a:p>
        </p:txBody>
      </p:sp>
      <p:sp>
        <p:nvSpPr>
          <p:cNvPr id="11" name="TextBox 10"/>
          <p:cNvSpPr txBox="1"/>
          <p:nvPr/>
        </p:nvSpPr>
        <p:spPr>
          <a:xfrm>
            <a:off x="5394960" y="2761487"/>
            <a:ext cx="565373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קובץ התקנה ל־Windows ‎x64‎. למחשבי ‎ARM64‎ יש קובץ נפרד.</a:t>
            </a:r>
          </a:p>
        </p:txBody>
      </p:sp>
      <p:sp>
        <p:nvSpPr>
          <p:cNvPr id="12" name="Oval 11"/>
          <p:cNvSpPr/>
          <p:nvPr/>
        </p:nvSpPr>
        <p:spPr>
          <a:xfrm>
            <a:off x="11185855" y="3291839"/>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5394960" y="3246120"/>
            <a:ext cx="56537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התקנה והפעלה</a:t>
            </a:r>
          </a:p>
        </p:txBody>
      </p:sp>
      <p:sp>
        <p:nvSpPr>
          <p:cNvPr id="14" name="TextBox 13"/>
          <p:cNvSpPr txBox="1"/>
          <p:nvPr/>
        </p:nvSpPr>
        <p:spPr>
          <a:xfrm>
            <a:off x="5394960" y="3630168"/>
            <a:ext cx="565373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מריצים את קובץ ההתקנה ופותחים את Claude מתפריט התחל.</a:t>
            </a:r>
          </a:p>
        </p:txBody>
      </p:sp>
      <p:sp>
        <p:nvSpPr>
          <p:cNvPr id="15" name="Oval 14"/>
          <p:cNvSpPr/>
          <p:nvPr/>
        </p:nvSpPr>
        <p:spPr>
          <a:xfrm>
            <a:off x="11185855" y="416052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16" name="TextBox 15"/>
          <p:cNvSpPr txBox="1"/>
          <p:nvPr/>
        </p:nvSpPr>
        <p:spPr>
          <a:xfrm>
            <a:off x="5394960" y="4114800"/>
            <a:ext cx="56537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התחברות</a:t>
            </a:r>
          </a:p>
        </p:txBody>
      </p:sp>
      <p:sp>
        <p:nvSpPr>
          <p:cNvPr id="17" name="TextBox 16"/>
          <p:cNvSpPr txBox="1"/>
          <p:nvPr/>
        </p:nvSpPr>
        <p:spPr>
          <a:xfrm>
            <a:off x="5394960" y="4498848"/>
            <a:ext cx="565373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נכנסים עם החשבון של Claude שיש בו את המנוי.</a:t>
            </a:r>
          </a:p>
        </p:txBody>
      </p:sp>
      <p:sp>
        <p:nvSpPr>
          <p:cNvPr id="18" name="Rounded Rectangle 17"/>
          <p:cNvSpPr/>
          <p:nvPr/>
        </p:nvSpPr>
        <p:spPr>
          <a:xfrm>
            <a:off x="548640" y="1508760"/>
            <a:ext cx="4526280" cy="3291840"/>
          </a:xfrm>
          <a:prstGeom prst="roundRect">
            <a:avLst>
              <a:gd name="adj" fmla="val 5000"/>
            </a:avLst>
          </a:prstGeom>
          <a:solidFill>
            <a:srgbClr val="F7F8F8"/>
          </a:solidFill>
          <a:ln>
            <a:noFill/>
          </a:ln>
          <a:effectLst/>
        </p:spPr>
        <p:txBody>
          <a:bodyPr rtlCol="0" anchor="ctr"/>
          <a:lstStyle/>
          <a:p>
            <a:pPr algn="ctr"/>
          </a:p>
        </p:txBody>
      </p:sp>
      <p:sp>
        <p:nvSpPr>
          <p:cNvPr id="19" name="TextBox 18"/>
          <p:cNvSpPr txBox="1"/>
          <p:nvPr/>
        </p:nvSpPr>
        <p:spPr>
          <a:xfrm>
            <a:off x="777240" y="1645920"/>
            <a:ext cx="4114800" cy="365760"/>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435FB5"/>
                </a:solidFill>
                <a:latin typeface="Rubik"/>
                <a:ea typeface="Rubik"/>
                <a:cs typeface="Rubik"/>
              </a:rPr>
              <a:t>קישורים רשמיים</a:t>
            </a:r>
          </a:p>
        </p:txBody>
      </p:sp>
      <p:sp>
        <p:nvSpPr>
          <p:cNvPr id="20" name="TextBox 19"/>
          <p:cNvSpPr txBox="1"/>
          <p:nvPr/>
        </p:nvSpPr>
        <p:spPr>
          <a:xfrm>
            <a:off x="777240" y="2057400"/>
            <a:ext cx="4114800" cy="777240"/>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קובץ ההתקנה ל־Windows:</a:t>
            </a:r>
          </a:p>
          <a:p>
            <a:pPr rtl="1" algn="r">
              <a:lnSpc>
                <a:spcPct val="110000"/>
              </a:lnSpc>
              <a:spcAft>
                <a:spcPts val="600"/>
              </a:spcAft>
            </a:pPr>
            <a:r>
              <a:rPr sz="1700" b="1" i="0" lang="he-IL">
                <a:solidFill>
                  <a:srgbClr val="435FB5"/>
                </a:solidFill>
                <a:latin typeface="Rubik"/>
                <a:ea typeface="Rubik"/>
                <a:cs typeface="Rubik"/>
                <a:hlinkClick r:id="rId2"/>
              </a:rPr>
              <a:t>‎x64‎</a:t>
            </a:r>
            <a:r>
              <a:rPr sz="1700" b="0" i="0" lang="he-IL">
                <a:solidFill>
                  <a:srgbClr val="8D9299"/>
                </a:solidFill>
                <a:latin typeface="Rubik"/>
                <a:ea typeface="Rubik"/>
                <a:cs typeface="Rubik"/>
              </a:rPr>
              <a:t>   |   </a:t>
            </a:r>
            <a:r>
              <a:rPr sz="1700" b="1" i="0" lang="he-IL">
                <a:solidFill>
                  <a:srgbClr val="435FB5"/>
                </a:solidFill>
                <a:latin typeface="Rubik"/>
                <a:ea typeface="Rubik"/>
                <a:cs typeface="Rubik"/>
                <a:hlinkClick r:id="rId3"/>
              </a:rPr>
              <a:t>‎ARM64‎</a:t>
            </a:r>
          </a:p>
        </p:txBody>
      </p:sp>
      <p:sp>
        <p:nvSpPr>
          <p:cNvPr id="21" name="TextBox 20"/>
          <p:cNvSpPr txBox="1"/>
          <p:nvPr/>
        </p:nvSpPr>
        <p:spPr>
          <a:xfrm>
            <a:off x="777240" y="2880360"/>
            <a:ext cx="4114800" cy="3657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מדריך ההתקנה:</a:t>
            </a:r>
          </a:p>
        </p:txBody>
      </p:sp>
      <p:sp>
        <p:nvSpPr>
          <p:cNvPr id="22" name="Rounded Rectangle 21"/>
          <p:cNvSpPr/>
          <p:nvPr/>
        </p:nvSpPr>
        <p:spPr>
          <a:xfrm>
            <a:off x="731520" y="3246120"/>
            <a:ext cx="4160520" cy="457200"/>
          </a:xfrm>
          <a:prstGeom prst="roundRect">
            <a:avLst>
              <a:gd name="adj" fmla="val 6000"/>
            </a:avLst>
          </a:prstGeom>
          <a:solidFill>
            <a:srgbClr val="0A1A33"/>
          </a:solidFill>
          <a:ln>
            <a:noFill/>
          </a:ln>
          <a:effectLst/>
        </p:spPr>
        <p:txBody>
          <a:bodyPr rtlCol="0" anchor="ctr"/>
          <a:lstStyle/>
          <a:p>
            <a:pPr algn="ctr"/>
          </a:p>
        </p:txBody>
      </p:sp>
      <p:sp>
        <p:nvSpPr>
          <p:cNvPr id="23" name="TextBox 22"/>
          <p:cNvSpPr txBox="1"/>
          <p:nvPr/>
        </p:nvSpPr>
        <p:spPr>
          <a:xfrm>
            <a:off x="868680" y="3355848"/>
            <a:ext cx="3886200" cy="274319"/>
          </a:xfrm>
          <a:prstGeom prst="rect">
            <a:avLst/>
          </a:prstGeom>
          <a:noFill/>
        </p:spPr>
        <p:txBody>
          <a:bodyPr wrap="square" lIns="73152" rIns="73152" tIns="54864" bIns="54864" anchor="t">
            <a:noAutofit/>
          </a:bodyPr>
          <a:lstStyle/>
          <a:p>
            <a:pPr rtl="0" algn="l">
              <a:lnSpc>
                <a:spcPct val="115000"/>
              </a:lnSpc>
              <a:spcAft>
                <a:spcPts val="200"/>
              </a:spcAft>
            </a:pPr>
            <a:r>
              <a:rPr sz="1150" b="0" i="0" lang="en-US">
                <a:solidFill>
                  <a:srgbClr val="FFFFFF"/>
                </a:solidFill>
                <a:latin typeface="Consolas"/>
                <a:ea typeface="Consolas"/>
                <a:cs typeface="Rubik"/>
              </a:rPr>
              <a:t>code.claude.com/docs/en/desktop-quickstart</a:t>
            </a:r>
          </a:p>
        </p:txBody>
      </p:sp>
      <p:sp>
        <p:nvSpPr>
          <p:cNvPr id="24" name="TextBox 23"/>
          <p:cNvSpPr txBox="1"/>
          <p:nvPr/>
        </p:nvSpPr>
        <p:spPr>
          <a:xfrm>
            <a:off x="777240" y="3840480"/>
            <a:ext cx="4114800" cy="86868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לא צריך להתקין ‎Node.js‎ או את גרסת הטרמינל. לשונית Code כבר כלולה באפליקציה.</a:t>
            </a:r>
          </a:p>
        </p:txBody>
      </p:sp>
      <p:sp>
        <p:nvSpPr>
          <p:cNvPr id="25" name="Rounded Rectangle 24"/>
          <p:cNvSpPr/>
          <p:nvPr/>
        </p:nvSpPr>
        <p:spPr>
          <a:xfrm>
            <a:off x="548640" y="5074920"/>
            <a:ext cx="11094415" cy="777240"/>
          </a:xfrm>
          <a:prstGeom prst="roundRect">
            <a:avLst>
              <a:gd name="adj" fmla="val 8000"/>
            </a:avLst>
          </a:prstGeom>
          <a:solidFill>
            <a:srgbClr val="EAF3FF"/>
          </a:solidFill>
          <a:ln>
            <a:noFill/>
          </a:ln>
          <a:effectLst/>
        </p:spPr>
        <p:txBody>
          <a:bodyPr rtlCol="0" anchor="ctr"/>
          <a:lstStyle/>
          <a:p>
            <a:pPr algn="ctr"/>
          </a:p>
        </p:txBody>
      </p:sp>
      <p:sp>
        <p:nvSpPr>
          <p:cNvPr id="26" name="TextBox 25"/>
          <p:cNvSpPr txBox="1"/>
          <p:nvPr/>
        </p:nvSpPr>
        <p:spPr>
          <a:xfrm>
            <a:off x="822959" y="5074920"/>
            <a:ext cx="10545775" cy="777240"/>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435FB5"/>
                </a:solidFill>
                <a:latin typeface="Rubik"/>
                <a:ea typeface="Rubik"/>
                <a:cs typeface="Rubik"/>
              </a:rPr>
              <a:t>לבדיקה לפני השיעור: </a:t>
            </a:r>
            <a:r>
              <a:rPr sz="1800" b="0" i="0" lang="he-IL">
                <a:solidFill>
                  <a:srgbClr val="0A1A33"/>
                </a:solidFill>
                <a:latin typeface="Rubik"/>
                <a:ea typeface="Rubik"/>
                <a:cs typeface="Rubik"/>
              </a:rPr>
              <a:t>אם מופיעה הודעה שצריך לשדרג אחרי לחיצה על Code, צריך לרכוש מנוי מתאים קודם.</a:t>
            </a:r>
          </a:p>
        </p:txBody>
      </p:sp>
      <p:sp>
        <p:nvSpPr>
          <p:cNvPr id="27" name="TextBox 2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4</a:t>
            </a:r>
            <a:r>
              <a:rPr sz="1200" b="0" i="0" lang="he-IL">
                <a:solidFill>
                  <a:srgbClr val="8D9299"/>
                </a:solidFill>
                <a:latin typeface="Rubik"/>
                <a:ea typeface="Rubik"/>
                <a:cs typeface="Rubik"/>
              </a:rPr>
              <a:t>  |  Claude Code ליועצי משכנתאות</a:t>
            </a:r>
          </a:p>
        </p:txBody>
      </p:sp>
      <p:pic>
        <p:nvPicPr>
          <p:cNvPr id="28" name="Picture 27" descr="logo_crop.png"/>
          <p:cNvPicPr>
            <a:picLocks noChangeAspect="1"/>
          </p:cNvPicPr>
          <p:nvPr/>
        </p:nvPicPr>
        <p:blipFill>
          <a:blip r:embed="rId4"/>
          <a:stretch>
            <a:fillRect/>
          </a:stretch>
        </p:blipFill>
        <p:spPr>
          <a:xfrm>
            <a:off x="548640" y="6291072"/>
            <a:ext cx="753661" cy="4389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פתיחת סביבת העבודה הראשונה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185855" y="1490472"/>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1</a:t>
            </a:r>
          </a:p>
        </p:txBody>
      </p:sp>
      <p:sp>
        <p:nvSpPr>
          <p:cNvPr id="7" name="TextBox 6"/>
          <p:cNvSpPr txBox="1"/>
          <p:nvPr/>
        </p:nvSpPr>
        <p:spPr>
          <a:xfrm>
            <a:off x="5166360" y="1463040"/>
            <a:ext cx="58823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פותחים את לשונית Code</a:t>
            </a:r>
          </a:p>
        </p:txBody>
      </p:sp>
      <p:sp>
        <p:nvSpPr>
          <p:cNvPr id="8" name="TextBox 7"/>
          <p:cNvSpPr txBox="1"/>
          <p:nvPr/>
        </p:nvSpPr>
        <p:spPr>
          <a:xfrm>
            <a:off x="5166360" y="1847088"/>
            <a:ext cx="5882335" cy="50292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בראש סרגל הצד. אם רואים רק סמלים, מרחפים מעליהם עם העכבר כדי לראות את השם.</a:t>
            </a:r>
          </a:p>
        </p:txBody>
      </p:sp>
      <p:sp>
        <p:nvSpPr>
          <p:cNvPr id="9" name="Oval 8"/>
          <p:cNvSpPr/>
          <p:nvPr/>
        </p:nvSpPr>
        <p:spPr>
          <a:xfrm>
            <a:off x="11185855" y="2423160"/>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2</a:t>
            </a:r>
          </a:p>
        </p:txBody>
      </p:sp>
      <p:sp>
        <p:nvSpPr>
          <p:cNvPr id="10" name="TextBox 9"/>
          <p:cNvSpPr txBox="1"/>
          <p:nvPr/>
        </p:nvSpPr>
        <p:spPr>
          <a:xfrm>
            <a:off x="5166360" y="2395728"/>
            <a:ext cx="58823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בוחרים עבודה מקומית</a:t>
            </a:r>
          </a:p>
        </p:txBody>
      </p:sp>
      <p:sp>
        <p:nvSpPr>
          <p:cNvPr id="11" name="TextBox 10"/>
          <p:cNvSpPr txBox="1"/>
          <p:nvPr/>
        </p:nvSpPr>
        <p:spPr>
          <a:xfrm>
            <a:off x="5166360" y="2779776"/>
            <a:ext cx="5882335" cy="50292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בשורה שמתחת לתיבת ההוראות: בורר הסביבה ← הקבוצה Local.</a:t>
            </a:r>
          </a:p>
        </p:txBody>
      </p:sp>
      <p:sp>
        <p:nvSpPr>
          <p:cNvPr id="12" name="Oval 11"/>
          <p:cNvSpPr/>
          <p:nvPr/>
        </p:nvSpPr>
        <p:spPr>
          <a:xfrm>
            <a:off x="11185855" y="3355848"/>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3</a:t>
            </a:r>
          </a:p>
        </p:txBody>
      </p:sp>
      <p:sp>
        <p:nvSpPr>
          <p:cNvPr id="13" name="TextBox 12"/>
          <p:cNvSpPr txBox="1"/>
          <p:nvPr/>
        </p:nvSpPr>
        <p:spPr>
          <a:xfrm>
            <a:off x="5166360" y="3328416"/>
            <a:ext cx="58823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בוחרים את תיקיית התרגול</a:t>
            </a:r>
          </a:p>
        </p:txBody>
      </p:sp>
      <p:sp>
        <p:nvSpPr>
          <p:cNvPr id="14" name="TextBox 13"/>
          <p:cNvSpPr txBox="1"/>
          <p:nvPr/>
        </p:nvSpPr>
        <p:spPr>
          <a:xfrm>
            <a:off x="5166360" y="3712464"/>
            <a:ext cx="5882335" cy="50292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בורר התיקייה שליד בורר הסביבה ← Open folder… ← התיקייה שיצרתם.</a:t>
            </a:r>
          </a:p>
        </p:txBody>
      </p:sp>
      <p:sp>
        <p:nvSpPr>
          <p:cNvPr id="15" name="Oval 14"/>
          <p:cNvSpPr/>
          <p:nvPr/>
        </p:nvSpPr>
        <p:spPr>
          <a:xfrm>
            <a:off x="11185855" y="4288536"/>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4</a:t>
            </a:r>
          </a:p>
        </p:txBody>
      </p:sp>
      <p:sp>
        <p:nvSpPr>
          <p:cNvPr id="16" name="TextBox 15"/>
          <p:cNvSpPr txBox="1"/>
          <p:nvPr/>
        </p:nvSpPr>
        <p:spPr>
          <a:xfrm>
            <a:off x="5166360" y="4261104"/>
            <a:ext cx="5882335" cy="384048"/>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בודקים את מצב ההרשאות</a:t>
            </a:r>
          </a:p>
        </p:txBody>
      </p:sp>
      <p:sp>
        <p:nvSpPr>
          <p:cNvPr id="17" name="TextBox 16"/>
          <p:cNvSpPr txBox="1"/>
          <p:nvPr/>
        </p:nvSpPr>
        <p:spPr>
          <a:xfrm>
            <a:off x="5166360" y="4645152"/>
            <a:ext cx="5882335" cy="50292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בתחילת התרגול: Manual, כדי ש־Claude ישאל לפני כל שינוי.</a:t>
            </a:r>
          </a:p>
        </p:txBody>
      </p:sp>
      <p:sp>
        <p:nvSpPr>
          <p:cNvPr id="18" name="TextBox 17"/>
          <p:cNvSpPr txBox="1"/>
          <p:nvPr/>
        </p:nvSpPr>
        <p:spPr>
          <a:xfrm>
            <a:off x="548640" y="1463040"/>
            <a:ext cx="4206240" cy="365760"/>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לפני שמתחילים: יוצרים תיקייה ריקה</a:t>
            </a:r>
          </a:p>
        </p:txBody>
      </p:sp>
      <p:sp>
        <p:nvSpPr>
          <p:cNvPr id="19" name="Rounded Rectangle 18"/>
          <p:cNvSpPr/>
          <p:nvPr/>
        </p:nvSpPr>
        <p:spPr>
          <a:xfrm>
            <a:off x="548640" y="1874519"/>
            <a:ext cx="4206240" cy="566928"/>
          </a:xfrm>
          <a:prstGeom prst="roundRect">
            <a:avLst>
              <a:gd name="adj" fmla="val 6000"/>
            </a:avLst>
          </a:prstGeom>
          <a:solidFill>
            <a:srgbClr val="0A1A33"/>
          </a:solidFill>
          <a:ln>
            <a:noFill/>
          </a:ln>
          <a:effectLst/>
        </p:spPr>
        <p:txBody>
          <a:bodyPr rtlCol="0" anchor="ctr"/>
          <a:lstStyle/>
          <a:p>
            <a:pPr algn="ctr"/>
          </a:p>
        </p:txBody>
      </p:sp>
      <p:sp>
        <p:nvSpPr>
          <p:cNvPr id="20" name="TextBox 19"/>
          <p:cNvSpPr txBox="1"/>
          <p:nvPr/>
        </p:nvSpPr>
        <p:spPr>
          <a:xfrm>
            <a:off x="685800" y="1984248"/>
            <a:ext cx="3931920" cy="38404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C:\Claude-Training\levi-case</a:t>
            </a:r>
          </a:p>
        </p:txBody>
      </p:sp>
      <p:sp>
        <p:nvSpPr>
          <p:cNvPr id="21" name="TextBox 20"/>
          <p:cNvSpPr txBox="1"/>
          <p:nvPr/>
        </p:nvSpPr>
        <p:spPr>
          <a:xfrm>
            <a:off x="548640" y="2560320"/>
            <a:ext cx="4206240" cy="73152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אפשר לבחור מיקום אחר. העיקר שזו תיקייה נפרדת לתרגול הזה בלבד.</a:t>
            </a:r>
          </a:p>
        </p:txBody>
      </p:sp>
      <p:sp>
        <p:nvSpPr>
          <p:cNvPr id="22" name="TextBox 21"/>
          <p:cNvSpPr txBox="1"/>
          <p:nvPr/>
        </p:nvSpPr>
        <p:spPr>
          <a:xfrm>
            <a:off x="548640" y="3337560"/>
            <a:ext cx="4206240" cy="365760"/>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שמות האפשרויות באפליקציה</a:t>
            </a:r>
          </a:p>
        </p:txBody>
      </p:sp>
      <p:sp>
        <p:nvSpPr>
          <p:cNvPr id="23" name="Rounded Rectangle 22"/>
          <p:cNvSpPr/>
          <p:nvPr/>
        </p:nvSpPr>
        <p:spPr>
          <a:xfrm>
            <a:off x="548640" y="3749039"/>
            <a:ext cx="4206240" cy="1600200"/>
          </a:xfrm>
          <a:prstGeom prst="roundRect">
            <a:avLst>
              <a:gd name="adj" fmla="val 6000"/>
            </a:avLst>
          </a:prstGeom>
          <a:solidFill>
            <a:srgbClr val="0A1A33"/>
          </a:solidFill>
          <a:ln>
            <a:noFill/>
          </a:ln>
          <a:effectLst/>
        </p:spPr>
        <p:txBody>
          <a:bodyPr rtlCol="0" anchor="ctr"/>
          <a:lstStyle/>
          <a:p>
            <a:pPr algn="ctr"/>
          </a:p>
        </p:txBody>
      </p:sp>
      <p:sp>
        <p:nvSpPr>
          <p:cNvPr id="24" name="TextBox 23"/>
          <p:cNvSpPr txBox="1"/>
          <p:nvPr/>
        </p:nvSpPr>
        <p:spPr>
          <a:xfrm>
            <a:off x="685800" y="3858768"/>
            <a:ext cx="3931920" cy="1417319"/>
          </a:xfrm>
          <a:prstGeom prst="rect">
            <a:avLst/>
          </a:prstGeom>
          <a:noFill/>
        </p:spPr>
        <p:txBody>
          <a:bodyPr wrap="square" lIns="73152" rIns="73152" tIns="54864" bIns="54864" anchor="t">
            <a:noAutofit/>
          </a:bodyPr>
          <a:lstStyle/>
          <a:p>
            <a:pPr rtl="0" algn="l">
              <a:lnSpc>
                <a:spcPct val="115000"/>
              </a:lnSpc>
              <a:spcAft>
                <a:spcPts val="200"/>
              </a:spcAft>
            </a:pPr>
            <a:r>
              <a:rPr sz="1600" b="0" i="0" lang="en-US">
                <a:solidFill>
                  <a:srgbClr val="FFFFFF"/>
                </a:solidFill>
                <a:latin typeface="Consolas"/>
                <a:ea typeface="Consolas"/>
                <a:cs typeface="Rubik"/>
              </a:rPr>
              <a:t>Code</a:t>
            </a:r>
          </a:p>
          <a:p>
            <a:pPr rtl="0" algn="l">
              <a:lnSpc>
                <a:spcPct val="115000"/>
              </a:lnSpc>
              <a:spcAft>
                <a:spcPts val="200"/>
              </a:spcAft>
            </a:pPr>
            <a:r>
              <a:rPr sz="1600" b="0" i="0" lang="en-US">
                <a:solidFill>
                  <a:srgbClr val="FFFFFF"/>
                </a:solidFill>
                <a:latin typeface="Consolas"/>
                <a:ea typeface="Consolas"/>
                <a:cs typeface="Rubik"/>
              </a:rPr>
              <a:t>Local</a:t>
            </a:r>
          </a:p>
          <a:p>
            <a:pPr rtl="0" algn="l">
              <a:lnSpc>
                <a:spcPct val="115000"/>
              </a:lnSpc>
              <a:spcAft>
                <a:spcPts val="200"/>
              </a:spcAft>
            </a:pPr>
            <a:r>
              <a:rPr sz="1600" b="0" i="0" lang="en-US">
                <a:solidFill>
                  <a:srgbClr val="FFFFFF"/>
                </a:solidFill>
                <a:latin typeface="Consolas"/>
                <a:ea typeface="Consolas"/>
                <a:cs typeface="Rubik"/>
              </a:rPr>
              <a:t>Open folder…</a:t>
            </a:r>
          </a:p>
          <a:p>
            <a:pPr rtl="0" algn="l">
              <a:lnSpc>
                <a:spcPct val="115000"/>
              </a:lnSpc>
              <a:spcAft>
                <a:spcPts val="200"/>
              </a:spcAft>
            </a:pPr>
            <a:r>
              <a:rPr sz="1600" b="0" i="0" lang="en-US">
                <a:solidFill>
                  <a:srgbClr val="FFFFFF"/>
                </a:solidFill>
                <a:latin typeface="Consolas"/>
                <a:ea typeface="Consolas"/>
                <a:cs typeface="Rubik"/>
              </a:rPr>
              <a:t>Manual</a:t>
            </a:r>
          </a:p>
        </p:txBody>
      </p:sp>
      <p:sp>
        <p:nvSpPr>
          <p:cNvPr id="25" name="TextBox 2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5</a:t>
            </a:r>
            <a:r>
              <a:rPr sz="1200" b="0" i="0" lang="he-IL">
                <a:solidFill>
                  <a:srgbClr val="8D9299"/>
                </a:solidFill>
                <a:latin typeface="Rubik"/>
                <a:ea typeface="Rubik"/>
                <a:cs typeface="Rubik"/>
              </a:rPr>
              <a:t>  |  Claude Code ליועצי משכנתאות</a:t>
            </a:r>
          </a:p>
        </p:txBody>
      </p:sp>
      <p:pic>
        <p:nvPicPr>
          <p:cNvPr id="26" name="Picture 2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היכרות עם המסך</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1417320"/>
            <a:ext cx="5852160" cy="4343400"/>
          </a:xfrm>
          <a:prstGeom prst="roundRect">
            <a:avLst>
              <a:gd name="adj" fmla="val 3000"/>
            </a:avLst>
          </a:prstGeom>
          <a:solidFill>
            <a:srgbClr val="F7F8F8"/>
          </a:solidFill>
          <a:ln w="12700">
            <a:solidFill>
              <a:srgbClr val="D4D6D8"/>
            </a:solidFill>
          </a:ln>
          <a:effectLst/>
        </p:spPr>
        <p:txBody>
          <a:bodyPr rtlCol="0" anchor="ctr"/>
          <a:lstStyle/>
          <a:p>
            <a:pPr algn="ctr"/>
          </a:p>
        </p:txBody>
      </p:sp>
      <p:sp>
        <p:nvSpPr>
          <p:cNvPr id="6" name="Rectangle 5"/>
          <p:cNvSpPr/>
          <p:nvPr/>
        </p:nvSpPr>
        <p:spPr>
          <a:xfrm>
            <a:off x="548640" y="1417320"/>
            <a:ext cx="1463040" cy="4343400"/>
          </a:xfrm>
          <a:prstGeom prst="rect">
            <a:avLst/>
          </a:prstGeom>
          <a:solidFill>
            <a:srgbClr val="E6E7E8"/>
          </a:solidFill>
          <a:ln>
            <a:noFill/>
          </a:ln>
          <a:effectLst/>
        </p:spPr>
        <p:txBody>
          <a:bodyPr rtlCol="0" anchor="ctr"/>
          <a:lstStyle/>
          <a:p>
            <a:pPr algn="ctr"/>
          </a:p>
        </p:txBody>
      </p:sp>
      <p:sp>
        <p:nvSpPr>
          <p:cNvPr id="7" name="TextBox 6"/>
          <p:cNvSpPr txBox="1"/>
          <p:nvPr/>
        </p:nvSpPr>
        <p:spPr>
          <a:xfrm>
            <a:off x="640080" y="1527048"/>
            <a:ext cx="1417320" cy="320040"/>
          </a:xfrm>
          <a:prstGeom prst="rect">
            <a:avLst/>
          </a:prstGeom>
          <a:noFill/>
        </p:spPr>
        <p:txBody>
          <a:bodyPr wrap="square" lIns="73152" rIns="73152" tIns="54864" bIns="54864" anchor="t">
            <a:noAutofit/>
          </a:bodyPr>
          <a:lstStyle/>
          <a:p>
            <a:pPr rtl="0" algn="l">
              <a:lnSpc>
                <a:spcPct val="110000"/>
              </a:lnSpc>
              <a:spcAft>
                <a:spcPts val="600"/>
              </a:spcAft>
            </a:pPr>
            <a:r>
              <a:rPr sz="1300" b="1" i="0" lang="en-US">
                <a:solidFill>
                  <a:srgbClr val="0A1A33"/>
                </a:solidFill>
                <a:latin typeface="Consolas"/>
                <a:ea typeface="Consolas"/>
                <a:cs typeface="Rubik"/>
              </a:rPr>
              <a:t>Code</a:t>
            </a:r>
          </a:p>
        </p:txBody>
      </p:sp>
      <p:sp>
        <p:nvSpPr>
          <p:cNvPr id="8" name="Rounded Rectangle 7"/>
          <p:cNvSpPr/>
          <p:nvPr/>
        </p:nvSpPr>
        <p:spPr>
          <a:xfrm>
            <a:off x="685800" y="1965960"/>
            <a:ext cx="1188720" cy="274320"/>
          </a:xfrm>
          <a:prstGeom prst="roundRect">
            <a:avLst>
              <a:gd name="adj" fmla="val 20000"/>
            </a:avLst>
          </a:prstGeom>
          <a:solidFill>
            <a:srgbClr val="FFFFFF"/>
          </a:solidFill>
          <a:ln>
            <a:noFill/>
          </a:ln>
          <a:effectLst/>
        </p:spPr>
        <p:txBody>
          <a:bodyPr rtlCol="0" anchor="ctr"/>
          <a:lstStyle/>
          <a:p>
            <a:pPr algn="ctr"/>
          </a:p>
        </p:txBody>
      </p:sp>
      <p:sp>
        <p:nvSpPr>
          <p:cNvPr id="9" name="Rounded Rectangle 8"/>
          <p:cNvSpPr/>
          <p:nvPr/>
        </p:nvSpPr>
        <p:spPr>
          <a:xfrm>
            <a:off x="685800" y="2377440"/>
            <a:ext cx="1188720" cy="274320"/>
          </a:xfrm>
          <a:prstGeom prst="roundRect">
            <a:avLst>
              <a:gd name="adj" fmla="val 20000"/>
            </a:avLst>
          </a:prstGeom>
          <a:solidFill>
            <a:srgbClr val="FFFFFF"/>
          </a:solidFill>
          <a:ln>
            <a:noFill/>
          </a:ln>
          <a:effectLst/>
        </p:spPr>
        <p:txBody>
          <a:bodyPr rtlCol="0" anchor="ctr"/>
          <a:lstStyle/>
          <a:p>
            <a:pPr algn="ctr"/>
          </a:p>
        </p:txBody>
      </p:sp>
      <p:sp>
        <p:nvSpPr>
          <p:cNvPr id="10" name="Rounded Rectangle 9"/>
          <p:cNvSpPr/>
          <p:nvPr/>
        </p:nvSpPr>
        <p:spPr>
          <a:xfrm>
            <a:off x="685800" y="2788920"/>
            <a:ext cx="1188720" cy="274320"/>
          </a:xfrm>
          <a:prstGeom prst="roundRect">
            <a:avLst>
              <a:gd name="adj" fmla="val 20000"/>
            </a:avLst>
          </a:prstGeom>
          <a:solidFill>
            <a:srgbClr val="FFFFFF"/>
          </a:solidFill>
          <a:ln>
            <a:noFill/>
          </a:ln>
          <a:effectLst/>
        </p:spPr>
        <p:txBody>
          <a:bodyPr rtlCol="0" anchor="ctr"/>
          <a:lstStyle/>
          <a:p>
            <a:pPr algn="ctr"/>
          </a:p>
        </p:txBody>
      </p:sp>
      <p:sp>
        <p:nvSpPr>
          <p:cNvPr id="11" name="Rounded Rectangle 10"/>
          <p:cNvSpPr/>
          <p:nvPr/>
        </p:nvSpPr>
        <p:spPr>
          <a:xfrm>
            <a:off x="685800" y="3200400"/>
            <a:ext cx="1188720" cy="274320"/>
          </a:xfrm>
          <a:prstGeom prst="roundRect">
            <a:avLst>
              <a:gd name="adj" fmla="val 20000"/>
            </a:avLst>
          </a:prstGeom>
          <a:solidFill>
            <a:srgbClr val="FFFFFF"/>
          </a:solidFill>
          <a:ln>
            <a:noFill/>
          </a:ln>
          <a:effectLst/>
        </p:spPr>
        <p:txBody>
          <a:bodyPr rtlCol="0" anchor="ctr"/>
          <a:lstStyle/>
          <a:p>
            <a:pPr algn="ctr"/>
          </a:p>
        </p:txBody>
      </p:sp>
      <p:sp>
        <p:nvSpPr>
          <p:cNvPr id="12" name="TextBox 11"/>
          <p:cNvSpPr txBox="1"/>
          <p:nvPr/>
        </p:nvSpPr>
        <p:spPr>
          <a:xfrm>
            <a:off x="640080" y="3703320"/>
            <a:ext cx="1463040" cy="320040"/>
          </a:xfrm>
          <a:prstGeom prst="rect">
            <a:avLst/>
          </a:prstGeom>
          <a:noFill/>
        </p:spPr>
        <p:txBody>
          <a:bodyPr wrap="square" lIns="73152" rIns="73152" tIns="54864" bIns="54864" anchor="t">
            <a:noAutofit/>
          </a:bodyPr>
          <a:lstStyle/>
          <a:p>
            <a:pPr rtl="0" algn="l">
              <a:lnSpc>
                <a:spcPct val="110000"/>
              </a:lnSpc>
              <a:spcAft>
                <a:spcPts val="600"/>
              </a:spcAft>
            </a:pPr>
            <a:r>
              <a:rPr sz="1200" b="0" i="0" lang="en-US">
                <a:solidFill>
                  <a:srgbClr val="4C5058"/>
                </a:solidFill>
                <a:latin typeface="Consolas"/>
                <a:ea typeface="Consolas"/>
                <a:cs typeface="Rubik"/>
              </a:rPr>
              <a:t>+ New</a:t>
            </a:r>
          </a:p>
        </p:txBody>
      </p:sp>
      <p:sp>
        <p:nvSpPr>
          <p:cNvPr id="13" name="Rounded Rectangle 12"/>
          <p:cNvSpPr/>
          <p:nvPr/>
        </p:nvSpPr>
        <p:spPr>
          <a:xfrm>
            <a:off x="2286000" y="1691640"/>
            <a:ext cx="3840480" cy="502920"/>
          </a:xfrm>
          <a:prstGeom prst="roundRect">
            <a:avLst>
              <a:gd name="adj" fmla="val 20000"/>
            </a:avLst>
          </a:prstGeom>
          <a:solidFill>
            <a:srgbClr val="FFFFFF"/>
          </a:solidFill>
          <a:ln>
            <a:noFill/>
          </a:ln>
          <a:effectLst/>
        </p:spPr>
        <p:txBody>
          <a:bodyPr rtlCol="0" anchor="ctr"/>
          <a:lstStyle/>
          <a:p>
            <a:pPr algn="ctr"/>
          </a:p>
        </p:txBody>
      </p:sp>
      <p:sp>
        <p:nvSpPr>
          <p:cNvPr id="14" name="Rounded Rectangle 13"/>
          <p:cNvSpPr/>
          <p:nvPr/>
        </p:nvSpPr>
        <p:spPr>
          <a:xfrm>
            <a:off x="3108960" y="2404872"/>
            <a:ext cx="3017520" cy="502920"/>
          </a:xfrm>
          <a:prstGeom prst="roundRect">
            <a:avLst>
              <a:gd name="adj" fmla="val 20000"/>
            </a:avLst>
          </a:prstGeom>
          <a:solidFill>
            <a:srgbClr val="EAF3FF"/>
          </a:solidFill>
          <a:ln>
            <a:noFill/>
          </a:ln>
          <a:effectLst/>
        </p:spPr>
        <p:txBody>
          <a:bodyPr rtlCol="0" anchor="ctr"/>
          <a:lstStyle/>
          <a:p>
            <a:pPr algn="ctr"/>
          </a:p>
        </p:txBody>
      </p:sp>
      <p:sp>
        <p:nvSpPr>
          <p:cNvPr id="15" name="Rounded Rectangle 14"/>
          <p:cNvSpPr/>
          <p:nvPr/>
        </p:nvSpPr>
        <p:spPr>
          <a:xfrm>
            <a:off x="2286000" y="3118104"/>
            <a:ext cx="3840480" cy="502920"/>
          </a:xfrm>
          <a:prstGeom prst="roundRect">
            <a:avLst>
              <a:gd name="adj" fmla="val 20000"/>
            </a:avLst>
          </a:prstGeom>
          <a:solidFill>
            <a:srgbClr val="FFFFFF"/>
          </a:solidFill>
          <a:ln>
            <a:noFill/>
          </a:ln>
          <a:effectLst/>
        </p:spPr>
        <p:txBody>
          <a:bodyPr rtlCol="0" anchor="ctr"/>
          <a:lstStyle/>
          <a:p>
            <a:pPr algn="ctr"/>
          </a:p>
        </p:txBody>
      </p:sp>
      <p:sp>
        <p:nvSpPr>
          <p:cNvPr id="16" name="Rounded Rectangle 15"/>
          <p:cNvSpPr/>
          <p:nvPr/>
        </p:nvSpPr>
        <p:spPr>
          <a:xfrm>
            <a:off x="5074920" y="3886200"/>
            <a:ext cx="868680" cy="310896"/>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200" b="1" i="0" lang="en-US">
                <a:solidFill>
                  <a:srgbClr val="158E78"/>
                </a:solidFill>
                <a:latin typeface="Rubik"/>
                <a:ea typeface="Rubik"/>
                <a:cs typeface="Rubik"/>
              </a:rPr>
              <a:t>+12 -1</a:t>
            </a:r>
          </a:p>
        </p:txBody>
      </p:sp>
      <p:sp>
        <p:nvSpPr>
          <p:cNvPr id="17" name="Rounded Rectangle 16"/>
          <p:cNvSpPr/>
          <p:nvPr/>
        </p:nvSpPr>
        <p:spPr>
          <a:xfrm>
            <a:off x="2194560" y="4389120"/>
            <a:ext cx="4023360" cy="640080"/>
          </a:xfrm>
          <a:prstGeom prst="roundRect">
            <a:avLst>
              <a:gd name="adj" fmla="val 15000"/>
            </a:avLst>
          </a:prstGeom>
          <a:solidFill>
            <a:srgbClr val="FFFFFF"/>
          </a:solidFill>
          <a:ln w="19050">
            <a:solidFill>
              <a:srgbClr val="435FB5"/>
            </a:solidFill>
          </a:ln>
          <a:effectLst/>
        </p:spPr>
        <p:txBody>
          <a:bodyPr rtlCol="0" anchor="ctr"/>
          <a:lstStyle/>
          <a:p>
            <a:pPr algn="ctr"/>
          </a:p>
        </p:txBody>
      </p:sp>
      <p:sp>
        <p:nvSpPr>
          <p:cNvPr id="18" name="Rounded Rectangle 17"/>
          <p:cNvSpPr/>
          <p:nvPr/>
        </p:nvSpPr>
        <p:spPr>
          <a:xfrm>
            <a:off x="2194560" y="516635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Local</a:t>
            </a:r>
          </a:p>
        </p:txBody>
      </p:sp>
      <p:sp>
        <p:nvSpPr>
          <p:cNvPr id="19" name="Rounded Rectangle 18"/>
          <p:cNvSpPr/>
          <p:nvPr/>
        </p:nvSpPr>
        <p:spPr>
          <a:xfrm>
            <a:off x="3081528" y="5166359"/>
            <a:ext cx="96012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levi-case</a:t>
            </a:r>
          </a:p>
        </p:txBody>
      </p:sp>
      <p:sp>
        <p:nvSpPr>
          <p:cNvPr id="20" name="Rounded Rectangle 19"/>
          <p:cNvSpPr/>
          <p:nvPr/>
        </p:nvSpPr>
        <p:spPr>
          <a:xfrm>
            <a:off x="4151376" y="5166359"/>
            <a:ext cx="86868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Manual</a:t>
            </a:r>
          </a:p>
        </p:txBody>
      </p:sp>
      <p:sp>
        <p:nvSpPr>
          <p:cNvPr id="21" name="Rounded Rectangle 20"/>
          <p:cNvSpPr/>
          <p:nvPr/>
        </p:nvSpPr>
        <p:spPr>
          <a:xfrm>
            <a:off x="5129783" y="516635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model</a:t>
            </a:r>
          </a:p>
        </p:txBody>
      </p:sp>
      <p:sp>
        <p:nvSpPr>
          <p:cNvPr id="22" name="Oval 21"/>
          <p:cNvSpPr/>
          <p:nvPr/>
        </p:nvSpPr>
        <p:spPr>
          <a:xfrm>
            <a:off x="1645919" y="149047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1</a:t>
            </a:r>
          </a:p>
        </p:txBody>
      </p:sp>
      <p:sp>
        <p:nvSpPr>
          <p:cNvPr id="23" name="Oval 22"/>
          <p:cNvSpPr/>
          <p:nvPr/>
        </p:nvSpPr>
        <p:spPr>
          <a:xfrm>
            <a:off x="5989320" y="454456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2</a:t>
            </a:r>
          </a:p>
        </p:txBody>
      </p:sp>
      <p:sp>
        <p:nvSpPr>
          <p:cNvPr id="24" name="Oval 23"/>
          <p:cNvSpPr/>
          <p:nvPr/>
        </p:nvSpPr>
        <p:spPr>
          <a:xfrm>
            <a:off x="1828800" y="514807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3</a:t>
            </a:r>
          </a:p>
        </p:txBody>
      </p:sp>
      <p:sp>
        <p:nvSpPr>
          <p:cNvPr id="25" name="Oval 24"/>
          <p:cNvSpPr/>
          <p:nvPr/>
        </p:nvSpPr>
        <p:spPr>
          <a:xfrm>
            <a:off x="5989320" y="514807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4</a:t>
            </a:r>
          </a:p>
        </p:txBody>
      </p:sp>
      <p:sp>
        <p:nvSpPr>
          <p:cNvPr id="26" name="Oval 25"/>
          <p:cNvSpPr/>
          <p:nvPr/>
        </p:nvSpPr>
        <p:spPr>
          <a:xfrm>
            <a:off x="4434840" y="550468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5</a:t>
            </a:r>
          </a:p>
        </p:txBody>
      </p:sp>
      <p:sp>
        <p:nvSpPr>
          <p:cNvPr id="27" name="Oval 26"/>
          <p:cNvSpPr/>
          <p:nvPr/>
        </p:nvSpPr>
        <p:spPr>
          <a:xfrm>
            <a:off x="5989320" y="3520439"/>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6</a:t>
            </a:r>
          </a:p>
        </p:txBody>
      </p:sp>
      <p:sp>
        <p:nvSpPr>
          <p:cNvPr id="28" name="TextBox 27"/>
          <p:cNvSpPr txBox="1"/>
          <p:nvPr/>
        </p:nvSpPr>
        <p:spPr>
          <a:xfrm>
            <a:off x="548640" y="5833872"/>
            <a:ext cx="5852160" cy="320040"/>
          </a:xfrm>
          <a:prstGeom prst="rect">
            <a:avLst/>
          </a:prstGeom>
          <a:noFill/>
        </p:spPr>
        <p:txBody>
          <a:bodyPr wrap="square" lIns="73152" rIns="73152" tIns="54864" bIns="54864" anchor="t">
            <a:noAutofit/>
          </a:bodyPr>
          <a:lstStyle/>
          <a:p>
            <a:pPr rtl="1" algn="l">
              <a:lnSpc>
                <a:spcPct val="110000"/>
              </a:lnSpc>
              <a:spcAft>
                <a:spcPts val="600"/>
              </a:spcAft>
            </a:pPr>
            <a:r>
              <a:rPr sz="1300" b="0" i="0" lang="he-IL">
                <a:solidFill>
                  <a:srgbClr val="8D9299"/>
                </a:solidFill>
                <a:latin typeface="Rubik"/>
                <a:ea typeface="Rubik"/>
                <a:cs typeface="Rubik"/>
              </a:rPr>
              <a:t>המחשה סכמטית, לא צילום מסך. המיקומים לפי התיעוד הרשמי.</a:t>
            </a:r>
          </a:p>
        </p:txBody>
      </p:sp>
      <p:sp>
        <p:nvSpPr>
          <p:cNvPr id="29" name="Oval 28"/>
          <p:cNvSpPr/>
          <p:nvPr/>
        </p:nvSpPr>
        <p:spPr>
          <a:xfrm>
            <a:off x="11277295" y="143560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1</a:t>
            </a:r>
          </a:p>
        </p:txBody>
      </p:sp>
      <p:sp>
        <p:nvSpPr>
          <p:cNvPr id="30" name="TextBox 29"/>
          <p:cNvSpPr txBox="1"/>
          <p:nvPr/>
        </p:nvSpPr>
        <p:spPr>
          <a:xfrm>
            <a:off x="6675120" y="1380744"/>
            <a:ext cx="4510735"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השיחות</a:t>
            </a:r>
          </a:p>
        </p:txBody>
      </p:sp>
      <p:sp>
        <p:nvSpPr>
          <p:cNvPr id="31" name="TextBox 30"/>
          <p:cNvSpPr txBox="1"/>
          <p:nvPr/>
        </p:nvSpPr>
        <p:spPr>
          <a:xfrm>
            <a:off x="6675120" y="1691640"/>
            <a:ext cx="4510735" cy="438912"/>
          </a:xfrm>
          <a:prstGeom prst="rect">
            <a:avLst/>
          </a:prstGeom>
          <a:noFill/>
        </p:spPr>
        <p:txBody>
          <a:bodyPr wrap="square" lIns="73152" rIns="73152" tIns="54864" bIns="54864" anchor="t">
            <a:noAutofit/>
          </a:bodyPr>
          <a:lstStyle/>
          <a:p>
            <a:pPr rtl="1" algn="r">
              <a:lnSpc>
                <a:spcPct val="100000"/>
              </a:lnSpc>
              <a:spcAft>
                <a:spcPts val="600"/>
              </a:spcAft>
            </a:pPr>
            <a:r>
              <a:rPr sz="1400" b="0" i="0" lang="he-IL">
                <a:solidFill>
                  <a:srgbClr val="4C5058"/>
                </a:solidFill>
                <a:latin typeface="Rubik"/>
                <a:ea typeface="Rubik"/>
                <a:cs typeface="Rubik"/>
              </a:rPr>
              <a:t>בסרגל הצד. לכל שיחה הקשר משלה.</a:t>
            </a:r>
          </a:p>
        </p:txBody>
      </p:sp>
      <p:sp>
        <p:nvSpPr>
          <p:cNvPr id="32" name="Oval 31"/>
          <p:cNvSpPr/>
          <p:nvPr/>
        </p:nvSpPr>
        <p:spPr>
          <a:xfrm>
            <a:off x="11277295" y="216712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2</a:t>
            </a:r>
          </a:p>
        </p:txBody>
      </p:sp>
      <p:sp>
        <p:nvSpPr>
          <p:cNvPr id="33" name="TextBox 32"/>
          <p:cNvSpPr txBox="1"/>
          <p:nvPr/>
        </p:nvSpPr>
        <p:spPr>
          <a:xfrm>
            <a:off x="6675120" y="2112264"/>
            <a:ext cx="4510735"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תיבת ההוראות</a:t>
            </a:r>
          </a:p>
        </p:txBody>
      </p:sp>
      <p:sp>
        <p:nvSpPr>
          <p:cNvPr id="34" name="TextBox 33"/>
          <p:cNvSpPr txBox="1"/>
          <p:nvPr/>
        </p:nvSpPr>
        <p:spPr>
          <a:xfrm>
            <a:off x="6675120" y="2423160"/>
            <a:ext cx="4510735" cy="438912"/>
          </a:xfrm>
          <a:prstGeom prst="rect">
            <a:avLst/>
          </a:prstGeom>
          <a:noFill/>
        </p:spPr>
        <p:txBody>
          <a:bodyPr wrap="square" lIns="73152" rIns="73152" tIns="54864" bIns="54864" anchor="t">
            <a:noAutofit/>
          </a:bodyPr>
          <a:lstStyle/>
          <a:p>
            <a:pPr rtl="1" algn="r">
              <a:lnSpc>
                <a:spcPct val="100000"/>
              </a:lnSpc>
              <a:spcAft>
                <a:spcPts val="600"/>
              </a:spcAft>
            </a:pPr>
            <a:r>
              <a:rPr sz="1400" b="0" i="0" lang="he-IL">
                <a:solidFill>
                  <a:srgbClr val="4C5058"/>
                </a:solidFill>
                <a:latin typeface="Rubik"/>
                <a:ea typeface="Rubik"/>
                <a:cs typeface="Rubik"/>
              </a:rPr>
              <a:t>כאן כותבים בעברית מה Claude צריך לעשות.</a:t>
            </a:r>
          </a:p>
        </p:txBody>
      </p:sp>
      <p:sp>
        <p:nvSpPr>
          <p:cNvPr id="35" name="Oval 34"/>
          <p:cNvSpPr/>
          <p:nvPr/>
        </p:nvSpPr>
        <p:spPr>
          <a:xfrm>
            <a:off x="11277295" y="289864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3</a:t>
            </a:r>
          </a:p>
        </p:txBody>
      </p:sp>
      <p:sp>
        <p:nvSpPr>
          <p:cNvPr id="36" name="TextBox 35"/>
          <p:cNvSpPr txBox="1"/>
          <p:nvPr/>
        </p:nvSpPr>
        <p:spPr>
          <a:xfrm>
            <a:off x="6675120" y="2843784"/>
            <a:ext cx="4510735"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הסביבה והתיקייה הפעילה</a:t>
            </a:r>
          </a:p>
        </p:txBody>
      </p:sp>
      <p:sp>
        <p:nvSpPr>
          <p:cNvPr id="37" name="TextBox 36"/>
          <p:cNvSpPr txBox="1"/>
          <p:nvPr/>
        </p:nvSpPr>
        <p:spPr>
          <a:xfrm>
            <a:off x="6675120" y="3154680"/>
            <a:ext cx="4510735" cy="438912"/>
          </a:xfrm>
          <a:prstGeom prst="rect">
            <a:avLst/>
          </a:prstGeom>
          <a:noFill/>
        </p:spPr>
        <p:txBody>
          <a:bodyPr wrap="square" lIns="73152" rIns="73152" tIns="54864" bIns="54864" anchor="t">
            <a:noAutofit/>
          </a:bodyPr>
          <a:lstStyle/>
          <a:p>
            <a:pPr rtl="1" algn="r">
              <a:lnSpc>
                <a:spcPct val="100000"/>
              </a:lnSpc>
              <a:spcAft>
                <a:spcPts val="600"/>
              </a:spcAft>
            </a:pPr>
            <a:r>
              <a:rPr sz="1400" b="0" i="0" lang="he-IL">
                <a:solidFill>
                  <a:srgbClr val="4C5058"/>
                </a:solidFill>
                <a:latin typeface="Rubik"/>
                <a:ea typeface="Rubik"/>
                <a:cs typeface="Rubik"/>
              </a:rPr>
              <a:t>Local, ולידו שם התיקייה שבה Claude עובד.</a:t>
            </a:r>
          </a:p>
        </p:txBody>
      </p:sp>
      <p:sp>
        <p:nvSpPr>
          <p:cNvPr id="38" name="Oval 37"/>
          <p:cNvSpPr/>
          <p:nvPr/>
        </p:nvSpPr>
        <p:spPr>
          <a:xfrm>
            <a:off x="11277295" y="363016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4</a:t>
            </a:r>
          </a:p>
        </p:txBody>
      </p:sp>
      <p:sp>
        <p:nvSpPr>
          <p:cNvPr id="39" name="TextBox 38"/>
          <p:cNvSpPr txBox="1"/>
          <p:nvPr/>
        </p:nvSpPr>
        <p:spPr>
          <a:xfrm>
            <a:off x="6675120" y="3575304"/>
            <a:ext cx="4510735"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בורר המודל</a:t>
            </a:r>
          </a:p>
        </p:txBody>
      </p:sp>
      <p:sp>
        <p:nvSpPr>
          <p:cNvPr id="40" name="TextBox 39"/>
          <p:cNvSpPr txBox="1"/>
          <p:nvPr/>
        </p:nvSpPr>
        <p:spPr>
          <a:xfrm>
            <a:off x="6675120" y="3886200"/>
            <a:ext cx="4510735" cy="438912"/>
          </a:xfrm>
          <a:prstGeom prst="rect">
            <a:avLst/>
          </a:prstGeom>
          <a:noFill/>
        </p:spPr>
        <p:txBody>
          <a:bodyPr wrap="square" lIns="73152" rIns="73152" tIns="54864" bIns="54864" anchor="t">
            <a:noAutofit/>
          </a:bodyPr>
          <a:lstStyle/>
          <a:p>
            <a:pPr rtl="1" algn="r">
              <a:lnSpc>
                <a:spcPct val="100000"/>
              </a:lnSpc>
              <a:spcAft>
                <a:spcPts val="600"/>
              </a:spcAft>
            </a:pPr>
            <a:r>
              <a:rPr sz="1400" b="0" i="0" lang="he-IL">
                <a:solidFill>
                  <a:srgbClr val="4C5058"/>
                </a:solidFill>
                <a:latin typeface="Rubik"/>
                <a:ea typeface="Rubik"/>
                <a:cs typeface="Rubik"/>
              </a:rPr>
              <a:t>בקצה השורה. אפשר להחליף באמצע שיחה.</a:t>
            </a:r>
          </a:p>
        </p:txBody>
      </p:sp>
      <p:sp>
        <p:nvSpPr>
          <p:cNvPr id="41" name="Oval 40"/>
          <p:cNvSpPr/>
          <p:nvPr/>
        </p:nvSpPr>
        <p:spPr>
          <a:xfrm>
            <a:off x="11277295" y="436168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5</a:t>
            </a:r>
          </a:p>
        </p:txBody>
      </p:sp>
      <p:sp>
        <p:nvSpPr>
          <p:cNvPr id="42" name="TextBox 41"/>
          <p:cNvSpPr txBox="1"/>
          <p:nvPr/>
        </p:nvSpPr>
        <p:spPr>
          <a:xfrm>
            <a:off x="6675120" y="4306824"/>
            <a:ext cx="4510735"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מצב ההרשאות</a:t>
            </a:r>
          </a:p>
        </p:txBody>
      </p:sp>
      <p:sp>
        <p:nvSpPr>
          <p:cNvPr id="43" name="TextBox 42"/>
          <p:cNvSpPr txBox="1"/>
          <p:nvPr/>
        </p:nvSpPr>
        <p:spPr>
          <a:xfrm>
            <a:off x="6675120" y="4617720"/>
            <a:ext cx="4510735" cy="438912"/>
          </a:xfrm>
          <a:prstGeom prst="rect">
            <a:avLst/>
          </a:prstGeom>
          <a:noFill/>
        </p:spPr>
        <p:txBody>
          <a:bodyPr wrap="square" lIns="73152" rIns="73152" tIns="54864" bIns="54864" anchor="t">
            <a:noAutofit/>
          </a:bodyPr>
          <a:lstStyle/>
          <a:p>
            <a:pPr rtl="1" algn="r">
              <a:lnSpc>
                <a:spcPct val="100000"/>
              </a:lnSpc>
              <a:spcAft>
                <a:spcPts val="600"/>
              </a:spcAft>
            </a:pPr>
            <a:r>
              <a:rPr sz="1400" b="0" i="0" lang="he-IL">
                <a:solidFill>
                  <a:srgbClr val="4C5058"/>
                </a:solidFill>
                <a:latin typeface="Rubik"/>
                <a:ea typeface="Rubik"/>
                <a:cs typeface="Rubik"/>
              </a:rPr>
              <a:t>Manual,‏ Accept edits,‏ Plan או Auto.</a:t>
            </a:r>
          </a:p>
        </p:txBody>
      </p:sp>
      <p:sp>
        <p:nvSpPr>
          <p:cNvPr id="44" name="Oval 43"/>
          <p:cNvSpPr/>
          <p:nvPr/>
        </p:nvSpPr>
        <p:spPr>
          <a:xfrm>
            <a:off x="11277295" y="5093207"/>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6</a:t>
            </a:r>
          </a:p>
        </p:txBody>
      </p:sp>
      <p:sp>
        <p:nvSpPr>
          <p:cNvPr id="45" name="TextBox 44"/>
          <p:cNvSpPr txBox="1"/>
          <p:nvPr/>
        </p:nvSpPr>
        <p:spPr>
          <a:xfrm>
            <a:off x="6675120" y="5038344"/>
            <a:ext cx="4510735"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צפייה בתוצאות</a:t>
            </a:r>
          </a:p>
        </p:txBody>
      </p:sp>
      <p:sp>
        <p:nvSpPr>
          <p:cNvPr id="46" name="TextBox 45"/>
          <p:cNvSpPr txBox="1"/>
          <p:nvPr/>
        </p:nvSpPr>
        <p:spPr>
          <a:xfrm>
            <a:off x="6675120" y="5349240"/>
            <a:ext cx="4510735" cy="438912"/>
          </a:xfrm>
          <a:prstGeom prst="rect">
            <a:avLst/>
          </a:prstGeom>
          <a:noFill/>
        </p:spPr>
        <p:txBody>
          <a:bodyPr wrap="square" lIns="73152" rIns="73152" tIns="54864" bIns="54864" anchor="t">
            <a:noAutofit/>
          </a:bodyPr>
          <a:lstStyle/>
          <a:p>
            <a:pPr rtl="1" algn="r">
              <a:lnSpc>
                <a:spcPct val="100000"/>
              </a:lnSpc>
              <a:spcAft>
                <a:spcPts val="600"/>
              </a:spcAft>
            </a:pPr>
            <a:r>
              <a:rPr sz="1400" b="0" i="0" lang="he-IL">
                <a:solidFill>
                  <a:srgbClr val="4C5058"/>
                </a:solidFill>
                <a:latin typeface="Rubik"/>
                <a:ea typeface="Rubik"/>
                <a:cs typeface="Rubik"/>
              </a:rPr>
              <a:t>מחוון השינויים פותח את תצוגת השינויים.</a:t>
            </a:r>
          </a:p>
        </p:txBody>
      </p:sp>
      <p:sp>
        <p:nvSpPr>
          <p:cNvPr id="47" name="TextBox 4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6</a:t>
            </a:r>
            <a:r>
              <a:rPr sz="1200" b="0" i="0" lang="he-IL">
                <a:solidFill>
                  <a:srgbClr val="8D9299"/>
                </a:solidFill>
                <a:latin typeface="Rubik"/>
                <a:ea typeface="Rubik"/>
                <a:cs typeface="Rubik"/>
              </a:rPr>
              <a:t>  |  Claude Code ליועצי משכנתאות</a:t>
            </a:r>
          </a:p>
        </p:txBody>
      </p:sp>
      <p:pic>
        <p:nvPicPr>
          <p:cNvPr id="48" name="Picture 4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האפליקציה והטרמינל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6355080" y="1371600"/>
            <a:ext cx="5285232" cy="1188720"/>
          </a:xfrm>
          <a:prstGeom prst="rect">
            <a:avLst/>
          </a:prstGeom>
          <a:noFill/>
        </p:spPr>
        <p:txBody>
          <a:bodyPr wrap="square" lIns="73152" rIns="73152" tIns="54864" bIns="54864" anchor="t">
            <a:noAutofit/>
          </a:bodyPr>
          <a:lstStyle/>
          <a:p>
            <a:pPr rtl="1" algn="r">
              <a:lnSpc>
                <a:spcPct val="110000"/>
              </a:lnSpc>
              <a:spcAft>
                <a:spcPts val="800"/>
              </a:spcAft>
            </a:pPr>
            <a:r>
              <a:rPr sz="1700" b="1" i="0" lang="he-IL">
                <a:solidFill>
                  <a:srgbClr val="0A1A33"/>
                </a:solidFill>
                <a:latin typeface="Rubik"/>
                <a:ea typeface="Rubik"/>
                <a:cs typeface="Rubik"/>
              </a:rPr>
              <a:t>טרמינל: </a:t>
            </a:r>
            <a:r>
              <a:rPr sz="1700" b="0" i="0" lang="he-IL">
                <a:solidFill>
                  <a:srgbClr val="0A1A33"/>
                </a:solidFill>
                <a:latin typeface="Rubik"/>
                <a:ea typeface="Rubik"/>
                <a:cs typeface="Rubik"/>
              </a:rPr>
              <a:t>חלון שבו כותבים טקסט במקום ללחוץ על כפתורים.</a:t>
            </a:r>
          </a:p>
          <a:p>
            <a:pPr rtl="1" algn="r">
              <a:lnSpc>
                <a:spcPct val="110000"/>
              </a:lnSpc>
              <a:spcAft>
                <a:spcPts val="800"/>
              </a:spcAft>
            </a:pPr>
            <a:r>
              <a:rPr sz="1700" b="1" i="0" lang="he-IL">
                <a:solidFill>
                  <a:srgbClr val="0A1A33"/>
                </a:solidFill>
                <a:latin typeface="Rubik"/>
                <a:ea typeface="Rubik"/>
                <a:cs typeface="Rubik"/>
              </a:rPr>
              <a:t>ממשק גרפי: </a:t>
            </a:r>
            <a:r>
              <a:rPr sz="1700" b="0" i="0" lang="he-IL">
                <a:solidFill>
                  <a:srgbClr val="0A1A33"/>
                </a:solidFill>
                <a:latin typeface="Rubik"/>
                <a:ea typeface="Rubik"/>
                <a:cs typeface="Rubik"/>
              </a:rPr>
              <a:t>חלונות, כפתורים ותפריטים. זה מה שיש באפליקציה.</a:t>
            </a:r>
          </a:p>
        </p:txBody>
      </p:sp>
      <p:sp>
        <p:nvSpPr>
          <p:cNvPr id="6" name="TextBox 5"/>
          <p:cNvSpPr txBox="1"/>
          <p:nvPr/>
        </p:nvSpPr>
        <p:spPr>
          <a:xfrm>
            <a:off x="548640" y="1371600"/>
            <a:ext cx="5486400" cy="1188720"/>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435FB5"/>
                </a:solidFill>
                <a:latin typeface="Rubik"/>
                <a:ea typeface="Rubik"/>
                <a:cs typeface="Rubik"/>
              </a:rPr>
              <a:t>בשתי הדרכים פונים ל־Claude בשפה רגילה, </a:t>
            </a:r>
            <a:r>
              <a:rPr sz="1700" b="0" i="0" lang="he-IL">
                <a:solidFill>
                  <a:srgbClr val="0A1A33"/>
                </a:solidFill>
                <a:latin typeface="Rubik"/>
                <a:ea typeface="Rubik"/>
                <a:cs typeface="Rubik"/>
              </a:rPr>
              <a:t>גם בעברית. בטרמינל לא חייבים לכתוב פקודות.</a:t>
            </a:r>
          </a:p>
        </p:txBody>
      </p:sp>
      <p:graphicFrame>
        <p:nvGraphicFramePr>
          <p:cNvPr id="7" name="Table 6"/>
          <p:cNvGraphicFramePr>
            <a:graphicFrameLocks noGrp="1"/>
          </p:cNvGraphicFramePr>
          <p:nvPr/>
        </p:nvGraphicFramePr>
        <p:xfrm>
          <a:off x="548640" y="2606040"/>
          <a:ext cx="11094415" cy="2743200"/>
        </p:xfrm>
        <a:graphic>
          <a:graphicData uri="http://schemas.openxmlformats.org/drawingml/2006/table">
            <a:tbl>
              <a:tblPr firstRow="1" bandRow="0" rtl="1">
                <a:tableStyleId>{5940675A-B579-460E-94D1-54222C63F5DA}</a:tableStyleId>
              </a:tblPr>
              <a:tblGrid>
                <a:gridCol w="2218883"/>
                <a:gridCol w="4437766"/>
                <a:gridCol w="4437766"/>
              </a:tblGrid>
              <a:tr h="457200">
                <a:tc>
                  <a:txBody>
                    <a:bodyPr wrap="square"/>
                    <a:lstStyle/>
                    <a:p>
                      <a:pPr rtl="1" algn="r"/>
                      <a:r>
                        <a:rPr sz="1600" b="1" i="0" lang="he-IL">
                          <a:solidFill>
                            <a:srgbClr val="FFFFFF"/>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אפליקציה (לשונית Code)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טרמינל (CLI)</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57200">
                <a:tc>
                  <a:txBody>
                    <a:bodyPr wrap="square"/>
                    <a:lstStyle/>
                    <a:p>
                      <a:pPr rtl="1" algn="r"/>
                      <a:r>
                        <a:rPr sz="1600" b="1" i="0" lang="he-IL">
                          <a:solidFill>
                            <a:srgbClr val="0A1A33"/>
                          </a:solidFill>
                          <a:latin typeface="Rubik"/>
                          <a:ea typeface="Rubik"/>
                          <a:cs typeface="Rubik"/>
                        </a:rPr>
                        <a:t>איך זה נראה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חלונות, כפתורים ותצוגת שינויים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שורות טקסט בחלון אחד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600" b="1" i="0" lang="he-IL">
                          <a:solidFill>
                            <a:srgbClr val="0A1A33"/>
                          </a:solidFill>
                          <a:latin typeface="Rubik"/>
                          <a:ea typeface="Rubik"/>
                          <a:cs typeface="Rubik"/>
                        </a:rPr>
                        <a:t>התקנה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קובץ התקנה רגיל ל־Windows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התקנה נפרדת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1" algn="r"/>
                      <a:r>
                        <a:rPr sz="1600" b="1" i="0" lang="he-IL">
                          <a:solidFill>
                            <a:srgbClr val="0A1A33"/>
                          </a:solidFill>
                          <a:latin typeface="Rubik"/>
                          <a:ea typeface="Rubik"/>
                          <a:cs typeface="Rubik"/>
                        </a:rPr>
                        <a:t>איך מבקשים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כותבים בתיבת ההוראות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כותבים בשורת הטקסט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600" b="1" i="0" lang="he-IL">
                          <a:solidFill>
                            <a:srgbClr val="0A1A33"/>
                          </a:solidFill>
                          <a:latin typeface="Rubik"/>
                          <a:ea typeface="Rubik"/>
                          <a:cs typeface="Rubik"/>
                        </a:rPr>
                        <a:t>בחירת 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בורר התיקייה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פותחים את הטרמינל בתיקייה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1" algn="r"/>
                      <a:r>
                        <a:rPr sz="1600" b="1" i="0" lang="he-IL">
                          <a:solidFill>
                            <a:srgbClr val="0A1A33"/>
                          </a:solidFill>
                          <a:latin typeface="Rubik"/>
                          <a:ea typeface="Rubik"/>
                          <a:cs typeface="Rubik"/>
                        </a:rPr>
                        <a:t>משותף לשתיהן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8" name="Rounded Rectangle 7"/>
          <p:cNvSpPr/>
          <p:nvPr/>
        </p:nvSpPr>
        <p:spPr>
          <a:xfrm>
            <a:off x="548640" y="5532120"/>
            <a:ext cx="11094415" cy="566928"/>
          </a:xfrm>
          <a:prstGeom prst="roundRect">
            <a:avLst>
              <a:gd name="adj" fmla="val 10000"/>
            </a:avLst>
          </a:prstGeom>
          <a:solidFill>
            <a:srgbClr val="EAF3FF"/>
          </a:solidFill>
          <a:ln>
            <a:noFill/>
          </a:ln>
          <a:effectLst/>
        </p:spPr>
        <p:txBody>
          <a:bodyPr rtlCol="0" anchor="ctr"/>
          <a:lstStyle/>
          <a:p>
            <a:pPr algn="ctr"/>
          </a:p>
        </p:txBody>
      </p:sp>
      <p:sp>
        <p:nvSpPr>
          <p:cNvPr id="9" name="TextBox 8"/>
          <p:cNvSpPr txBox="1"/>
          <p:nvPr/>
        </p:nvSpPr>
        <p:spPr>
          <a:xfrm>
            <a:off x="777240" y="5532120"/>
            <a:ext cx="10637215" cy="566928"/>
          </a:xfrm>
          <a:prstGeom prst="rect">
            <a:avLst/>
          </a:prstGeom>
          <a:noFill/>
        </p:spPr>
        <p:txBody>
          <a:bodyPr wrap="square" lIns="73152" rIns="73152" tIns="54864" bIns="54864" anchor="ctr">
            <a:noAutofit/>
          </a:bodyPr>
          <a:lstStyle/>
          <a:p>
            <a:pPr rtl="1" algn="r">
              <a:lnSpc>
                <a:spcPct val="110000"/>
              </a:lnSpc>
              <a:spcAft>
                <a:spcPts val="600"/>
              </a:spcAft>
            </a:pPr>
            <a:r>
              <a:rPr sz="1600" b="0" i="0" lang="he-IL">
                <a:solidFill>
                  <a:srgbClr val="0A1A33"/>
                </a:solidFill>
                <a:latin typeface="Rubik"/>
                <a:ea typeface="Rubik"/>
                <a:cs typeface="Rubik"/>
              </a:rPr>
              <a:t>לא כל יכולת של הטרמינל זמינה באפליקציה. לדוגמה, Agent Teams זמין בטרמינל ולא באפליקציה.</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7</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מבנה העבודה של Claude Code</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265615" y="1600200"/>
            <a:ext cx="2377440" cy="1463040"/>
          </a:xfrm>
          <a:prstGeom prst="roundRect">
            <a:avLst>
              <a:gd name="adj" fmla="val 8000"/>
            </a:avLst>
          </a:prstGeom>
          <a:solidFill>
            <a:srgbClr val="142A4D"/>
          </a:solidFill>
          <a:ln>
            <a:noFill/>
          </a:ln>
          <a:effectLst/>
        </p:spPr>
        <p:txBody>
          <a:bodyPr rtlCol="0" anchor="ctr"/>
          <a:lstStyle/>
          <a:p>
            <a:pPr algn="ctr"/>
          </a:p>
        </p:txBody>
      </p:sp>
      <p:sp>
        <p:nvSpPr>
          <p:cNvPr id="6" name="TextBox 5"/>
          <p:cNvSpPr txBox="1"/>
          <p:nvPr/>
        </p:nvSpPr>
        <p:spPr>
          <a:xfrm>
            <a:off x="9402775" y="1719072"/>
            <a:ext cx="2103120"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FFFFFF"/>
                </a:solidFill>
                <a:latin typeface="Rubik"/>
                <a:ea typeface="Rubik"/>
                <a:cs typeface="Rubik"/>
              </a:rPr>
              <a:t>הבקשה שלכם</a:t>
            </a:r>
          </a:p>
        </p:txBody>
      </p:sp>
      <p:sp>
        <p:nvSpPr>
          <p:cNvPr id="7" name="TextBox 6"/>
          <p:cNvSpPr txBox="1"/>
          <p:nvPr/>
        </p:nvSpPr>
        <p:spPr>
          <a:xfrm>
            <a:off x="9402775" y="2194560"/>
            <a:ext cx="210312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D4D6D8"/>
                </a:solidFill>
                <a:latin typeface="Rubik"/>
                <a:ea typeface="Rubik"/>
                <a:cs typeface="Rubik"/>
              </a:rPr>
              <a:t>מה לעשות, על אילו קבצים ומה התוצר</a:t>
            </a:r>
          </a:p>
        </p:txBody>
      </p:sp>
      <p:sp>
        <p:nvSpPr>
          <p:cNvPr id="8" name="Left Arrow 7"/>
          <p:cNvSpPr/>
          <p:nvPr/>
        </p:nvSpPr>
        <p:spPr>
          <a:xfrm>
            <a:off x="8835847" y="2194560"/>
            <a:ext cx="356616" cy="292608"/>
          </a:xfrm>
          <a:prstGeom prst="leftArrow">
            <a:avLst/>
          </a:prstGeom>
          <a:solidFill>
            <a:srgbClr val="64CAAD"/>
          </a:solidFill>
          <a:ln>
            <a:noFill/>
          </a:ln>
          <a:effectLst/>
        </p:spPr>
        <p:txBody>
          <a:bodyPr rtlCol="0" anchor="ctr"/>
          <a:lstStyle/>
          <a:p>
            <a:pPr algn="ctr"/>
          </a:p>
        </p:txBody>
      </p:sp>
      <p:sp>
        <p:nvSpPr>
          <p:cNvPr id="9" name="Rounded Rectangle 8"/>
          <p:cNvSpPr/>
          <p:nvPr/>
        </p:nvSpPr>
        <p:spPr>
          <a:xfrm>
            <a:off x="6385255" y="1600200"/>
            <a:ext cx="2377440" cy="146304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6522415" y="1719072"/>
            <a:ext cx="2103120"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FFFFFF"/>
                </a:solidFill>
                <a:latin typeface="Rubik"/>
                <a:ea typeface="Rubik"/>
                <a:cs typeface="Rubik"/>
              </a:rPr>
              <a:t>Claude (המודל)</a:t>
            </a:r>
          </a:p>
        </p:txBody>
      </p:sp>
      <p:sp>
        <p:nvSpPr>
          <p:cNvPr id="11" name="TextBox 10"/>
          <p:cNvSpPr txBox="1"/>
          <p:nvPr/>
        </p:nvSpPr>
        <p:spPr>
          <a:xfrm>
            <a:off x="6522415" y="2194560"/>
            <a:ext cx="210312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D4D6D8"/>
                </a:solidFill>
                <a:latin typeface="Rubik"/>
                <a:ea typeface="Rubik"/>
                <a:cs typeface="Rubik"/>
              </a:rPr>
              <a:t>מבין, מתכנן ומחליט מה לעשות</a:t>
            </a:r>
          </a:p>
        </p:txBody>
      </p:sp>
      <p:sp>
        <p:nvSpPr>
          <p:cNvPr id="12" name="Left Arrow 11"/>
          <p:cNvSpPr/>
          <p:nvPr/>
        </p:nvSpPr>
        <p:spPr>
          <a:xfrm>
            <a:off x="5955487" y="2194560"/>
            <a:ext cx="356616" cy="292608"/>
          </a:xfrm>
          <a:prstGeom prst="leftArrow">
            <a:avLst/>
          </a:prstGeom>
          <a:solidFill>
            <a:srgbClr val="64CAAD"/>
          </a:solidFill>
          <a:ln>
            <a:noFill/>
          </a:ln>
          <a:effectLst/>
        </p:spPr>
        <p:txBody>
          <a:bodyPr rtlCol="0" anchor="ctr"/>
          <a:lstStyle/>
          <a:p>
            <a:pPr algn="ctr"/>
          </a:p>
        </p:txBody>
      </p:sp>
      <p:sp>
        <p:nvSpPr>
          <p:cNvPr id="13" name="Rounded Rectangle 12"/>
          <p:cNvSpPr/>
          <p:nvPr/>
        </p:nvSpPr>
        <p:spPr>
          <a:xfrm>
            <a:off x="3504895" y="1600200"/>
            <a:ext cx="2377440" cy="1463040"/>
          </a:xfrm>
          <a:prstGeom prst="roundRect">
            <a:avLst>
              <a:gd name="adj" fmla="val 8000"/>
            </a:avLst>
          </a:prstGeom>
          <a:solidFill>
            <a:srgbClr val="142A4D"/>
          </a:solidFill>
          <a:ln>
            <a:noFill/>
          </a:ln>
          <a:effectLst/>
        </p:spPr>
        <p:txBody>
          <a:bodyPr rtlCol="0" anchor="ctr"/>
          <a:lstStyle/>
          <a:p>
            <a:pPr algn="ctr"/>
          </a:p>
        </p:txBody>
      </p:sp>
      <p:sp>
        <p:nvSpPr>
          <p:cNvPr id="14" name="TextBox 13"/>
          <p:cNvSpPr txBox="1"/>
          <p:nvPr/>
        </p:nvSpPr>
        <p:spPr>
          <a:xfrm>
            <a:off x="3642055" y="1719072"/>
            <a:ext cx="2103120"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FFFFFF"/>
                </a:solidFill>
                <a:latin typeface="Rubik"/>
                <a:ea typeface="Rubik"/>
                <a:cs typeface="Rubik"/>
              </a:rPr>
              <a:t>כלים</a:t>
            </a:r>
          </a:p>
        </p:txBody>
      </p:sp>
      <p:sp>
        <p:nvSpPr>
          <p:cNvPr id="15" name="TextBox 14"/>
          <p:cNvSpPr txBox="1"/>
          <p:nvPr/>
        </p:nvSpPr>
        <p:spPr>
          <a:xfrm>
            <a:off x="3642055" y="2194560"/>
            <a:ext cx="210312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D4D6D8"/>
                </a:solidFill>
                <a:latin typeface="Rubik"/>
                <a:ea typeface="Rubik"/>
                <a:cs typeface="Rubik"/>
              </a:rPr>
              <a:t>קריאה, חיפוש, כתיבה והרצת פקודות</a:t>
            </a:r>
          </a:p>
        </p:txBody>
      </p:sp>
      <p:sp>
        <p:nvSpPr>
          <p:cNvPr id="16" name="Left Arrow 15"/>
          <p:cNvSpPr/>
          <p:nvPr/>
        </p:nvSpPr>
        <p:spPr>
          <a:xfrm>
            <a:off x="3075127" y="2194560"/>
            <a:ext cx="356616" cy="292608"/>
          </a:xfrm>
          <a:prstGeom prst="leftArrow">
            <a:avLst/>
          </a:prstGeom>
          <a:solidFill>
            <a:srgbClr val="64CAAD"/>
          </a:solidFill>
          <a:ln>
            <a:noFill/>
          </a:ln>
          <a:effectLst/>
        </p:spPr>
        <p:txBody>
          <a:bodyPr rtlCol="0" anchor="ctr"/>
          <a:lstStyle/>
          <a:p>
            <a:pPr algn="ctr"/>
          </a:p>
        </p:txBody>
      </p:sp>
      <p:sp>
        <p:nvSpPr>
          <p:cNvPr id="17" name="Rounded Rectangle 16"/>
          <p:cNvSpPr/>
          <p:nvPr/>
        </p:nvSpPr>
        <p:spPr>
          <a:xfrm>
            <a:off x="624535" y="1600200"/>
            <a:ext cx="2377440" cy="1463040"/>
          </a:xfrm>
          <a:prstGeom prst="roundRect">
            <a:avLst>
              <a:gd name="adj" fmla="val 8000"/>
            </a:avLst>
          </a:prstGeom>
          <a:solidFill>
            <a:srgbClr val="142A4D"/>
          </a:solidFill>
          <a:ln>
            <a:noFill/>
          </a:ln>
          <a:effectLst/>
        </p:spPr>
        <p:txBody>
          <a:bodyPr rtlCol="0" anchor="ctr"/>
          <a:lstStyle/>
          <a:p>
            <a:pPr algn="ctr"/>
          </a:p>
        </p:txBody>
      </p:sp>
      <p:sp>
        <p:nvSpPr>
          <p:cNvPr id="18" name="TextBox 17"/>
          <p:cNvSpPr txBox="1"/>
          <p:nvPr/>
        </p:nvSpPr>
        <p:spPr>
          <a:xfrm>
            <a:off x="761695" y="1719072"/>
            <a:ext cx="2103120"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FFFFFF"/>
                </a:solidFill>
                <a:latin typeface="Rubik"/>
                <a:ea typeface="Rubik"/>
                <a:cs typeface="Rubik"/>
              </a:rPr>
              <a:t>קבצים בתיקייה</a:t>
            </a:r>
          </a:p>
        </p:txBody>
      </p:sp>
      <p:sp>
        <p:nvSpPr>
          <p:cNvPr id="19" name="TextBox 18"/>
          <p:cNvSpPr txBox="1"/>
          <p:nvPr/>
        </p:nvSpPr>
        <p:spPr>
          <a:xfrm>
            <a:off x="761695" y="2194560"/>
            <a:ext cx="210312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D4D6D8"/>
                </a:solidFill>
                <a:latin typeface="Rubik"/>
                <a:ea typeface="Rubik"/>
                <a:cs typeface="Rubik"/>
              </a:rPr>
              <a:t>המקורות, העותקים והדוחות</a:t>
            </a:r>
          </a:p>
        </p:txBody>
      </p:sp>
      <p:sp>
        <p:nvSpPr>
          <p:cNvPr id="20" name="Rounded Rectangle 19"/>
          <p:cNvSpPr/>
          <p:nvPr/>
        </p:nvSpPr>
        <p:spPr>
          <a:xfrm>
            <a:off x="3687775" y="3246120"/>
            <a:ext cx="5074920" cy="566928"/>
          </a:xfrm>
          <a:prstGeom prst="roundRect">
            <a:avLst>
              <a:gd name="adj" fmla="val 20000"/>
            </a:avLst>
          </a:prstGeom>
          <a:solidFill>
            <a:srgbClr val="64CAAD"/>
          </a:solidFill>
          <a:ln>
            <a:noFill/>
          </a:ln>
          <a:effectLst/>
        </p:spPr>
        <p:txBody>
          <a:bodyPr rtlCol="0" anchor="ctr"/>
          <a:lstStyle/>
          <a:p>
            <a:pPr algn="ctr"/>
          </a:p>
        </p:txBody>
      </p:sp>
      <p:sp>
        <p:nvSpPr>
          <p:cNvPr id="21" name="TextBox 20"/>
          <p:cNvSpPr txBox="1"/>
          <p:nvPr/>
        </p:nvSpPr>
        <p:spPr>
          <a:xfrm>
            <a:off x="3779215" y="3246120"/>
            <a:ext cx="4892040" cy="566928"/>
          </a:xfrm>
          <a:prstGeom prst="rect">
            <a:avLst/>
          </a:prstGeom>
          <a:noFill/>
        </p:spPr>
        <p:txBody>
          <a:bodyPr wrap="square" lIns="73152" rIns="73152" tIns="54864" bIns="54864" anchor="ctr">
            <a:noAutofit/>
          </a:bodyPr>
          <a:lstStyle/>
          <a:p>
            <a:pPr rtl="1" algn="ctr">
              <a:lnSpc>
                <a:spcPct val="110000"/>
              </a:lnSpc>
              <a:spcAft>
                <a:spcPts val="600"/>
              </a:spcAft>
            </a:pPr>
            <a:r>
              <a:rPr sz="1600" b="1" i="0" lang="he-IL">
                <a:solidFill>
                  <a:srgbClr val="0A1A33"/>
                </a:solidFill>
                <a:latin typeface="Rubik"/>
                <a:ea typeface="Rubik"/>
                <a:cs typeface="Rubik"/>
              </a:rPr>
              <a:t>הרשאות: </a:t>
            </a:r>
            <a:r>
              <a:rPr sz="1600" b="0" i="0" lang="he-IL">
                <a:solidFill>
                  <a:srgbClr val="0A1A33"/>
                </a:solidFill>
                <a:latin typeface="Rubik"/>
                <a:ea typeface="Rubik"/>
                <a:cs typeface="Rubik"/>
              </a:rPr>
              <a:t>קובעות מה מתבצע בלי לשאול אתכם</a:t>
            </a:r>
          </a:p>
        </p:txBody>
      </p:sp>
      <p:sp>
        <p:nvSpPr>
          <p:cNvPr id="22" name="TextBox 21"/>
          <p:cNvSpPr txBox="1"/>
          <p:nvPr/>
        </p:nvSpPr>
        <p:spPr>
          <a:xfrm>
            <a:off x="548640" y="4114800"/>
            <a:ext cx="11094415" cy="41148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FFFFFF"/>
                </a:solidFill>
                <a:latin typeface="Rubik"/>
                <a:ea typeface="Rubik"/>
                <a:cs typeface="Rubik"/>
              </a:rPr>
              <a:t>בכל משימה Claude עובר בלולאה, עד שהמשימה הושלמה:</a:t>
            </a:r>
          </a:p>
        </p:txBody>
      </p:sp>
      <p:sp>
        <p:nvSpPr>
          <p:cNvPr id="23" name="Rounded Rectangle 22"/>
          <p:cNvSpPr/>
          <p:nvPr/>
        </p:nvSpPr>
        <p:spPr>
          <a:xfrm>
            <a:off x="8351215" y="4663440"/>
            <a:ext cx="3291840" cy="1051560"/>
          </a:xfrm>
          <a:prstGeom prst="roundRect">
            <a:avLst>
              <a:gd name="adj" fmla="val 10000"/>
            </a:avLst>
          </a:prstGeom>
          <a:solidFill>
            <a:srgbClr val="FFFFFF"/>
          </a:solidFill>
          <a:ln>
            <a:noFill/>
          </a:ln>
          <a:effectLst/>
        </p:spPr>
        <p:txBody>
          <a:bodyPr rtlCol="0" anchor="ctr"/>
          <a:lstStyle/>
          <a:p>
            <a:pPr algn="ctr"/>
          </a:p>
        </p:txBody>
      </p:sp>
      <p:sp>
        <p:nvSpPr>
          <p:cNvPr id="24" name="Oval 23"/>
          <p:cNvSpPr/>
          <p:nvPr/>
        </p:nvSpPr>
        <p:spPr>
          <a:xfrm>
            <a:off x="11076127" y="49560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25" name="TextBox 24"/>
          <p:cNvSpPr txBox="1"/>
          <p:nvPr/>
        </p:nvSpPr>
        <p:spPr>
          <a:xfrm>
            <a:off x="8488375" y="4754880"/>
            <a:ext cx="24688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איסוף מידע</a:t>
            </a:r>
          </a:p>
        </p:txBody>
      </p:sp>
      <p:sp>
        <p:nvSpPr>
          <p:cNvPr id="26" name="TextBox 25"/>
          <p:cNvSpPr txBox="1"/>
          <p:nvPr/>
        </p:nvSpPr>
        <p:spPr>
          <a:xfrm>
            <a:off x="8488375" y="5166360"/>
            <a:ext cx="2468880" cy="45720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קורא קבצים ומבין מה יש</a:t>
            </a:r>
          </a:p>
        </p:txBody>
      </p:sp>
      <p:sp>
        <p:nvSpPr>
          <p:cNvPr id="27" name="Left Arrow 26"/>
          <p:cNvSpPr/>
          <p:nvPr/>
        </p:nvSpPr>
        <p:spPr>
          <a:xfrm>
            <a:off x="7839151" y="5047488"/>
            <a:ext cx="420624" cy="274320"/>
          </a:xfrm>
          <a:prstGeom prst="leftArrow">
            <a:avLst/>
          </a:prstGeom>
          <a:solidFill>
            <a:srgbClr val="64CAAD"/>
          </a:solidFill>
          <a:ln>
            <a:noFill/>
          </a:ln>
          <a:effectLst/>
        </p:spPr>
        <p:txBody>
          <a:bodyPr rtlCol="0" anchor="ctr"/>
          <a:lstStyle/>
          <a:p>
            <a:pPr algn="ctr"/>
          </a:p>
        </p:txBody>
      </p:sp>
      <p:sp>
        <p:nvSpPr>
          <p:cNvPr id="28" name="Rounded Rectangle 27"/>
          <p:cNvSpPr/>
          <p:nvPr/>
        </p:nvSpPr>
        <p:spPr>
          <a:xfrm>
            <a:off x="4455871" y="4663440"/>
            <a:ext cx="3291840" cy="1051560"/>
          </a:xfrm>
          <a:prstGeom prst="roundRect">
            <a:avLst>
              <a:gd name="adj" fmla="val 10000"/>
            </a:avLst>
          </a:prstGeom>
          <a:solidFill>
            <a:srgbClr val="FFFFFF"/>
          </a:solidFill>
          <a:ln>
            <a:noFill/>
          </a:ln>
          <a:effectLst/>
        </p:spPr>
        <p:txBody>
          <a:bodyPr rtlCol="0" anchor="ctr"/>
          <a:lstStyle/>
          <a:p>
            <a:pPr algn="ctr"/>
          </a:p>
        </p:txBody>
      </p:sp>
      <p:sp>
        <p:nvSpPr>
          <p:cNvPr id="29" name="Oval 28"/>
          <p:cNvSpPr/>
          <p:nvPr/>
        </p:nvSpPr>
        <p:spPr>
          <a:xfrm>
            <a:off x="7180783" y="49560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30" name="TextBox 29"/>
          <p:cNvSpPr txBox="1"/>
          <p:nvPr/>
        </p:nvSpPr>
        <p:spPr>
          <a:xfrm>
            <a:off x="4593031" y="4754880"/>
            <a:ext cx="24688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ביצוע</a:t>
            </a:r>
          </a:p>
        </p:txBody>
      </p:sp>
      <p:sp>
        <p:nvSpPr>
          <p:cNvPr id="31" name="TextBox 30"/>
          <p:cNvSpPr txBox="1"/>
          <p:nvPr/>
        </p:nvSpPr>
        <p:spPr>
          <a:xfrm>
            <a:off x="4593031" y="5166360"/>
            <a:ext cx="2468880" cy="45720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יוצר, מעתיק וכותב</a:t>
            </a:r>
          </a:p>
        </p:txBody>
      </p:sp>
      <p:sp>
        <p:nvSpPr>
          <p:cNvPr id="32" name="Left Arrow 31"/>
          <p:cNvSpPr/>
          <p:nvPr/>
        </p:nvSpPr>
        <p:spPr>
          <a:xfrm>
            <a:off x="3943807" y="5047488"/>
            <a:ext cx="420624" cy="274320"/>
          </a:xfrm>
          <a:prstGeom prst="leftArrow">
            <a:avLst/>
          </a:prstGeom>
          <a:solidFill>
            <a:srgbClr val="64CAAD"/>
          </a:solidFill>
          <a:ln>
            <a:noFill/>
          </a:ln>
          <a:effectLst/>
        </p:spPr>
        <p:txBody>
          <a:bodyPr rtlCol="0" anchor="ctr"/>
          <a:lstStyle/>
          <a:p>
            <a:pPr algn="ctr"/>
          </a:p>
        </p:txBody>
      </p:sp>
      <p:sp>
        <p:nvSpPr>
          <p:cNvPr id="33" name="Rounded Rectangle 32"/>
          <p:cNvSpPr/>
          <p:nvPr/>
        </p:nvSpPr>
        <p:spPr>
          <a:xfrm>
            <a:off x="560527" y="4663440"/>
            <a:ext cx="3291840" cy="1051560"/>
          </a:xfrm>
          <a:prstGeom prst="roundRect">
            <a:avLst>
              <a:gd name="adj" fmla="val 10000"/>
            </a:avLst>
          </a:prstGeom>
          <a:solidFill>
            <a:srgbClr val="FFFFFF"/>
          </a:solidFill>
          <a:ln>
            <a:noFill/>
          </a:ln>
          <a:effectLst/>
        </p:spPr>
        <p:txBody>
          <a:bodyPr rtlCol="0" anchor="ctr"/>
          <a:lstStyle/>
          <a:p>
            <a:pPr algn="ctr"/>
          </a:p>
        </p:txBody>
      </p:sp>
      <p:sp>
        <p:nvSpPr>
          <p:cNvPr id="34" name="Oval 33"/>
          <p:cNvSpPr/>
          <p:nvPr/>
        </p:nvSpPr>
        <p:spPr>
          <a:xfrm>
            <a:off x="3285439" y="49560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35" name="TextBox 34"/>
          <p:cNvSpPr txBox="1"/>
          <p:nvPr/>
        </p:nvSpPr>
        <p:spPr>
          <a:xfrm>
            <a:off x="697687" y="4754880"/>
            <a:ext cx="24688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בדיקה</a:t>
            </a:r>
          </a:p>
        </p:txBody>
      </p:sp>
      <p:sp>
        <p:nvSpPr>
          <p:cNvPr id="36" name="TextBox 35"/>
          <p:cNvSpPr txBox="1"/>
          <p:nvPr/>
        </p:nvSpPr>
        <p:spPr>
          <a:xfrm>
            <a:off x="697687" y="5166360"/>
            <a:ext cx="2468880" cy="45720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בודק שהתוצאה נכונה</a:t>
            </a:r>
          </a:p>
        </p:txBody>
      </p:sp>
      <p:sp>
        <p:nvSpPr>
          <p:cNvPr id="37" name="TextBox 36"/>
          <p:cNvSpPr txBox="1"/>
          <p:nvPr/>
        </p:nvSpPr>
        <p:spPr>
          <a:xfrm>
            <a:off x="548640" y="5852160"/>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D4D6D8"/>
                </a:solidFill>
                <a:latin typeface="Rubik"/>
                <a:ea typeface="Rubik"/>
                <a:cs typeface="Rubik"/>
              </a:rPr>
              <a:t>אפשר לעצור או לכוון את Claude בכל שלב.</a:t>
            </a:r>
          </a:p>
        </p:txBody>
      </p:sp>
      <p:sp>
        <p:nvSpPr>
          <p:cNvPr id="38" name="TextBox 3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תפקיד התיקייה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076895" y="1554480"/>
            <a:ext cx="3566160" cy="2011680"/>
          </a:xfrm>
          <a:prstGeom prst="roundRect">
            <a:avLst>
              <a:gd name="adj" fmla="val 6000"/>
            </a:avLst>
          </a:prstGeom>
          <a:solidFill>
            <a:srgbClr val="F7F8F8"/>
          </a:solidFill>
          <a:ln>
            <a:noFill/>
          </a:ln>
          <a:effectLst/>
        </p:spPr>
        <p:txBody>
          <a:bodyPr rtlCol="0" anchor="ctr"/>
          <a:lstStyle/>
          <a:p>
            <a:pPr algn="ctr"/>
          </a:p>
        </p:txBody>
      </p:sp>
      <p:sp>
        <p:nvSpPr>
          <p:cNvPr id="6" name="Oval 5"/>
          <p:cNvSpPr/>
          <p:nvPr/>
        </p:nvSpPr>
        <p:spPr>
          <a:xfrm>
            <a:off x="11076127" y="173736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8186623" y="1737360"/>
            <a:ext cx="2834639" cy="420624"/>
          </a:xfrm>
          <a:prstGeom prst="rect">
            <a:avLst/>
          </a:prstGeom>
          <a:noFill/>
        </p:spPr>
        <p:txBody>
          <a:bodyPr wrap="square" lIns="73152" rIns="73152" tIns="54864" bIns="54864" anchor="ctr">
            <a:noAutofit/>
          </a:bodyPr>
          <a:lstStyle/>
          <a:p>
            <a:pPr rtl="1" algn="r">
              <a:lnSpc>
                <a:spcPct val="100000"/>
              </a:lnSpc>
            </a:pPr>
            <a:r>
              <a:rPr sz="2000" b="1" i="0" lang="he-IL">
                <a:solidFill>
                  <a:srgbClr val="0A1A33"/>
                </a:solidFill>
                <a:latin typeface="Rubik"/>
                <a:ea typeface="Rubik"/>
                <a:cs typeface="Rubik"/>
              </a:rPr>
              <a:t>מרכזת את החומרים</a:t>
            </a:r>
          </a:p>
        </p:txBody>
      </p:sp>
      <p:sp>
        <p:nvSpPr>
          <p:cNvPr id="8" name="TextBox 7"/>
          <p:cNvSpPr txBox="1"/>
          <p:nvPr/>
        </p:nvSpPr>
        <p:spPr>
          <a:xfrm>
            <a:off x="8259775" y="2249424"/>
            <a:ext cx="3200400" cy="1225296"/>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המסמכים של התיק נמצאים במקום אחד, ו־Claude עובד עליהם שם.</a:t>
            </a:r>
          </a:p>
        </p:txBody>
      </p:sp>
      <p:sp>
        <p:nvSpPr>
          <p:cNvPr id="9" name="Rounded Rectangle 8"/>
          <p:cNvSpPr/>
          <p:nvPr/>
        </p:nvSpPr>
        <p:spPr>
          <a:xfrm>
            <a:off x="4318711" y="1554480"/>
            <a:ext cx="3566160" cy="2011680"/>
          </a:xfrm>
          <a:prstGeom prst="roundRect">
            <a:avLst>
              <a:gd name="adj" fmla="val 6000"/>
            </a:avLst>
          </a:prstGeom>
          <a:solidFill>
            <a:srgbClr val="F7F8F8"/>
          </a:solidFill>
          <a:ln>
            <a:noFill/>
          </a:ln>
          <a:effectLst/>
        </p:spPr>
        <p:txBody>
          <a:bodyPr rtlCol="0" anchor="ctr"/>
          <a:lstStyle/>
          <a:p>
            <a:pPr algn="ctr"/>
          </a:p>
        </p:txBody>
      </p:sp>
      <p:sp>
        <p:nvSpPr>
          <p:cNvPr id="10" name="Oval 9"/>
          <p:cNvSpPr/>
          <p:nvPr/>
        </p:nvSpPr>
        <p:spPr>
          <a:xfrm>
            <a:off x="7317943" y="173736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1" name="TextBox 10"/>
          <p:cNvSpPr txBox="1"/>
          <p:nvPr/>
        </p:nvSpPr>
        <p:spPr>
          <a:xfrm>
            <a:off x="4428439" y="1737360"/>
            <a:ext cx="2834639" cy="420624"/>
          </a:xfrm>
          <a:prstGeom prst="rect">
            <a:avLst/>
          </a:prstGeom>
          <a:noFill/>
        </p:spPr>
        <p:txBody>
          <a:bodyPr wrap="square" lIns="73152" rIns="73152" tIns="54864" bIns="54864" anchor="ctr">
            <a:noAutofit/>
          </a:bodyPr>
          <a:lstStyle/>
          <a:p>
            <a:pPr rtl="1" algn="r">
              <a:lnSpc>
                <a:spcPct val="100000"/>
              </a:lnSpc>
            </a:pPr>
            <a:r>
              <a:rPr sz="2000" b="1" i="0" lang="he-IL">
                <a:solidFill>
                  <a:srgbClr val="0A1A33"/>
                </a:solidFill>
                <a:latin typeface="Rubik"/>
                <a:ea typeface="Rubik"/>
                <a:cs typeface="Rubik"/>
              </a:rPr>
              <a:t>שומרת את התוצרים</a:t>
            </a:r>
          </a:p>
        </p:txBody>
      </p:sp>
      <p:sp>
        <p:nvSpPr>
          <p:cNvPr id="12" name="TextBox 11"/>
          <p:cNvSpPr txBox="1"/>
          <p:nvPr/>
        </p:nvSpPr>
        <p:spPr>
          <a:xfrm>
            <a:off x="4501591" y="2249424"/>
            <a:ext cx="3200400" cy="1225296"/>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עותקים, רשימות ודוחות נשמרים כקבצים בתיקייה. אפשר לחזור אליהם אחר כך.</a:t>
            </a:r>
          </a:p>
        </p:txBody>
      </p:sp>
      <p:sp>
        <p:nvSpPr>
          <p:cNvPr id="13" name="Rounded Rectangle 12"/>
          <p:cNvSpPr/>
          <p:nvPr/>
        </p:nvSpPr>
        <p:spPr>
          <a:xfrm>
            <a:off x="560527" y="1554480"/>
            <a:ext cx="3566160" cy="2011680"/>
          </a:xfrm>
          <a:prstGeom prst="roundRect">
            <a:avLst>
              <a:gd name="adj" fmla="val 6000"/>
            </a:avLst>
          </a:prstGeom>
          <a:solidFill>
            <a:srgbClr val="F7F8F8"/>
          </a:solidFill>
          <a:ln>
            <a:noFill/>
          </a:ln>
          <a:effectLst/>
        </p:spPr>
        <p:txBody>
          <a:bodyPr rtlCol="0" anchor="ctr"/>
          <a:lstStyle/>
          <a:p>
            <a:pPr algn="ctr"/>
          </a:p>
        </p:txBody>
      </p:sp>
      <p:sp>
        <p:nvSpPr>
          <p:cNvPr id="14" name="Oval 13"/>
          <p:cNvSpPr/>
          <p:nvPr/>
        </p:nvSpPr>
        <p:spPr>
          <a:xfrm>
            <a:off x="3559759" y="173736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5" name="TextBox 14"/>
          <p:cNvSpPr txBox="1"/>
          <p:nvPr/>
        </p:nvSpPr>
        <p:spPr>
          <a:xfrm>
            <a:off x="670255" y="1737360"/>
            <a:ext cx="2834639" cy="420624"/>
          </a:xfrm>
          <a:prstGeom prst="rect">
            <a:avLst/>
          </a:prstGeom>
          <a:noFill/>
        </p:spPr>
        <p:txBody>
          <a:bodyPr wrap="square" lIns="73152" rIns="73152" tIns="54864" bIns="54864" anchor="ctr">
            <a:noAutofit/>
          </a:bodyPr>
          <a:lstStyle/>
          <a:p>
            <a:pPr rtl="1" algn="r">
              <a:lnSpc>
                <a:spcPct val="100000"/>
              </a:lnSpc>
            </a:pPr>
            <a:r>
              <a:rPr sz="2000" b="1" i="0" lang="he-IL">
                <a:solidFill>
                  <a:srgbClr val="0A1A33"/>
                </a:solidFill>
                <a:latin typeface="Rubik"/>
                <a:ea typeface="Rubik"/>
                <a:cs typeface="Rubik"/>
              </a:rPr>
              <a:t>מפרידה בין לקוחות</a:t>
            </a:r>
          </a:p>
        </p:txBody>
      </p:sp>
      <p:sp>
        <p:nvSpPr>
          <p:cNvPr id="16" name="TextBox 15"/>
          <p:cNvSpPr txBox="1"/>
          <p:nvPr/>
        </p:nvSpPr>
        <p:spPr>
          <a:xfrm>
            <a:off x="743407" y="2249424"/>
            <a:ext cx="3200400" cy="1225296"/>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תיקייה נפרדת לכל לקוח, כדי שמידע של לקוח אחד לא ייכנס לתיק של לקוח אחר.</a:t>
            </a:r>
          </a:p>
        </p:txBody>
      </p:sp>
      <p:sp>
        <p:nvSpPr>
          <p:cNvPr id="17" name="Rounded Rectangle 16"/>
          <p:cNvSpPr/>
          <p:nvPr/>
        </p:nvSpPr>
        <p:spPr>
          <a:xfrm>
            <a:off x="548640" y="3886200"/>
            <a:ext cx="11094415" cy="2011680"/>
          </a:xfrm>
          <a:prstGeom prst="roundRect">
            <a:avLst>
              <a:gd name="adj" fmla="val 5000"/>
            </a:avLst>
          </a:prstGeom>
          <a:solidFill>
            <a:srgbClr val="FFFFFF"/>
          </a:solidFill>
          <a:ln w="25400">
            <a:solidFill>
              <a:srgbClr val="E0A72E"/>
            </a:solidFill>
          </a:ln>
          <a:effectLst/>
        </p:spPr>
        <p:txBody>
          <a:bodyPr rtlCol="0" anchor="ctr"/>
          <a:lstStyle/>
          <a:p>
            <a:pPr algn="ctr"/>
          </a:p>
        </p:txBody>
      </p:sp>
      <p:sp>
        <p:nvSpPr>
          <p:cNvPr id="18" name="TextBox 17"/>
          <p:cNvSpPr txBox="1"/>
          <p:nvPr/>
        </p:nvSpPr>
        <p:spPr>
          <a:xfrm>
            <a:off x="822959" y="4005072"/>
            <a:ext cx="1054577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מה בחירת התיקייה לא אומרת</a:t>
            </a:r>
          </a:p>
        </p:txBody>
      </p:sp>
      <p:sp>
        <p:nvSpPr>
          <p:cNvPr id="19" name="TextBox 18"/>
          <p:cNvSpPr txBox="1"/>
          <p:nvPr/>
        </p:nvSpPr>
        <p:spPr>
          <a:xfrm>
            <a:off x="822959" y="4480560"/>
            <a:ext cx="10545775" cy="13716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התיקייה קובעת איפה Claude קורא וכותב קבצים. היא לא מבטיחה שהמידע מעובד רק במחשב שלכם.</a:t>
            </a:r>
          </a:p>
          <a:p>
            <a:pPr rtl="1" algn="r">
              <a:lnSpc>
                <a:spcPct val="110000"/>
              </a:lnSpc>
              <a:spcAft>
                <a:spcPts val="600"/>
              </a:spcAft>
            </a:pPr>
            <a:r>
              <a:rPr sz="1700" b="0" i="0" lang="he-IL">
                <a:solidFill>
                  <a:srgbClr val="4C5058"/>
                </a:solidFill>
                <a:latin typeface="Rubik"/>
                <a:ea typeface="Rubik"/>
                <a:cs typeface="Rubik"/>
              </a:rPr>
              <a:t>כדי לענות, Claude שולח את תוכן הקבצים שהוא קורא למודל של Anthropic לעיבוד.</a:t>
            </a:r>
          </a:p>
          <a:p>
            <a:pPr rtl="1" algn="r">
              <a:lnSpc>
                <a:spcPct val="110000"/>
              </a:lnSpc>
              <a:spcAft>
                <a:spcPts val="600"/>
              </a:spcAft>
            </a:pPr>
            <a:r>
              <a:rPr sz="1700" b="1" i="0" lang="he-IL">
                <a:solidFill>
                  <a:srgbClr val="4C5058"/>
                </a:solidFill>
                <a:latin typeface="Rubik"/>
                <a:ea typeface="Rubik"/>
                <a:cs typeface="Rubik"/>
              </a:rPr>
              <a:t>לכן בתרגול משתמשים רק בנתונים פיקטיביים.</a:t>
            </a:r>
          </a:p>
        </p:txBody>
      </p:sp>
      <p:sp>
        <p:nvSpPr>
          <p:cNvPr id="20" name="TextBox 1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9</a:t>
            </a:r>
            <a:r>
              <a:rPr sz="1200" b="0" i="0" lang="he-IL">
                <a:solidFill>
                  <a:srgbClr val="8D9299"/>
                </a:solidFill>
                <a:latin typeface="Rubik"/>
                <a:ea typeface="Rubik"/>
                <a:cs typeface="Rubik"/>
              </a:rPr>
              <a:t>  |  Claude Code ליועצי משכנתאות</a:t>
            </a:r>
          </a:p>
        </p:txBody>
      </p:sp>
      <p:pic>
        <p:nvPicPr>
          <p:cNvPr id="21" name="Picture 2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מבנה תיקיית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463040"/>
            <a:ext cx="4754880" cy="2880360"/>
          </a:xfrm>
          <a:prstGeom prst="roundRect">
            <a:avLst>
              <a:gd name="adj" fmla="val 6000"/>
            </a:avLst>
          </a:prstGeom>
          <a:solidFill>
            <a:srgbClr val="0A1A33"/>
          </a:solidFill>
          <a:ln>
            <a:noFill/>
          </a:ln>
          <a:effectLst/>
        </p:spPr>
        <p:txBody>
          <a:bodyPr rtlCol="0" anchor="ctr"/>
          <a:lstStyle/>
          <a:p>
            <a:pPr algn="ctr"/>
          </a:p>
        </p:txBody>
      </p:sp>
      <p:sp>
        <p:nvSpPr>
          <p:cNvPr id="7" name="TextBox 6"/>
          <p:cNvSpPr txBox="1"/>
          <p:nvPr/>
        </p:nvSpPr>
        <p:spPr>
          <a:xfrm>
            <a:off x="685800" y="1572768"/>
            <a:ext cx="4480560" cy="2697479"/>
          </a:xfrm>
          <a:prstGeom prst="rect">
            <a:avLst/>
          </a:prstGeom>
          <a:noFill/>
        </p:spPr>
        <p:txBody>
          <a:bodyPr wrap="square" lIns="73152" rIns="73152" tIns="54864" bIns="54864" anchor="t">
            <a:noAutofit/>
          </a:bodyPr>
          <a:lstStyle/>
          <a:p>
            <a:pPr rtl="0" algn="l">
              <a:lnSpc>
                <a:spcPct val="115000"/>
              </a:lnSpc>
              <a:spcAft>
                <a:spcPts val="200"/>
              </a:spcAft>
            </a:pPr>
            <a:r>
              <a:rPr sz="2100" b="0" i="0" lang="en-US">
                <a:solidFill>
                  <a:srgbClr val="FFFFFF"/>
                </a:solidFill>
                <a:latin typeface="Consolas"/>
                <a:ea typeface="Consolas"/>
                <a:cs typeface="Rubik"/>
              </a:rPr>
              <a:t>levi-case\</a:t>
            </a:r>
          </a:p>
          <a:p>
            <a:pPr rtl="0" algn="l">
              <a:lnSpc>
                <a:spcPct val="115000"/>
              </a:lnSpc>
              <a:spcAft>
                <a:spcPts val="200"/>
              </a:spcAft>
            </a:pPr>
            <a:r>
              <a:rPr sz="2100" b="0" i="0" lang="en-US">
                <a:solidFill>
                  <a:srgbClr val="64CAAD"/>
                </a:solidFill>
                <a:latin typeface="Consolas"/>
                <a:ea typeface="Consolas"/>
                <a:cs typeface="Rubik"/>
              </a:rPr>
              <a:t>├── 01_originals\</a:t>
            </a:r>
          </a:p>
          <a:p>
            <a:pPr rtl="0" algn="l">
              <a:lnSpc>
                <a:spcPct val="115000"/>
              </a:lnSpc>
              <a:spcAft>
                <a:spcPts val="200"/>
              </a:spcAft>
            </a:pPr>
            <a:r>
              <a:rPr sz="2100" b="0" i="0" lang="en-US">
                <a:solidFill>
                  <a:srgbClr val="64CAAD"/>
                </a:solidFill>
                <a:latin typeface="Consolas"/>
                <a:ea typeface="Consolas"/>
                <a:cs typeface="Rubik"/>
              </a:rPr>
              <a:t>├── 02_organized\</a:t>
            </a:r>
          </a:p>
          <a:p>
            <a:pPr rtl="0" algn="l">
              <a:lnSpc>
                <a:spcPct val="115000"/>
              </a:lnSpc>
              <a:spcAft>
                <a:spcPts val="200"/>
              </a:spcAft>
            </a:pPr>
            <a:r>
              <a:rPr sz="2100" b="0" i="0" lang="en-US">
                <a:solidFill>
                  <a:srgbClr val="64CAAD"/>
                </a:solidFill>
                <a:latin typeface="Consolas"/>
                <a:ea typeface="Consolas"/>
                <a:cs typeface="Rubik"/>
              </a:rPr>
              <a:t>├── 03_reports\</a:t>
            </a:r>
          </a:p>
          <a:p>
            <a:pPr rtl="0" algn="l">
              <a:lnSpc>
                <a:spcPct val="115000"/>
              </a:lnSpc>
              <a:spcAft>
                <a:spcPts val="200"/>
              </a:spcAft>
            </a:pPr>
            <a:r>
              <a:rPr sz="2100" b="0" i="0" lang="en-US">
                <a:solidFill>
                  <a:srgbClr val="FFFFFF"/>
                </a:solidFill>
                <a:latin typeface="Consolas"/>
                <a:ea typeface="Consolas"/>
                <a:cs typeface="Rubik"/>
              </a:rPr>
              <a:t>├── CLAUDE.md</a:t>
            </a:r>
          </a:p>
          <a:p>
            <a:pPr rtl="0" algn="l">
              <a:lnSpc>
                <a:spcPct val="115000"/>
              </a:lnSpc>
              <a:spcAft>
                <a:spcPts val="200"/>
              </a:spcAft>
            </a:pPr>
            <a:r>
              <a:rPr sz="2100" b="0" i="0" lang="en-US">
                <a:solidFill>
                  <a:srgbClr val="FFFFFF"/>
                </a:solidFill>
                <a:latin typeface="Consolas"/>
                <a:ea typeface="Consolas"/>
                <a:cs typeface="Rubik"/>
              </a:rPr>
              <a:t>└── .claude\</a:t>
            </a:r>
          </a:p>
        </p:txBody>
      </p:sp>
      <p:sp>
        <p:nvSpPr>
          <p:cNvPr id="8" name="Rounded Rectangle 7"/>
          <p:cNvSpPr/>
          <p:nvPr/>
        </p:nvSpPr>
        <p:spPr>
          <a:xfrm>
            <a:off x="9768535" y="1517904"/>
            <a:ext cx="1874519" cy="384048"/>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400" b="1" i="0" lang="en-US">
                <a:solidFill>
                  <a:srgbClr val="0A1A33"/>
                </a:solidFill>
                <a:latin typeface="Rubik"/>
                <a:ea typeface="Rubik"/>
                <a:cs typeface="Rubik"/>
              </a:rPr>
              <a:t>01_originals</a:t>
            </a:r>
          </a:p>
        </p:txBody>
      </p:sp>
      <p:sp>
        <p:nvSpPr>
          <p:cNvPr id="9" name="TextBox 8"/>
          <p:cNvSpPr txBox="1"/>
          <p:nvPr/>
        </p:nvSpPr>
        <p:spPr>
          <a:xfrm>
            <a:off x="5623560" y="1490472"/>
            <a:ext cx="4007815" cy="457200"/>
          </a:xfrm>
          <a:prstGeom prst="rect">
            <a:avLst/>
          </a:prstGeom>
          <a:noFill/>
        </p:spPr>
        <p:txBody>
          <a:bodyPr wrap="square" lIns="73152" rIns="73152" tIns="54864" bIns="54864" anchor="ctr">
            <a:noAutofit/>
          </a:bodyPr>
          <a:lstStyle/>
          <a:p>
            <a:pPr rtl="1" algn="r">
              <a:lnSpc>
                <a:spcPct val="110000"/>
              </a:lnSpc>
              <a:spcAft>
                <a:spcPts val="600"/>
              </a:spcAft>
            </a:pPr>
            <a:r>
              <a:rPr sz="1700" b="0" i="0" lang="he-IL">
                <a:solidFill>
                  <a:srgbClr val="0A1A33"/>
                </a:solidFill>
                <a:latin typeface="Rubik"/>
                <a:ea typeface="Rubik"/>
                <a:cs typeface="Rubik"/>
              </a:rPr>
              <a:t>מקורות ללא שינוי. רק קוראים מהם.</a:t>
            </a:r>
          </a:p>
        </p:txBody>
      </p:sp>
      <p:sp>
        <p:nvSpPr>
          <p:cNvPr id="10" name="Rounded Rectangle 9"/>
          <p:cNvSpPr/>
          <p:nvPr/>
        </p:nvSpPr>
        <p:spPr>
          <a:xfrm>
            <a:off x="9768535" y="2103120"/>
            <a:ext cx="1874519" cy="384048"/>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400" b="1" i="0" lang="en-US">
                <a:solidFill>
                  <a:srgbClr val="0A1A33"/>
                </a:solidFill>
                <a:latin typeface="Rubik"/>
                <a:ea typeface="Rubik"/>
                <a:cs typeface="Rubik"/>
              </a:rPr>
              <a:t>02_organized</a:t>
            </a:r>
          </a:p>
        </p:txBody>
      </p:sp>
      <p:sp>
        <p:nvSpPr>
          <p:cNvPr id="11" name="TextBox 10"/>
          <p:cNvSpPr txBox="1"/>
          <p:nvPr/>
        </p:nvSpPr>
        <p:spPr>
          <a:xfrm>
            <a:off x="5623560" y="2075688"/>
            <a:ext cx="4007815" cy="457200"/>
          </a:xfrm>
          <a:prstGeom prst="rect">
            <a:avLst/>
          </a:prstGeom>
          <a:noFill/>
        </p:spPr>
        <p:txBody>
          <a:bodyPr wrap="square" lIns="73152" rIns="73152" tIns="54864" bIns="54864" anchor="ctr">
            <a:noAutofit/>
          </a:bodyPr>
          <a:lstStyle/>
          <a:p>
            <a:pPr rtl="1" algn="r">
              <a:lnSpc>
                <a:spcPct val="110000"/>
              </a:lnSpc>
              <a:spcAft>
                <a:spcPts val="600"/>
              </a:spcAft>
            </a:pPr>
            <a:r>
              <a:rPr sz="1700" b="0" i="0" lang="he-IL">
                <a:solidFill>
                  <a:srgbClr val="0A1A33"/>
                </a:solidFill>
                <a:latin typeface="Rubik"/>
                <a:ea typeface="Rubik"/>
                <a:cs typeface="Rubik"/>
              </a:rPr>
              <a:t>עותקים מסודרים בשמות ברורים.</a:t>
            </a:r>
          </a:p>
        </p:txBody>
      </p:sp>
      <p:sp>
        <p:nvSpPr>
          <p:cNvPr id="12" name="Rounded Rectangle 11"/>
          <p:cNvSpPr/>
          <p:nvPr/>
        </p:nvSpPr>
        <p:spPr>
          <a:xfrm>
            <a:off x="9768535" y="2688336"/>
            <a:ext cx="1874519" cy="384048"/>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400" b="1" i="0" lang="en-US">
                <a:solidFill>
                  <a:srgbClr val="0A1A33"/>
                </a:solidFill>
                <a:latin typeface="Rubik"/>
                <a:ea typeface="Rubik"/>
                <a:cs typeface="Rubik"/>
              </a:rPr>
              <a:t>03_reports</a:t>
            </a:r>
          </a:p>
        </p:txBody>
      </p:sp>
      <p:sp>
        <p:nvSpPr>
          <p:cNvPr id="13" name="TextBox 12"/>
          <p:cNvSpPr txBox="1"/>
          <p:nvPr/>
        </p:nvSpPr>
        <p:spPr>
          <a:xfrm>
            <a:off x="5623560" y="2660903"/>
            <a:ext cx="4007815" cy="457200"/>
          </a:xfrm>
          <a:prstGeom prst="rect">
            <a:avLst/>
          </a:prstGeom>
          <a:noFill/>
        </p:spPr>
        <p:txBody>
          <a:bodyPr wrap="square" lIns="73152" rIns="73152" tIns="54864" bIns="54864" anchor="ctr">
            <a:noAutofit/>
          </a:bodyPr>
          <a:lstStyle/>
          <a:p>
            <a:pPr rtl="1" algn="r">
              <a:lnSpc>
                <a:spcPct val="110000"/>
              </a:lnSpc>
              <a:spcAft>
                <a:spcPts val="600"/>
              </a:spcAft>
            </a:pPr>
            <a:r>
              <a:rPr sz="1700" b="0" i="0" lang="he-IL">
                <a:solidFill>
                  <a:srgbClr val="0A1A33"/>
                </a:solidFill>
                <a:latin typeface="Rubik"/>
                <a:ea typeface="Rubik"/>
                <a:cs typeface="Rubik"/>
              </a:rPr>
              <a:t>דוחות ותוצרים: רשימות, ריכוז נתונים, טיוטה.</a:t>
            </a:r>
          </a:p>
        </p:txBody>
      </p:sp>
      <p:sp>
        <p:nvSpPr>
          <p:cNvPr id="14" name="Rounded Rectangle 13"/>
          <p:cNvSpPr/>
          <p:nvPr/>
        </p:nvSpPr>
        <p:spPr>
          <a:xfrm>
            <a:off x="9768535" y="3273552"/>
            <a:ext cx="1874519" cy="384048"/>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400" b="1" i="0" lang="en-US">
                <a:solidFill>
                  <a:srgbClr val="0A1A33"/>
                </a:solidFill>
                <a:latin typeface="Rubik"/>
                <a:ea typeface="Rubik"/>
                <a:cs typeface="Rubik"/>
              </a:rPr>
              <a:t>CLAUDE.md</a:t>
            </a:r>
          </a:p>
        </p:txBody>
      </p:sp>
      <p:sp>
        <p:nvSpPr>
          <p:cNvPr id="15" name="TextBox 14"/>
          <p:cNvSpPr txBox="1"/>
          <p:nvPr/>
        </p:nvSpPr>
        <p:spPr>
          <a:xfrm>
            <a:off x="5623560" y="3246120"/>
            <a:ext cx="4007815" cy="457200"/>
          </a:xfrm>
          <a:prstGeom prst="rect">
            <a:avLst/>
          </a:prstGeom>
          <a:noFill/>
        </p:spPr>
        <p:txBody>
          <a:bodyPr wrap="square" lIns="73152" rIns="73152" tIns="54864" bIns="54864" anchor="ctr">
            <a:noAutofit/>
          </a:bodyPr>
          <a:lstStyle/>
          <a:p>
            <a:pPr rtl="1" algn="r">
              <a:lnSpc>
                <a:spcPct val="110000"/>
              </a:lnSpc>
              <a:spcAft>
                <a:spcPts val="600"/>
              </a:spcAft>
            </a:pPr>
            <a:r>
              <a:rPr sz="1700" b="0" i="0" lang="he-IL">
                <a:solidFill>
                  <a:srgbClr val="0A1A33"/>
                </a:solidFill>
                <a:latin typeface="Rubik"/>
                <a:ea typeface="Rubik"/>
                <a:cs typeface="Rubik"/>
              </a:rPr>
              <a:t>קובץ טקסט עם הוראות קבועות לפרויקט.</a:t>
            </a:r>
          </a:p>
        </p:txBody>
      </p:sp>
      <p:sp>
        <p:nvSpPr>
          <p:cNvPr id="16" name="Rounded Rectangle 15"/>
          <p:cNvSpPr/>
          <p:nvPr/>
        </p:nvSpPr>
        <p:spPr>
          <a:xfrm>
            <a:off x="9768535" y="3858768"/>
            <a:ext cx="1874519" cy="384048"/>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400" b="1" i="0" lang="en-US">
                <a:solidFill>
                  <a:srgbClr val="0A1A33"/>
                </a:solidFill>
                <a:latin typeface="Rubik"/>
                <a:ea typeface="Rubik"/>
                <a:cs typeface="Rubik"/>
              </a:rPr>
              <a:t>.claude</a:t>
            </a:r>
          </a:p>
        </p:txBody>
      </p:sp>
      <p:sp>
        <p:nvSpPr>
          <p:cNvPr id="17" name="TextBox 16"/>
          <p:cNvSpPr txBox="1"/>
          <p:nvPr/>
        </p:nvSpPr>
        <p:spPr>
          <a:xfrm>
            <a:off x="5623560" y="3831336"/>
            <a:ext cx="4007815" cy="457200"/>
          </a:xfrm>
          <a:prstGeom prst="rect">
            <a:avLst/>
          </a:prstGeom>
          <a:noFill/>
        </p:spPr>
        <p:txBody>
          <a:bodyPr wrap="square" lIns="73152" rIns="73152" tIns="54864" bIns="54864" anchor="ctr">
            <a:noAutofit/>
          </a:bodyPr>
          <a:lstStyle/>
          <a:p>
            <a:pPr rtl="1" algn="r">
              <a:lnSpc>
                <a:spcPct val="110000"/>
              </a:lnSpc>
              <a:spcAft>
                <a:spcPts val="600"/>
              </a:spcAft>
            </a:pPr>
            <a:r>
              <a:rPr sz="1700" b="0" i="0" lang="he-IL">
                <a:solidFill>
                  <a:srgbClr val="0A1A33"/>
                </a:solidFill>
                <a:latin typeface="Rubik"/>
                <a:ea typeface="Rubik"/>
                <a:cs typeface="Rubik"/>
              </a:rPr>
              <a:t>הגדרות והרחבות: סקילים וסוכני משנה.</a:t>
            </a:r>
          </a:p>
        </p:txBody>
      </p:sp>
      <p:sp>
        <p:nvSpPr>
          <p:cNvPr id="18" name="Rounded Rectangle 17"/>
          <p:cNvSpPr/>
          <p:nvPr/>
        </p:nvSpPr>
        <p:spPr>
          <a:xfrm>
            <a:off x="548640" y="4617720"/>
            <a:ext cx="11094415" cy="132588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617720"/>
            <a:ext cx="73152" cy="132588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72744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5056631"/>
            <a:ext cx="10682935" cy="82295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הזו שלוש תיקיות: ‎01_originals‎,‏ ‎02_organized‎ ו־‎03_reports‎. אל תיצור קבצים נוספים.</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10</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ההקשר של השיחה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076895" y="1554480"/>
            <a:ext cx="3566160" cy="196596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6" name="Rectangle 5"/>
          <p:cNvSpPr/>
          <p:nvPr/>
        </p:nvSpPr>
        <p:spPr>
          <a:xfrm>
            <a:off x="8305495" y="1554480"/>
            <a:ext cx="3108960" cy="54864"/>
          </a:xfrm>
          <a:prstGeom prst="rect">
            <a:avLst/>
          </a:prstGeom>
          <a:solidFill>
            <a:srgbClr val="435FB5"/>
          </a:solidFill>
          <a:ln>
            <a:noFill/>
          </a:ln>
          <a:effectLst/>
        </p:spPr>
        <p:txBody>
          <a:bodyPr rtlCol="0" anchor="ctr"/>
          <a:lstStyle/>
          <a:p>
            <a:pPr algn="ctr"/>
          </a:p>
        </p:txBody>
      </p:sp>
      <p:sp>
        <p:nvSpPr>
          <p:cNvPr id="7" name="TextBox 6"/>
          <p:cNvSpPr txBox="1"/>
          <p:nvPr/>
        </p:nvSpPr>
        <p:spPr>
          <a:xfrm>
            <a:off x="8259775" y="1737360"/>
            <a:ext cx="3200400"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השיחה</a:t>
            </a:r>
          </a:p>
        </p:txBody>
      </p:sp>
      <p:sp>
        <p:nvSpPr>
          <p:cNvPr id="8" name="TextBox 7"/>
          <p:cNvSpPr txBox="1"/>
          <p:nvPr/>
        </p:nvSpPr>
        <p:spPr>
          <a:xfrm>
            <a:off x="8259775" y="2212848"/>
            <a:ext cx="3200400" cy="1216151"/>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נמשכת רק בתוך אותה שיחה (סשן). שיחה חדשה מתחילה בלי ההיסטוריה של השיחות הקודמות.</a:t>
            </a:r>
          </a:p>
        </p:txBody>
      </p:sp>
      <p:sp>
        <p:nvSpPr>
          <p:cNvPr id="9" name="Rounded Rectangle 8"/>
          <p:cNvSpPr/>
          <p:nvPr/>
        </p:nvSpPr>
        <p:spPr>
          <a:xfrm>
            <a:off x="4318711" y="1554480"/>
            <a:ext cx="3566160" cy="196596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10" name="Rectangle 9"/>
          <p:cNvSpPr/>
          <p:nvPr/>
        </p:nvSpPr>
        <p:spPr>
          <a:xfrm>
            <a:off x="4547311" y="1554480"/>
            <a:ext cx="3108960" cy="54864"/>
          </a:xfrm>
          <a:prstGeom prst="rect">
            <a:avLst/>
          </a:prstGeom>
          <a:solidFill>
            <a:srgbClr val="64CAAD"/>
          </a:solidFill>
          <a:ln>
            <a:noFill/>
          </a:ln>
          <a:effectLst/>
        </p:spPr>
        <p:txBody>
          <a:bodyPr rtlCol="0" anchor="ctr"/>
          <a:lstStyle/>
          <a:p>
            <a:pPr algn="ctr"/>
          </a:p>
        </p:txBody>
      </p:sp>
      <p:sp>
        <p:nvSpPr>
          <p:cNvPr id="11" name="TextBox 10"/>
          <p:cNvSpPr txBox="1"/>
          <p:nvPr/>
        </p:nvSpPr>
        <p:spPr>
          <a:xfrm>
            <a:off x="4501591" y="1737360"/>
            <a:ext cx="3200400"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קבצים שנשמרו</a:t>
            </a:r>
          </a:p>
        </p:txBody>
      </p:sp>
      <p:sp>
        <p:nvSpPr>
          <p:cNvPr id="12" name="TextBox 11"/>
          <p:cNvSpPr txBox="1"/>
          <p:nvPr/>
        </p:nvSpPr>
        <p:spPr>
          <a:xfrm>
            <a:off x="4501591" y="2212848"/>
            <a:ext cx="3200400" cy="1216151"/>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נשארים בתיקייה. כל שיחה חדשה יכולה לקרוא אותם מחדש.</a:t>
            </a:r>
          </a:p>
        </p:txBody>
      </p:sp>
      <p:sp>
        <p:nvSpPr>
          <p:cNvPr id="13" name="Rounded Rectangle 12"/>
          <p:cNvSpPr/>
          <p:nvPr/>
        </p:nvSpPr>
        <p:spPr>
          <a:xfrm>
            <a:off x="560527" y="1554480"/>
            <a:ext cx="3566160" cy="196596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14" name="Rectangle 13"/>
          <p:cNvSpPr/>
          <p:nvPr/>
        </p:nvSpPr>
        <p:spPr>
          <a:xfrm>
            <a:off x="789127" y="1554480"/>
            <a:ext cx="3108960" cy="54864"/>
          </a:xfrm>
          <a:prstGeom prst="rect">
            <a:avLst/>
          </a:prstGeom>
          <a:solidFill>
            <a:srgbClr val="0A1A33"/>
          </a:solidFill>
          <a:ln>
            <a:noFill/>
          </a:ln>
          <a:effectLst/>
        </p:spPr>
        <p:txBody>
          <a:bodyPr rtlCol="0" anchor="ctr"/>
          <a:lstStyle/>
          <a:p>
            <a:pPr algn="ctr"/>
          </a:p>
        </p:txBody>
      </p:sp>
      <p:sp>
        <p:nvSpPr>
          <p:cNvPr id="15" name="TextBox 14"/>
          <p:cNvSpPr txBox="1"/>
          <p:nvPr/>
        </p:nvSpPr>
        <p:spPr>
          <a:xfrm>
            <a:off x="743407" y="1737360"/>
            <a:ext cx="3200400"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‎CLAUDE.md‎</a:t>
            </a:r>
          </a:p>
        </p:txBody>
      </p:sp>
      <p:sp>
        <p:nvSpPr>
          <p:cNvPr id="16" name="TextBox 15"/>
          <p:cNvSpPr txBox="1"/>
          <p:nvPr/>
        </p:nvSpPr>
        <p:spPr>
          <a:xfrm>
            <a:off x="743407" y="2212848"/>
            <a:ext cx="3200400" cy="1216151"/>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4C5058"/>
                </a:solidFill>
                <a:latin typeface="Rubik"/>
                <a:ea typeface="Rubik"/>
                <a:cs typeface="Rubik"/>
              </a:rPr>
              <a:t>נטען אוטומטית בתחילת כל שיחה בפרויקט. כאן שמים כללים קבועים.</a:t>
            </a:r>
          </a:p>
        </p:txBody>
      </p:sp>
      <p:sp>
        <p:nvSpPr>
          <p:cNvPr id="17" name="TextBox 16"/>
          <p:cNvSpPr txBox="1"/>
          <p:nvPr/>
        </p:nvSpPr>
        <p:spPr>
          <a:xfrm>
            <a:off x="548640" y="3703320"/>
            <a:ext cx="1109441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חוזרים להמשך עבודה? בודקים שלושה דברים:</a:t>
            </a:r>
          </a:p>
        </p:txBody>
      </p:sp>
      <p:sp>
        <p:nvSpPr>
          <p:cNvPr id="18" name="Rounded Rectangle 17"/>
          <p:cNvSpPr/>
          <p:nvPr/>
        </p:nvSpPr>
        <p:spPr>
          <a:xfrm>
            <a:off x="8076895" y="4160520"/>
            <a:ext cx="3566160" cy="777240"/>
          </a:xfrm>
          <a:prstGeom prst="roundRect">
            <a:avLst>
              <a:gd name="adj" fmla="val 10000"/>
            </a:avLst>
          </a:prstGeom>
          <a:solidFill>
            <a:srgbClr val="FFFFFF"/>
          </a:solidFill>
          <a:ln w="12700">
            <a:solidFill>
              <a:srgbClr val="D4D6D8"/>
            </a:solidFill>
          </a:ln>
          <a:effectLst/>
        </p:spPr>
        <p:txBody>
          <a:bodyPr rtlCol="0" anchor="ctr"/>
          <a:lstStyle/>
          <a:p>
            <a:pPr algn="ctr"/>
          </a:p>
        </p:txBody>
      </p:sp>
      <p:sp>
        <p:nvSpPr>
          <p:cNvPr id="19" name="Oval 18"/>
          <p:cNvSpPr/>
          <p:nvPr/>
        </p:nvSpPr>
        <p:spPr>
          <a:xfrm>
            <a:off x="11094415" y="4352544"/>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1</a:t>
            </a:r>
          </a:p>
        </p:txBody>
      </p:sp>
      <p:sp>
        <p:nvSpPr>
          <p:cNvPr id="20" name="TextBox 19"/>
          <p:cNvSpPr txBox="1"/>
          <p:nvPr/>
        </p:nvSpPr>
        <p:spPr>
          <a:xfrm>
            <a:off x="8214055" y="4160520"/>
            <a:ext cx="2743200" cy="777240"/>
          </a:xfrm>
          <a:prstGeom prst="rect">
            <a:avLst/>
          </a:prstGeom>
          <a:noFill/>
        </p:spPr>
        <p:txBody>
          <a:bodyPr wrap="square" lIns="73152" rIns="73152" tIns="54864" bIns="54864" anchor="ctr">
            <a:noAutofit/>
          </a:bodyPr>
          <a:lstStyle/>
          <a:p>
            <a:pPr rtl="1" algn="r">
              <a:lnSpc>
                <a:spcPct val="110000"/>
              </a:lnSpc>
              <a:spcAft>
                <a:spcPts val="600"/>
              </a:spcAft>
            </a:pPr>
            <a:r>
              <a:rPr sz="1600" b="0" i="0" lang="he-IL">
                <a:solidFill>
                  <a:srgbClr val="0A1A33"/>
                </a:solidFill>
                <a:latin typeface="Rubik"/>
                <a:ea typeface="Rubik"/>
                <a:cs typeface="Rubik"/>
              </a:rPr>
              <a:t>התיקייה הפעילה היא תיקיית הלקוח הנכונה</a:t>
            </a:r>
          </a:p>
        </p:txBody>
      </p:sp>
      <p:sp>
        <p:nvSpPr>
          <p:cNvPr id="21" name="Rounded Rectangle 20"/>
          <p:cNvSpPr/>
          <p:nvPr/>
        </p:nvSpPr>
        <p:spPr>
          <a:xfrm>
            <a:off x="4318711" y="4160520"/>
            <a:ext cx="3566160" cy="777240"/>
          </a:xfrm>
          <a:prstGeom prst="roundRect">
            <a:avLst>
              <a:gd name="adj" fmla="val 10000"/>
            </a:avLst>
          </a:prstGeom>
          <a:solidFill>
            <a:srgbClr val="FFFFFF"/>
          </a:solidFill>
          <a:ln w="12700">
            <a:solidFill>
              <a:srgbClr val="D4D6D8"/>
            </a:solidFill>
          </a:ln>
          <a:effectLst/>
        </p:spPr>
        <p:txBody>
          <a:bodyPr rtlCol="0" anchor="ctr"/>
          <a:lstStyle/>
          <a:p>
            <a:pPr algn="ctr"/>
          </a:p>
        </p:txBody>
      </p:sp>
      <p:sp>
        <p:nvSpPr>
          <p:cNvPr id="22" name="Oval 21"/>
          <p:cNvSpPr/>
          <p:nvPr/>
        </p:nvSpPr>
        <p:spPr>
          <a:xfrm>
            <a:off x="7336231" y="4352544"/>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2</a:t>
            </a:r>
          </a:p>
        </p:txBody>
      </p:sp>
      <p:sp>
        <p:nvSpPr>
          <p:cNvPr id="23" name="TextBox 22"/>
          <p:cNvSpPr txBox="1"/>
          <p:nvPr/>
        </p:nvSpPr>
        <p:spPr>
          <a:xfrm>
            <a:off x="4455871" y="4160520"/>
            <a:ext cx="2743200" cy="777240"/>
          </a:xfrm>
          <a:prstGeom prst="rect">
            <a:avLst/>
          </a:prstGeom>
          <a:noFill/>
        </p:spPr>
        <p:txBody>
          <a:bodyPr wrap="square" lIns="73152" rIns="73152" tIns="54864" bIns="54864" anchor="ctr">
            <a:noAutofit/>
          </a:bodyPr>
          <a:lstStyle/>
          <a:p>
            <a:pPr rtl="1" algn="r">
              <a:lnSpc>
                <a:spcPct val="110000"/>
              </a:lnSpc>
              <a:spcAft>
                <a:spcPts val="600"/>
              </a:spcAft>
            </a:pPr>
            <a:r>
              <a:rPr sz="1600" b="0" i="0" lang="he-IL">
                <a:solidFill>
                  <a:srgbClr val="0A1A33"/>
                </a:solidFill>
                <a:latin typeface="Rubik"/>
                <a:ea typeface="Rubik"/>
                <a:cs typeface="Rubik"/>
              </a:rPr>
              <a:t>‎CLAUDE.md‎ קיים ומעודכן</a:t>
            </a:r>
          </a:p>
        </p:txBody>
      </p:sp>
      <p:sp>
        <p:nvSpPr>
          <p:cNvPr id="24" name="Rounded Rectangle 23"/>
          <p:cNvSpPr/>
          <p:nvPr/>
        </p:nvSpPr>
        <p:spPr>
          <a:xfrm>
            <a:off x="560527" y="4160520"/>
            <a:ext cx="3566160" cy="777240"/>
          </a:xfrm>
          <a:prstGeom prst="roundRect">
            <a:avLst>
              <a:gd name="adj" fmla="val 10000"/>
            </a:avLst>
          </a:prstGeom>
          <a:solidFill>
            <a:srgbClr val="FFFFFF"/>
          </a:solidFill>
          <a:ln w="12700">
            <a:solidFill>
              <a:srgbClr val="D4D6D8"/>
            </a:solidFill>
          </a:ln>
          <a:effectLst/>
        </p:spPr>
        <p:txBody>
          <a:bodyPr rtlCol="0" anchor="ctr"/>
          <a:lstStyle/>
          <a:p>
            <a:pPr algn="ctr"/>
          </a:p>
        </p:txBody>
      </p:sp>
      <p:sp>
        <p:nvSpPr>
          <p:cNvPr id="25" name="Oval 24"/>
          <p:cNvSpPr/>
          <p:nvPr/>
        </p:nvSpPr>
        <p:spPr>
          <a:xfrm>
            <a:off x="3578047" y="4352544"/>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3</a:t>
            </a:r>
          </a:p>
        </p:txBody>
      </p:sp>
      <p:sp>
        <p:nvSpPr>
          <p:cNvPr id="26" name="TextBox 25"/>
          <p:cNvSpPr txBox="1"/>
          <p:nvPr/>
        </p:nvSpPr>
        <p:spPr>
          <a:xfrm>
            <a:off x="697687" y="4160520"/>
            <a:ext cx="2743200" cy="777240"/>
          </a:xfrm>
          <a:prstGeom prst="rect">
            <a:avLst/>
          </a:prstGeom>
          <a:noFill/>
        </p:spPr>
        <p:txBody>
          <a:bodyPr wrap="square" lIns="73152" rIns="73152" tIns="54864" bIns="54864" anchor="ctr">
            <a:noAutofit/>
          </a:bodyPr>
          <a:lstStyle/>
          <a:p>
            <a:pPr rtl="1" algn="r">
              <a:lnSpc>
                <a:spcPct val="110000"/>
              </a:lnSpc>
              <a:spcAft>
                <a:spcPts val="600"/>
              </a:spcAft>
            </a:pPr>
            <a:r>
              <a:rPr sz="1600" b="0" i="0" lang="he-IL">
                <a:solidFill>
                  <a:srgbClr val="0A1A33"/>
                </a:solidFill>
                <a:latin typeface="Rubik"/>
                <a:ea typeface="Rubik"/>
                <a:cs typeface="Rubik"/>
              </a:rPr>
              <a:t>מה כבר נשמר ב־‎03_reports‎ ומה עוד פתוח</a:t>
            </a:r>
          </a:p>
        </p:txBody>
      </p:sp>
      <p:sp>
        <p:nvSpPr>
          <p:cNvPr id="27" name="Rounded Rectangle 26"/>
          <p:cNvSpPr/>
          <p:nvPr/>
        </p:nvSpPr>
        <p:spPr>
          <a:xfrm>
            <a:off x="548640" y="5120640"/>
            <a:ext cx="11094415" cy="960120"/>
          </a:xfrm>
          <a:prstGeom prst="roundRect">
            <a:avLst>
              <a:gd name="adj" fmla="val 5000"/>
            </a:avLst>
          </a:prstGeom>
          <a:solidFill>
            <a:srgbClr val="E8FBF7"/>
          </a:solidFill>
          <a:ln>
            <a:noFill/>
          </a:ln>
          <a:effectLst/>
        </p:spPr>
        <p:txBody>
          <a:bodyPr rtlCol="0" anchor="ctr"/>
          <a:lstStyle/>
          <a:p>
            <a:pPr algn="ctr"/>
          </a:p>
        </p:txBody>
      </p:sp>
      <p:sp>
        <p:nvSpPr>
          <p:cNvPr id="28" name="Rectangle 27"/>
          <p:cNvSpPr/>
          <p:nvPr/>
        </p:nvSpPr>
        <p:spPr>
          <a:xfrm>
            <a:off x="11569903" y="5120640"/>
            <a:ext cx="73152" cy="960120"/>
          </a:xfrm>
          <a:prstGeom prst="rect">
            <a:avLst/>
          </a:prstGeom>
          <a:solidFill>
            <a:srgbClr val="64CAAD"/>
          </a:solidFill>
          <a:ln>
            <a:noFill/>
          </a:ln>
          <a:effectLst/>
        </p:spPr>
        <p:txBody>
          <a:bodyPr rtlCol="0" anchor="ctr"/>
          <a:lstStyle/>
          <a:p>
            <a:pPr algn="ctr"/>
          </a:p>
        </p:txBody>
      </p:sp>
      <p:sp>
        <p:nvSpPr>
          <p:cNvPr id="29" name="TextBox 28"/>
          <p:cNvSpPr txBox="1"/>
          <p:nvPr/>
        </p:nvSpPr>
        <p:spPr>
          <a:xfrm>
            <a:off x="731520" y="523036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לפתיחת שיחת המשך</a:t>
            </a:r>
          </a:p>
        </p:txBody>
      </p:sp>
      <p:sp>
        <p:nvSpPr>
          <p:cNvPr id="30" name="TextBox 29"/>
          <p:cNvSpPr txBox="1"/>
          <p:nvPr/>
        </p:nvSpPr>
        <p:spPr>
          <a:xfrm>
            <a:off x="731520" y="5559552"/>
            <a:ext cx="10682935" cy="457200"/>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קרא את הקבצים ב־‎03_reports‎ וסכם בקצרה מה הושלם ומה עוד פתוח.</a:t>
            </a:r>
          </a:p>
        </p:txBody>
      </p:sp>
      <p:sp>
        <p:nvSpPr>
          <p:cNvPr id="31" name="TextBox 3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11</a:t>
            </a:r>
            <a:r>
              <a:rPr sz="1200" b="0" i="0" lang="he-IL">
                <a:solidFill>
                  <a:srgbClr val="8D9299"/>
                </a:solidFill>
                <a:latin typeface="Rubik"/>
                <a:ea typeface="Rubik"/>
                <a:cs typeface="Rubik"/>
              </a:rPr>
              <a:t>  |  Claude Code ליועצי משכנתאות</a:t>
            </a:r>
          </a:p>
        </p:txBody>
      </p:sp>
      <p:pic>
        <p:nvPicPr>
          <p:cNvPr id="32" name="Picture 3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קובץ ההוראות ‎CLAUDE.md‎</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059375" y="1463040"/>
            <a:ext cx="6583680" cy="4526280"/>
          </a:xfrm>
          <a:prstGeom prst="roundRect">
            <a:avLst>
              <a:gd name="adj" fmla="val 3000"/>
            </a:avLst>
          </a:prstGeom>
          <a:solidFill>
            <a:srgbClr val="FFFFFF"/>
          </a:solidFill>
          <a:ln w="12700">
            <a:solidFill>
              <a:srgbClr val="D4D6D8"/>
            </a:solidFill>
          </a:ln>
          <a:effectLst/>
        </p:spPr>
        <p:txBody>
          <a:bodyPr rtlCol="0" anchor="ctr"/>
          <a:lstStyle/>
          <a:p>
            <a:pPr algn="ctr"/>
          </a:p>
        </p:txBody>
      </p:sp>
      <p:sp>
        <p:nvSpPr>
          <p:cNvPr id="7" name="Rectangle 6"/>
          <p:cNvSpPr/>
          <p:nvPr/>
        </p:nvSpPr>
        <p:spPr>
          <a:xfrm>
            <a:off x="5059375" y="1463040"/>
            <a:ext cx="6583680" cy="457200"/>
          </a:xfrm>
          <a:prstGeom prst="rect">
            <a:avLst/>
          </a:prstGeom>
          <a:solidFill>
            <a:srgbClr val="0A1A33"/>
          </a:solidFill>
          <a:ln>
            <a:noFill/>
          </a:ln>
          <a:effectLst/>
        </p:spPr>
        <p:txBody>
          <a:bodyPr rtlCol="0" anchor="ctr"/>
          <a:lstStyle/>
          <a:p>
            <a:pPr algn="ctr"/>
          </a:p>
        </p:txBody>
      </p:sp>
      <p:sp>
        <p:nvSpPr>
          <p:cNvPr id="8" name="TextBox 7"/>
          <p:cNvSpPr txBox="1"/>
          <p:nvPr/>
        </p:nvSpPr>
        <p:spPr>
          <a:xfrm>
            <a:off x="5242255" y="1527048"/>
            <a:ext cx="2743200" cy="329184"/>
          </a:xfrm>
          <a:prstGeom prst="rect">
            <a:avLst/>
          </a:prstGeom>
          <a:noFill/>
        </p:spPr>
        <p:txBody>
          <a:bodyPr wrap="square" lIns="73152" rIns="73152" tIns="54864" bIns="54864" anchor="t">
            <a:noAutofit/>
          </a:bodyPr>
          <a:lstStyle/>
          <a:p>
            <a:pPr rtl="0" algn="l">
              <a:lnSpc>
                <a:spcPct val="110000"/>
              </a:lnSpc>
              <a:spcAft>
                <a:spcPts val="600"/>
              </a:spcAft>
            </a:pPr>
            <a:r>
              <a:rPr sz="1400" b="0" i="0" lang="en-US">
                <a:solidFill>
                  <a:srgbClr val="FFFFFF"/>
                </a:solidFill>
                <a:latin typeface="Consolas"/>
                <a:ea typeface="Consolas"/>
                <a:cs typeface="Rubik"/>
              </a:rPr>
              <a:t>levi-case\CLAUDE.md</a:t>
            </a:r>
          </a:p>
        </p:txBody>
      </p:sp>
      <p:sp>
        <p:nvSpPr>
          <p:cNvPr id="9" name="TextBox 8"/>
          <p:cNvSpPr txBox="1"/>
          <p:nvPr/>
        </p:nvSpPr>
        <p:spPr>
          <a:xfrm>
            <a:off x="5333695" y="2057400"/>
            <a:ext cx="6035040" cy="3840480"/>
          </a:xfrm>
          <a:prstGeom prst="rect">
            <a:avLst/>
          </a:prstGeom>
          <a:noFill/>
        </p:spPr>
        <p:txBody>
          <a:bodyPr wrap="square" lIns="73152" rIns="73152" tIns="54864" bIns="54864" anchor="t">
            <a:noAutofit/>
          </a:bodyPr>
          <a:lstStyle/>
          <a:p>
            <a:pPr rtl="1" algn="r">
              <a:lnSpc>
                <a:spcPct val="110000"/>
              </a:lnSpc>
              <a:spcAft>
                <a:spcPts val="700"/>
              </a:spcAft>
            </a:pPr>
            <a:r>
              <a:rPr sz="2000" b="1" i="0" lang="he-IL">
                <a:solidFill>
                  <a:srgbClr val="435FB5"/>
                </a:solidFill>
                <a:latin typeface="Rubik"/>
                <a:ea typeface="Rubik"/>
                <a:cs typeface="Rubik"/>
              </a:rPr>
              <a:t># הוראות לתיק הלקוח</a:t>
            </a:r>
          </a:p>
          <a:p>
            <a:pPr rtl="1" algn="r">
              <a:lnSpc>
                <a:spcPct val="110000"/>
              </a:lnSpc>
              <a:spcAft>
                <a:spcPts val="700"/>
              </a:spcAft>
            </a:pPr>
            <a:r>
              <a:rPr sz="1900" b="0" i="0" lang="he-IL">
                <a:solidFill>
                  <a:srgbClr val="0A1A33"/>
                </a:solidFill>
                <a:latin typeface="Rubik"/>
                <a:ea typeface="Rubik"/>
                <a:cs typeface="Rubik"/>
              </a:rPr>
              <a:t>- כתוב תמיד בעברית.</a:t>
            </a:r>
          </a:p>
          <a:p>
            <a:pPr rtl="1" algn="r">
              <a:lnSpc>
                <a:spcPct val="110000"/>
              </a:lnSpc>
              <a:spcAft>
                <a:spcPts val="700"/>
              </a:spcAft>
            </a:pPr>
            <a:r>
              <a:rPr sz="1900" b="0" i="0" lang="he-IL">
                <a:solidFill>
                  <a:srgbClr val="0A1A33"/>
                </a:solidFill>
                <a:latin typeface="Rubik"/>
                <a:ea typeface="Rubik"/>
                <a:cs typeface="Rubik"/>
              </a:rPr>
              <a:t>- אל תשנה, תעביר או תמחק קבצים ב־‎01_originals‎.</a:t>
            </a:r>
          </a:p>
          <a:p>
            <a:pPr rtl="1" algn="r">
              <a:lnSpc>
                <a:spcPct val="110000"/>
              </a:lnSpc>
              <a:spcAft>
                <a:spcPts val="700"/>
              </a:spcAft>
            </a:pPr>
            <a:r>
              <a:rPr sz="1900" b="0" i="0" lang="he-IL">
                <a:solidFill>
                  <a:srgbClr val="0A1A33"/>
                </a:solidFill>
                <a:latin typeface="Rubik"/>
                <a:ea typeface="Rubik"/>
                <a:cs typeface="Rubik"/>
              </a:rPr>
              <a:t>- לכל נתון ציין את קובץ המקור.</a:t>
            </a:r>
          </a:p>
          <a:p>
            <a:pPr rtl="1" algn="r">
              <a:lnSpc>
                <a:spcPct val="110000"/>
              </a:lnSpc>
              <a:spcAft>
                <a:spcPts val="700"/>
              </a:spcAft>
            </a:pPr>
            <a:r>
              <a:rPr sz="1900" b="0" i="0" lang="he-IL">
                <a:solidFill>
                  <a:srgbClr val="0A1A33"/>
                </a:solidFill>
                <a:latin typeface="Rubik"/>
                <a:ea typeface="Rubik"/>
                <a:cs typeface="Rubik"/>
              </a:rPr>
              <a:t>- מידע שלא נמצא: סמן „חסר” ואל תשלים בעצמך.</a:t>
            </a:r>
          </a:p>
          <a:p>
            <a:pPr rtl="1" algn="r">
              <a:lnSpc>
                <a:spcPct val="110000"/>
              </a:lnSpc>
              <a:spcAft>
                <a:spcPts val="700"/>
              </a:spcAft>
            </a:pPr>
            <a:r>
              <a:rPr sz="1900" b="0" i="0" lang="he-IL">
                <a:solidFill>
                  <a:srgbClr val="0A1A33"/>
                </a:solidFill>
                <a:latin typeface="Rubik"/>
                <a:ea typeface="Rubik"/>
                <a:cs typeface="Rubik"/>
              </a:rPr>
              <a:t>- נתונים סותרים: הצג את שני המקורות וסמן „לבירור”.</a:t>
            </a:r>
          </a:p>
          <a:p>
            <a:pPr rtl="1" algn="r">
              <a:lnSpc>
                <a:spcPct val="110000"/>
              </a:lnSpc>
              <a:spcAft>
                <a:spcPts val="700"/>
              </a:spcAft>
            </a:pPr>
            <a:r>
              <a:rPr sz="1900" b="0" i="0" lang="he-IL">
                <a:solidFill>
                  <a:srgbClr val="0A1A33"/>
                </a:solidFill>
                <a:latin typeface="Rubik"/>
                <a:ea typeface="Rubik"/>
                <a:cs typeface="Rubik"/>
              </a:rPr>
              <a:t>- שמור דוחות ותוצרים ב־‎03_reports‎.</a:t>
            </a:r>
          </a:p>
          <a:p>
            <a:pPr rtl="1" algn="r">
              <a:lnSpc>
                <a:spcPct val="110000"/>
              </a:lnSpc>
              <a:spcAft>
                <a:spcPts val="700"/>
              </a:spcAft>
            </a:pPr>
            <a:r>
              <a:rPr sz="1900" b="0" i="0" lang="he-IL">
                <a:solidFill>
                  <a:srgbClr val="0A1A33"/>
                </a:solidFill>
                <a:latin typeface="Rubik"/>
                <a:ea typeface="Rubik"/>
                <a:cs typeface="Rubik"/>
              </a:rPr>
              <a:t>- כל דוח הוא טיוטה לבדיקת היועץ.</a:t>
            </a:r>
          </a:p>
        </p:txBody>
      </p:sp>
      <p:sp>
        <p:nvSpPr>
          <p:cNvPr id="10" name="TextBox 9"/>
          <p:cNvSpPr txBox="1"/>
          <p:nvPr/>
        </p:nvSpPr>
        <p:spPr>
          <a:xfrm>
            <a:off x="548640" y="1463040"/>
            <a:ext cx="416052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מה זה הקובץ הזה?</a:t>
            </a:r>
          </a:p>
        </p:txBody>
      </p:sp>
      <p:sp>
        <p:nvSpPr>
          <p:cNvPr id="11" name="TextBox 10"/>
          <p:cNvSpPr txBox="1"/>
          <p:nvPr/>
        </p:nvSpPr>
        <p:spPr>
          <a:xfrm>
            <a:off x="548640" y="1920240"/>
            <a:ext cx="4160520" cy="1920240"/>
          </a:xfrm>
          <a:prstGeom prst="rect">
            <a:avLst/>
          </a:prstGeom>
          <a:noFill/>
        </p:spPr>
        <p:txBody>
          <a:bodyPr wrap="square" lIns="73152" rIns="73152" tIns="54864" bIns="54864" anchor="t">
            <a:noAutofit/>
          </a:bodyPr>
          <a:lstStyle/>
          <a:p>
            <a:pPr rtl="1" algn="r">
              <a:lnSpc>
                <a:spcPct val="110000"/>
              </a:lnSpc>
              <a:spcAft>
                <a:spcPts val="800"/>
              </a:spcAft>
            </a:pPr>
            <a:r>
              <a:rPr sz="1700" b="0" i="0" lang="he-IL">
                <a:solidFill>
                  <a:srgbClr val="4C5058"/>
                </a:solidFill>
                <a:latin typeface="Rubik"/>
                <a:ea typeface="Rubik"/>
                <a:cs typeface="Rubik"/>
              </a:rPr>
              <a:t>קובץ טקסט רגיל עם הנחיות.</a:t>
            </a:r>
          </a:p>
          <a:p>
            <a:pPr rtl="1" algn="r">
              <a:lnSpc>
                <a:spcPct val="110000"/>
              </a:lnSpc>
              <a:spcAft>
                <a:spcPts val="800"/>
              </a:spcAft>
            </a:pPr>
            <a:r>
              <a:rPr sz="1700" b="0" i="0" lang="he-IL">
                <a:solidFill>
                  <a:srgbClr val="4C5058"/>
                </a:solidFill>
                <a:latin typeface="Rubik"/>
                <a:ea typeface="Rubik"/>
                <a:cs typeface="Rubik"/>
              </a:rPr>
              <a:t>Claude קורא אותו בתחילת כל שיחה בתיקייה.</a:t>
            </a:r>
          </a:p>
          <a:p>
            <a:pPr rtl="1" algn="r">
              <a:lnSpc>
                <a:spcPct val="110000"/>
              </a:lnSpc>
              <a:spcAft>
                <a:spcPts val="800"/>
              </a:spcAft>
            </a:pPr>
            <a:r>
              <a:rPr sz="1700" b="0" i="0" lang="he-IL">
                <a:solidFill>
                  <a:srgbClr val="4C5058"/>
                </a:solidFill>
                <a:latin typeface="Rubik"/>
                <a:ea typeface="Rubik"/>
                <a:cs typeface="Rubik"/>
              </a:rPr>
              <a:t>אלה הנחיות ולא נעילה: הוראות קצרות וברורות עובדות טוב יותר.</a:t>
            </a:r>
          </a:p>
        </p:txBody>
      </p:sp>
      <p:sp>
        <p:nvSpPr>
          <p:cNvPr id="12" name="Rounded Rectangle 11"/>
          <p:cNvSpPr/>
          <p:nvPr/>
        </p:nvSpPr>
        <p:spPr>
          <a:xfrm>
            <a:off x="548640" y="4069080"/>
            <a:ext cx="4160520" cy="1920240"/>
          </a:xfrm>
          <a:prstGeom prst="roundRect">
            <a:avLst>
              <a:gd name="adj" fmla="val 5000"/>
            </a:avLst>
          </a:prstGeom>
          <a:solidFill>
            <a:srgbClr val="E8FBF7"/>
          </a:solidFill>
          <a:ln>
            <a:noFill/>
          </a:ln>
          <a:effectLst/>
        </p:spPr>
        <p:txBody>
          <a:bodyPr rtlCol="0" anchor="ctr"/>
          <a:lstStyle/>
          <a:p>
            <a:pPr algn="ctr"/>
          </a:p>
        </p:txBody>
      </p:sp>
      <p:sp>
        <p:nvSpPr>
          <p:cNvPr id="13" name="Rectangle 12"/>
          <p:cNvSpPr/>
          <p:nvPr/>
        </p:nvSpPr>
        <p:spPr>
          <a:xfrm>
            <a:off x="4636007" y="4069080"/>
            <a:ext cx="73152" cy="1920240"/>
          </a:xfrm>
          <a:prstGeom prst="rect">
            <a:avLst/>
          </a:prstGeom>
          <a:solidFill>
            <a:srgbClr val="64CAAD"/>
          </a:solidFill>
          <a:ln>
            <a:noFill/>
          </a:ln>
          <a:effectLst/>
        </p:spPr>
        <p:txBody>
          <a:bodyPr rtlCol="0" anchor="ctr"/>
          <a:lstStyle/>
          <a:p>
            <a:pPr algn="ctr"/>
          </a:p>
        </p:txBody>
      </p:sp>
      <p:sp>
        <p:nvSpPr>
          <p:cNvPr id="14" name="TextBox 13"/>
          <p:cNvSpPr txBox="1"/>
          <p:nvPr/>
        </p:nvSpPr>
        <p:spPr>
          <a:xfrm>
            <a:off x="731520" y="4178808"/>
            <a:ext cx="374903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5" name="TextBox 14"/>
          <p:cNvSpPr txBox="1"/>
          <p:nvPr/>
        </p:nvSpPr>
        <p:spPr>
          <a:xfrm>
            <a:off x="731520" y="4507992"/>
            <a:ext cx="3749039" cy="1417320"/>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צור בתיקייה קובץ ‎CLAUDE.md‎ עם ההוראות שבשקף. כתוב אותן בדיוק כך.</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12</a:t>
            </a:r>
            <a:r>
              <a:rPr sz="1200" b="0" i="0" lang="he-IL">
                <a:solidFill>
                  <a:srgbClr val="8D9299"/>
                </a:solidFill>
                <a:latin typeface="Rubik"/>
                <a:ea typeface="Rubik"/>
                <a:cs typeface="Rubik"/>
              </a:rPr>
              <a:t>  |  Claude Code ליועצי משכנתאות</a:t>
            </a:r>
          </a:p>
        </p:txBody>
      </p:sp>
      <p:pic>
        <p:nvPicPr>
          <p:cNvPr id="17" name="Picture 1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ניסוח בקשה והרשאות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991295" y="1463040"/>
            <a:ext cx="2651760" cy="914400"/>
          </a:xfrm>
          <a:prstGeom prst="roundRect">
            <a:avLst>
              <a:gd name="adj" fmla="val 10000"/>
            </a:avLst>
          </a:prstGeom>
          <a:solidFill>
            <a:srgbClr val="EAF3FF"/>
          </a:solidFill>
          <a:ln>
            <a:noFill/>
          </a:ln>
          <a:effectLst/>
        </p:spPr>
        <p:txBody>
          <a:bodyPr rtlCol="0" anchor="ctr"/>
          <a:lstStyle/>
          <a:p>
            <a:pPr algn="ctr"/>
          </a:p>
        </p:txBody>
      </p:sp>
      <p:sp>
        <p:nvSpPr>
          <p:cNvPr id="6" name="TextBox 5"/>
          <p:cNvSpPr txBox="1"/>
          <p:nvPr/>
        </p:nvSpPr>
        <p:spPr>
          <a:xfrm>
            <a:off x="9128455" y="150876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435FB5"/>
                </a:solidFill>
                <a:latin typeface="Rubik"/>
                <a:ea typeface="Rubik"/>
                <a:cs typeface="Rubik"/>
              </a:rPr>
              <a:t>משימה</a:t>
            </a:r>
          </a:p>
        </p:txBody>
      </p:sp>
      <p:sp>
        <p:nvSpPr>
          <p:cNvPr id="7" name="TextBox 6"/>
          <p:cNvSpPr txBox="1"/>
          <p:nvPr/>
        </p:nvSpPr>
        <p:spPr>
          <a:xfrm>
            <a:off x="9128455" y="192024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0A1A33"/>
                </a:solidFill>
                <a:latin typeface="Rubik"/>
                <a:ea typeface="Rubik"/>
                <a:cs typeface="Rubik"/>
              </a:rPr>
              <a:t>מה לעשות</a:t>
            </a:r>
          </a:p>
        </p:txBody>
      </p:sp>
      <p:sp>
        <p:nvSpPr>
          <p:cNvPr id="8" name="Rounded Rectangle 7"/>
          <p:cNvSpPr/>
          <p:nvPr/>
        </p:nvSpPr>
        <p:spPr>
          <a:xfrm>
            <a:off x="6174943" y="1463040"/>
            <a:ext cx="2651760" cy="914400"/>
          </a:xfrm>
          <a:prstGeom prst="roundRect">
            <a:avLst>
              <a:gd name="adj" fmla="val 10000"/>
            </a:avLst>
          </a:prstGeom>
          <a:solidFill>
            <a:srgbClr val="EAF3FF"/>
          </a:solidFill>
          <a:ln>
            <a:noFill/>
          </a:ln>
          <a:effectLst/>
        </p:spPr>
        <p:txBody>
          <a:bodyPr rtlCol="0" anchor="ctr"/>
          <a:lstStyle/>
          <a:p>
            <a:pPr algn="ctr"/>
          </a:p>
        </p:txBody>
      </p:sp>
      <p:sp>
        <p:nvSpPr>
          <p:cNvPr id="9" name="TextBox 8"/>
          <p:cNvSpPr txBox="1"/>
          <p:nvPr/>
        </p:nvSpPr>
        <p:spPr>
          <a:xfrm>
            <a:off x="6312103" y="150876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435FB5"/>
                </a:solidFill>
                <a:latin typeface="Rubik"/>
                <a:ea typeface="Rubik"/>
                <a:cs typeface="Rubik"/>
              </a:rPr>
              <a:t>חומרי מקור</a:t>
            </a:r>
          </a:p>
        </p:txBody>
      </p:sp>
      <p:sp>
        <p:nvSpPr>
          <p:cNvPr id="10" name="TextBox 9"/>
          <p:cNvSpPr txBox="1"/>
          <p:nvPr/>
        </p:nvSpPr>
        <p:spPr>
          <a:xfrm>
            <a:off x="6312103" y="192024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0A1A33"/>
                </a:solidFill>
                <a:latin typeface="Rubik"/>
                <a:ea typeface="Rubik"/>
                <a:cs typeface="Rubik"/>
              </a:rPr>
              <a:t>על אילו קבצים</a:t>
            </a:r>
          </a:p>
        </p:txBody>
      </p:sp>
      <p:sp>
        <p:nvSpPr>
          <p:cNvPr id="11" name="Rounded Rectangle 10"/>
          <p:cNvSpPr/>
          <p:nvPr/>
        </p:nvSpPr>
        <p:spPr>
          <a:xfrm>
            <a:off x="3358591" y="1463040"/>
            <a:ext cx="2651760" cy="914400"/>
          </a:xfrm>
          <a:prstGeom prst="roundRect">
            <a:avLst>
              <a:gd name="adj" fmla="val 10000"/>
            </a:avLst>
          </a:prstGeom>
          <a:solidFill>
            <a:srgbClr val="EAF3FF"/>
          </a:solidFill>
          <a:ln>
            <a:noFill/>
          </a:ln>
          <a:effectLst/>
        </p:spPr>
        <p:txBody>
          <a:bodyPr rtlCol="0" anchor="ctr"/>
          <a:lstStyle/>
          <a:p>
            <a:pPr algn="ctr"/>
          </a:p>
        </p:txBody>
      </p:sp>
      <p:sp>
        <p:nvSpPr>
          <p:cNvPr id="12" name="TextBox 11"/>
          <p:cNvSpPr txBox="1"/>
          <p:nvPr/>
        </p:nvSpPr>
        <p:spPr>
          <a:xfrm>
            <a:off x="3495751" y="150876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435FB5"/>
                </a:solidFill>
                <a:latin typeface="Rubik"/>
                <a:ea typeface="Rubik"/>
                <a:cs typeface="Rubik"/>
              </a:rPr>
              <a:t>תוצר</a:t>
            </a:r>
          </a:p>
        </p:txBody>
      </p:sp>
      <p:sp>
        <p:nvSpPr>
          <p:cNvPr id="13" name="TextBox 12"/>
          <p:cNvSpPr txBox="1"/>
          <p:nvPr/>
        </p:nvSpPr>
        <p:spPr>
          <a:xfrm>
            <a:off x="3495751" y="192024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0A1A33"/>
                </a:solidFill>
                <a:latin typeface="Rubik"/>
                <a:ea typeface="Rubik"/>
                <a:cs typeface="Rubik"/>
              </a:rPr>
              <a:t>מה לקבל ואיפה לשמור</a:t>
            </a:r>
          </a:p>
        </p:txBody>
      </p:sp>
      <p:sp>
        <p:nvSpPr>
          <p:cNvPr id="14" name="Rounded Rectangle 13"/>
          <p:cNvSpPr/>
          <p:nvPr/>
        </p:nvSpPr>
        <p:spPr>
          <a:xfrm>
            <a:off x="542239" y="1463040"/>
            <a:ext cx="2651760" cy="914400"/>
          </a:xfrm>
          <a:prstGeom prst="roundRect">
            <a:avLst>
              <a:gd name="adj" fmla="val 10000"/>
            </a:avLst>
          </a:prstGeom>
          <a:solidFill>
            <a:srgbClr val="EAF3FF"/>
          </a:solidFill>
          <a:ln>
            <a:noFill/>
          </a:ln>
          <a:effectLst/>
        </p:spPr>
        <p:txBody>
          <a:bodyPr rtlCol="0" anchor="ctr"/>
          <a:lstStyle/>
          <a:p>
            <a:pPr algn="ctr"/>
          </a:p>
        </p:txBody>
      </p:sp>
      <p:sp>
        <p:nvSpPr>
          <p:cNvPr id="15" name="TextBox 14"/>
          <p:cNvSpPr txBox="1"/>
          <p:nvPr/>
        </p:nvSpPr>
        <p:spPr>
          <a:xfrm>
            <a:off x="679399" y="150876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435FB5"/>
                </a:solidFill>
                <a:latin typeface="Rubik"/>
                <a:ea typeface="Rubik"/>
                <a:cs typeface="Rubik"/>
              </a:rPr>
              <a:t>מגבלות</a:t>
            </a:r>
          </a:p>
        </p:txBody>
      </p:sp>
      <p:sp>
        <p:nvSpPr>
          <p:cNvPr id="16" name="TextBox 15"/>
          <p:cNvSpPr txBox="1"/>
          <p:nvPr/>
        </p:nvSpPr>
        <p:spPr>
          <a:xfrm>
            <a:off x="679399" y="1920240"/>
            <a:ext cx="2377440"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0A1A33"/>
                </a:solidFill>
                <a:latin typeface="Rubik"/>
                <a:ea typeface="Rubik"/>
                <a:cs typeface="Rubik"/>
              </a:rPr>
              <a:t>מה אסור לעשות</a:t>
            </a:r>
          </a:p>
        </p:txBody>
      </p:sp>
      <p:sp>
        <p:nvSpPr>
          <p:cNvPr id="17" name="Rounded Rectangle 16"/>
          <p:cNvSpPr/>
          <p:nvPr/>
        </p:nvSpPr>
        <p:spPr>
          <a:xfrm>
            <a:off x="5532120" y="2651760"/>
            <a:ext cx="6110935" cy="2148840"/>
          </a:xfrm>
          <a:prstGeom prst="roundRect">
            <a:avLst>
              <a:gd name="adj" fmla="val 5000"/>
            </a:avLst>
          </a:prstGeom>
          <a:solidFill>
            <a:srgbClr val="E8FBF7"/>
          </a:solidFill>
          <a:ln>
            <a:noFill/>
          </a:ln>
          <a:effectLst/>
        </p:spPr>
        <p:txBody>
          <a:bodyPr rtlCol="0" anchor="ctr"/>
          <a:lstStyle/>
          <a:p>
            <a:pPr algn="ctr"/>
          </a:p>
        </p:txBody>
      </p:sp>
      <p:sp>
        <p:nvSpPr>
          <p:cNvPr id="18" name="Rectangle 17"/>
          <p:cNvSpPr/>
          <p:nvPr/>
        </p:nvSpPr>
        <p:spPr>
          <a:xfrm>
            <a:off x="11569903" y="2651760"/>
            <a:ext cx="73152" cy="2148840"/>
          </a:xfrm>
          <a:prstGeom prst="rect">
            <a:avLst/>
          </a:prstGeom>
          <a:solidFill>
            <a:srgbClr val="64CAAD"/>
          </a:solidFill>
          <a:ln>
            <a:noFill/>
          </a:ln>
          <a:effectLst/>
        </p:spPr>
        <p:txBody>
          <a:bodyPr rtlCol="0" anchor="ctr"/>
          <a:lstStyle/>
          <a:p>
            <a:pPr algn="ctr"/>
          </a:p>
        </p:txBody>
      </p:sp>
      <p:sp>
        <p:nvSpPr>
          <p:cNvPr id="19" name="TextBox 18"/>
          <p:cNvSpPr txBox="1"/>
          <p:nvPr/>
        </p:nvSpPr>
        <p:spPr>
          <a:xfrm>
            <a:off x="5715000" y="2761488"/>
            <a:ext cx="56994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דוגמה: מיפוי ותוכנית לפני שינוי קבצים</a:t>
            </a:r>
          </a:p>
        </p:txBody>
      </p:sp>
      <p:sp>
        <p:nvSpPr>
          <p:cNvPr id="20" name="TextBox 19"/>
          <p:cNvSpPr txBox="1"/>
          <p:nvPr/>
        </p:nvSpPr>
        <p:spPr>
          <a:xfrm>
            <a:off x="5715000" y="3090672"/>
            <a:ext cx="5699455" cy="1645920"/>
          </a:xfrm>
          <a:prstGeom prst="rect">
            <a:avLst/>
          </a:prstGeom>
          <a:noFill/>
        </p:spPr>
        <p:txBody>
          <a:bodyPr wrap="square" lIns="73152" rIns="73152" tIns="54864" bIns="54864" anchor="t">
            <a:noAutofit/>
          </a:bodyPr>
          <a:lstStyle/>
          <a:p>
            <a:pPr rtl="1" algn="r">
              <a:lnSpc>
                <a:spcPct val="115000"/>
              </a:lnSpc>
              <a:spcAft>
                <a:spcPts val="400"/>
              </a:spcAft>
            </a:pPr>
            <a:r>
              <a:rPr sz="1700" b="1" i="0" lang="he-IL">
                <a:solidFill>
                  <a:srgbClr val="0A1A33"/>
                </a:solidFill>
                <a:latin typeface="Rubik"/>
                <a:ea typeface="Rubik"/>
                <a:cs typeface="Rubik"/>
              </a:rPr>
              <a:t>משימה: </a:t>
            </a:r>
            <a:r>
              <a:rPr sz="1700" b="0" i="0" lang="he-IL">
                <a:solidFill>
                  <a:srgbClr val="0A1A33"/>
                </a:solidFill>
                <a:latin typeface="Rubik"/>
                <a:ea typeface="Rubik"/>
                <a:cs typeface="Rubik"/>
              </a:rPr>
              <a:t>הכן תוכנית לסידור תיק הלקוח.</a:t>
            </a:r>
          </a:p>
          <a:p>
            <a:pPr rtl="1" algn="r">
              <a:lnSpc>
                <a:spcPct val="115000"/>
              </a:lnSpc>
              <a:spcAft>
                <a:spcPts val="400"/>
              </a:spcAft>
            </a:pPr>
            <a:r>
              <a:rPr sz="1700" b="1" i="0" lang="he-IL">
                <a:solidFill>
                  <a:srgbClr val="0A1A33"/>
                </a:solidFill>
                <a:latin typeface="Rubik"/>
                <a:ea typeface="Rubik"/>
                <a:cs typeface="Rubik"/>
              </a:rPr>
              <a:t>מקור: </a:t>
            </a:r>
            <a:r>
              <a:rPr sz="1700" b="0" i="0" lang="he-IL">
                <a:solidFill>
                  <a:srgbClr val="0A1A33"/>
                </a:solidFill>
                <a:latin typeface="Rubik"/>
                <a:ea typeface="Rubik"/>
                <a:cs typeface="Rubik"/>
              </a:rPr>
              <a:t>כל הקבצים ב־‎01_originals‎.</a:t>
            </a:r>
          </a:p>
          <a:p>
            <a:pPr rtl="1" algn="r">
              <a:lnSpc>
                <a:spcPct val="115000"/>
              </a:lnSpc>
              <a:spcAft>
                <a:spcPts val="400"/>
              </a:spcAft>
            </a:pPr>
            <a:r>
              <a:rPr sz="1700" b="1" i="0" lang="he-IL">
                <a:solidFill>
                  <a:srgbClr val="0A1A33"/>
                </a:solidFill>
                <a:latin typeface="Rubik"/>
                <a:ea typeface="Rubik"/>
                <a:cs typeface="Rubik"/>
              </a:rPr>
              <a:t>תוצר: </a:t>
            </a:r>
            <a:r>
              <a:rPr sz="1700" b="0" i="0" lang="he-IL">
                <a:solidFill>
                  <a:srgbClr val="0A1A33"/>
                </a:solidFill>
                <a:latin typeface="Rubik"/>
                <a:ea typeface="Rubik"/>
                <a:cs typeface="Rubik"/>
              </a:rPr>
              <a:t>טבלה עם שם מוצע וקטגוריה לכל קובץ.</a:t>
            </a:r>
          </a:p>
          <a:p>
            <a:pPr rtl="1" algn="r">
              <a:lnSpc>
                <a:spcPct val="115000"/>
              </a:lnSpc>
              <a:spcAft>
                <a:spcPts val="400"/>
              </a:spcAft>
            </a:pPr>
            <a:r>
              <a:rPr sz="1700" b="1" i="0" lang="he-IL">
                <a:solidFill>
                  <a:srgbClr val="0A1A33"/>
                </a:solidFill>
                <a:latin typeface="Rubik"/>
                <a:ea typeface="Rubik"/>
                <a:cs typeface="Rubik"/>
              </a:rPr>
              <a:t>מגבלות: </a:t>
            </a:r>
            <a:r>
              <a:rPr sz="1700" b="0" i="0" lang="he-IL">
                <a:solidFill>
                  <a:srgbClr val="0A1A33"/>
                </a:solidFill>
                <a:latin typeface="Rubik"/>
                <a:ea typeface="Rubik"/>
                <a:cs typeface="Rubik"/>
              </a:rPr>
              <a:t>אל תשנה ואל תעתיק קבצים. רק הצג את התוכנית לאישורי.</a:t>
            </a:r>
          </a:p>
        </p:txBody>
      </p:sp>
      <p:graphicFrame>
        <p:nvGraphicFramePr>
          <p:cNvPr id="21" name="Table 20"/>
          <p:cNvGraphicFramePr>
            <a:graphicFrameLocks noGrp="1"/>
          </p:cNvGraphicFramePr>
          <p:nvPr/>
        </p:nvGraphicFramePr>
        <p:xfrm>
          <a:off x="548640" y="2651760"/>
          <a:ext cx="4754879" cy="2011680"/>
        </p:xfrm>
        <a:graphic>
          <a:graphicData uri="http://schemas.openxmlformats.org/drawingml/2006/table">
            <a:tbl>
              <a:tblPr firstRow="1" bandRow="0" rtl="1">
                <a:tableStyleId>{5940675A-B579-460E-94D1-54222C63F5DA}</a:tableStyleId>
              </a:tblPr>
              <a:tblGrid>
                <a:gridCol w="1600199"/>
                <a:gridCol w="3154680"/>
              </a:tblGrid>
              <a:tr h="502920">
                <a:tc>
                  <a:txBody>
                    <a:bodyPr wrap="square"/>
                    <a:lstStyle/>
                    <a:p>
                      <a:pPr rtl="1" algn="r"/>
                      <a:r>
                        <a:rPr sz="1500" b="1" i="0" lang="he-IL">
                          <a:solidFill>
                            <a:srgbClr val="FFFFFF"/>
                          </a:solidFill>
                          <a:latin typeface="Rubik"/>
                          <a:ea typeface="Rubik"/>
                          <a:cs typeface="Rubik"/>
                        </a:rPr>
                        <a:t>מצב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500" b="1" i="0" lang="he-IL">
                          <a:solidFill>
                            <a:srgbClr val="FFFFFF"/>
                          </a:solidFill>
                          <a:latin typeface="Rubik"/>
                          <a:ea typeface="Rubik"/>
                          <a:cs typeface="Rubik"/>
                        </a:rPr>
                        <a:t>מה קורה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02920">
                <a:tc>
                  <a:txBody>
                    <a:bodyPr wrap="square"/>
                    <a:lstStyle/>
                    <a:p>
                      <a:pPr rtl="0" algn="l"/>
                      <a:r>
                        <a:rPr sz="1500" b="0" i="0" lang="en-US">
                          <a:solidFill>
                            <a:srgbClr val="0A1A33"/>
                          </a:solidFill>
                          <a:latin typeface="Consolas"/>
                          <a:ea typeface="Consolas"/>
                          <a:cs typeface="Rubik"/>
                        </a:rPr>
                        <a:t>Manual</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Claude שואל לפני עריכה או פקודה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02920">
                <a:tc>
                  <a:txBody>
                    <a:bodyPr wrap="square"/>
                    <a:lstStyle/>
                    <a:p>
                      <a:pPr rtl="0" algn="l"/>
                      <a:r>
                        <a:rPr sz="1500" b="0" i="0" lang="en-US">
                          <a:solidFill>
                            <a:srgbClr val="0A1A33"/>
                          </a:solidFill>
                          <a:latin typeface="Consolas"/>
                          <a:ea typeface="Consolas"/>
                          <a:cs typeface="Rubik"/>
                        </a:rPr>
                        <a:t>Plan</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Claude בודק ומציע תוכנית, בלי לערוך</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02920">
                <a:tc>
                  <a:txBody>
                    <a:bodyPr wrap="square"/>
                    <a:lstStyle/>
                    <a:p>
                      <a:pPr rtl="0" algn="l"/>
                      <a:r>
                        <a:rPr sz="1500" b="0" i="0" lang="en-US">
                          <a:solidFill>
                            <a:srgbClr val="0A1A33"/>
                          </a:solidFill>
                          <a:latin typeface="Consolas"/>
                          <a:ea typeface="Consolas"/>
                          <a:cs typeface="Rubik"/>
                        </a:rPr>
                        <a:t>Accept edits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עריכת קבצים בלי לשאול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22" name="Rounded Rectangle 21"/>
          <p:cNvSpPr/>
          <p:nvPr/>
        </p:nvSpPr>
        <p:spPr>
          <a:xfrm>
            <a:off x="548640" y="5029200"/>
            <a:ext cx="11094415" cy="868680"/>
          </a:xfrm>
          <a:prstGeom prst="roundRect">
            <a:avLst>
              <a:gd name="adj" fmla="val 8000"/>
            </a:avLst>
          </a:prstGeom>
          <a:solidFill>
            <a:srgbClr val="F7F8F8"/>
          </a:solidFill>
          <a:ln>
            <a:noFill/>
          </a:ln>
          <a:effectLst/>
        </p:spPr>
        <p:txBody>
          <a:bodyPr rtlCol="0" anchor="ctr"/>
          <a:lstStyle/>
          <a:p>
            <a:pPr algn="ctr"/>
          </a:p>
        </p:txBody>
      </p:sp>
      <p:sp>
        <p:nvSpPr>
          <p:cNvPr id="23" name="TextBox 22"/>
          <p:cNvSpPr txBox="1"/>
          <p:nvPr/>
        </p:nvSpPr>
        <p:spPr>
          <a:xfrm>
            <a:off x="822959" y="5029200"/>
            <a:ext cx="10545775" cy="86868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435FB5"/>
                </a:solidFill>
                <a:latin typeface="Rubik"/>
                <a:ea typeface="Rubik"/>
                <a:cs typeface="Rubik"/>
              </a:rPr>
              <a:t>אישור פעולות: </a:t>
            </a:r>
            <a:r>
              <a:rPr sz="1700" b="0" i="0" lang="he-IL">
                <a:solidFill>
                  <a:srgbClr val="0A1A33"/>
                </a:solidFill>
                <a:latin typeface="Rubik"/>
                <a:ea typeface="Rubik"/>
                <a:cs typeface="Rubik"/>
              </a:rPr>
              <a:t>במצב Manual, Claude מציג מה הוא עומד לעשות, ואתם מאשרים או דוחים. בתרגול עובדים ב־Plan או ב־Manual.</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13</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תיק הלקוח הפיקטיבי: משפחת לוי</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991295" y="1508760"/>
            <a:ext cx="2651760" cy="283464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6" name="Rectangle 5"/>
          <p:cNvSpPr/>
          <p:nvPr/>
        </p:nvSpPr>
        <p:spPr>
          <a:xfrm>
            <a:off x="8991295" y="1508760"/>
            <a:ext cx="2651760" cy="502920"/>
          </a:xfrm>
          <a:prstGeom prst="rect">
            <a:avLst/>
          </a:prstGeom>
          <a:solidFill>
            <a:srgbClr val="0A1A33"/>
          </a:solidFill>
          <a:ln>
            <a:noFill/>
          </a:ln>
          <a:effectLst/>
        </p:spPr>
        <p:txBody>
          <a:bodyPr rtlCol="0" anchor="ctr"/>
          <a:lstStyle/>
          <a:p>
            <a:pPr algn="ctr"/>
          </a:p>
        </p:txBody>
      </p:sp>
      <p:sp>
        <p:nvSpPr>
          <p:cNvPr id="7" name="TextBox 6"/>
          <p:cNvSpPr txBox="1"/>
          <p:nvPr/>
        </p:nvSpPr>
        <p:spPr>
          <a:xfrm>
            <a:off x="9128455" y="1508760"/>
            <a:ext cx="2377440" cy="50292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FFFFFF"/>
                </a:solidFill>
                <a:latin typeface="Rubik"/>
                <a:ea typeface="Rubik"/>
                <a:cs typeface="Rubik"/>
              </a:rPr>
              <a:t>שאלון לקוח</a:t>
            </a:r>
          </a:p>
        </p:txBody>
      </p:sp>
      <p:sp>
        <p:nvSpPr>
          <p:cNvPr id="8" name="TextBox 7"/>
          <p:cNvSpPr txBox="1"/>
          <p:nvPr/>
        </p:nvSpPr>
        <p:spPr>
          <a:xfrm>
            <a:off x="9128455" y="2103120"/>
            <a:ext cx="2377440" cy="1737360"/>
          </a:xfrm>
          <a:prstGeom prst="rect">
            <a:avLst/>
          </a:prstGeom>
          <a:noFill/>
        </p:spPr>
        <p:txBody>
          <a:bodyPr wrap="square" lIns="73152" rIns="73152" tIns="54864" bIns="54864" anchor="t">
            <a:noAutofit/>
          </a:bodyPr>
          <a:lstStyle/>
          <a:p>
            <a:pPr rtl="1" algn="r">
              <a:lnSpc>
                <a:spcPct val="110000"/>
              </a:lnSpc>
              <a:spcAft>
                <a:spcPts val="500"/>
              </a:spcAft>
            </a:pPr>
            <a:r>
              <a:rPr sz="1600" b="0" i="0" lang="he-IL">
                <a:solidFill>
                  <a:srgbClr val="0A1A33"/>
                </a:solidFill>
                <a:latin typeface="Rubik"/>
                <a:ea typeface="Rubik"/>
                <a:cs typeface="Rubik"/>
              </a:rPr>
              <a:t>רכישת דירה</a:t>
            </a:r>
          </a:p>
          <a:p>
            <a:pPr rtl="1" algn="r">
              <a:lnSpc>
                <a:spcPct val="110000"/>
              </a:lnSpc>
              <a:spcAft>
                <a:spcPts val="500"/>
              </a:spcAft>
            </a:pPr>
            <a:r>
              <a:rPr sz="1600" b="0" i="0" lang="he-IL">
                <a:solidFill>
                  <a:srgbClr val="0A1A33"/>
                </a:solidFill>
                <a:latin typeface="Rubik"/>
                <a:ea typeface="Rubik"/>
                <a:cs typeface="Rubik"/>
              </a:rPr>
              <a:t>מחיר הנכס: 1,900,000 ₪</a:t>
            </a:r>
          </a:p>
          <a:p>
            <a:pPr rtl="1" algn="r">
              <a:lnSpc>
                <a:spcPct val="110000"/>
              </a:lnSpc>
              <a:spcAft>
                <a:spcPts val="500"/>
              </a:spcAft>
            </a:pPr>
            <a:r>
              <a:rPr sz="1600" b="0" i="0" lang="he-IL">
                <a:solidFill>
                  <a:srgbClr val="0A1A33"/>
                </a:solidFill>
                <a:latin typeface="Rubik"/>
                <a:ea typeface="Rubik"/>
                <a:cs typeface="Rubik"/>
              </a:rPr>
              <a:t>הון עצמי: 700,000 ₪</a:t>
            </a:r>
          </a:p>
          <a:p>
            <a:pPr rtl="1" algn="r">
              <a:lnSpc>
                <a:spcPct val="110000"/>
              </a:lnSpc>
              <a:spcAft>
                <a:spcPts val="500"/>
              </a:spcAft>
            </a:pPr>
            <a:r>
              <a:rPr sz="1600" b="0" i="0" lang="he-IL">
                <a:solidFill>
                  <a:srgbClr val="0A1A33"/>
                </a:solidFill>
                <a:latin typeface="Rubik"/>
                <a:ea typeface="Rubik"/>
                <a:cs typeface="Rubik"/>
              </a:rPr>
              <a:t>סכום מבוקש: 1,200,000 ₪</a:t>
            </a:r>
          </a:p>
        </p:txBody>
      </p:sp>
      <p:sp>
        <p:nvSpPr>
          <p:cNvPr id="9" name="Rounded Rectangle 8"/>
          <p:cNvSpPr/>
          <p:nvPr/>
        </p:nvSpPr>
        <p:spPr>
          <a:xfrm>
            <a:off x="9128455" y="3886200"/>
            <a:ext cx="2377440" cy="329184"/>
          </a:xfrm>
          <a:prstGeom prst="roundRect">
            <a:avLst>
              <a:gd name="adj" fmla="val 50000"/>
            </a:avLst>
          </a:prstGeom>
          <a:solidFill>
            <a:srgbClr val="F7F8F8"/>
          </a:solidFill>
          <a:ln>
            <a:noFill/>
          </a:ln>
          <a:effectLst/>
        </p:spPr>
        <p:txBody>
          <a:bodyPr rtlCol="0" anchor="ctr" wrap="square" lIns="45720" rIns="45720">
            <a:noAutofit/>
          </a:bodyPr>
          <a:lstStyle/>
          <a:p>
            <a:pPr algn="ctr" rtl="0">
              <a:lnSpc>
                <a:spcPct val="110000"/>
              </a:lnSpc>
            </a:pPr>
            <a:r>
              <a:rPr sz="1200" b="0" i="0" lang="en-US">
                <a:solidFill>
                  <a:srgbClr val="4C5058"/>
                </a:solidFill>
                <a:latin typeface="Rubik"/>
                <a:ea typeface="Rubik"/>
                <a:cs typeface="Rubik"/>
              </a:rPr>
              <a:t>doc1.txt</a:t>
            </a:r>
          </a:p>
        </p:txBody>
      </p:sp>
      <p:sp>
        <p:nvSpPr>
          <p:cNvPr id="10" name="Rounded Rectangle 9"/>
          <p:cNvSpPr/>
          <p:nvPr/>
        </p:nvSpPr>
        <p:spPr>
          <a:xfrm>
            <a:off x="6174943" y="1508760"/>
            <a:ext cx="2651760" cy="283464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11" name="Rectangle 10"/>
          <p:cNvSpPr/>
          <p:nvPr/>
        </p:nvSpPr>
        <p:spPr>
          <a:xfrm>
            <a:off x="6174943" y="1508760"/>
            <a:ext cx="2651760" cy="502920"/>
          </a:xfrm>
          <a:prstGeom prst="rect">
            <a:avLst/>
          </a:prstGeom>
          <a:solidFill>
            <a:srgbClr val="0A1A33"/>
          </a:solidFill>
          <a:ln>
            <a:noFill/>
          </a:ln>
          <a:effectLst/>
        </p:spPr>
        <p:txBody>
          <a:bodyPr rtlCol="0" anchor="ctr"/>
          <a:lstStyle/>
          <a:p>
            <a:pPr algn="ctr"/>
          </a:p>
        </p:txBody>
      </p:sp>
      <p:sp>
        <p:nvSpPr>
          <p:cNvPr id="12" name="TextBox 11"/>
          <p:cNvSpPr txBox="1"/>
          <p:nvPr/>
        </p:nvSpPr>
        <p:spPr>
          <a:xfrm>
            <a:off x="6312103" y="1508760"/>
            <a:ext cx="2377440" cy="50292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FFFFFF"/>
                </a:solidFill>
                <a:latin typeface="Rubik"/>
                <a:ea typeface="Rubik"/>
                <a:cs typeface="Rubik"/>
              </a:rPr>
              <a:t>סיכום שיחה</a:t>
            </a:r>
          </a:p>
        </p:txBody>
      </p:sp>
      <p:sp>
        <p:nvSpPr>
          <p:cNvPr id="13" name="TextBox 12"/>
          <p:cNvSpPr txBox="1"/>
          <p:nvPr/>
        </p:nvSpPr>
        <p:spPr>
          <a:xfrm>
            <a:off x="6312103" y="2103120"/>
            <a:ext cx="2377440" cy="1737360"/>
          </a:xfrm>
          <a:prstGeom prst="rect">
            <a:avLst/>
          </a:prstGeom>
          <a:noFill/>
        </p:spPr>
        <p:txBody>
          <a:bodyPr wrap="square" lIns="73152" rIns="73152" tIns="54864" bIns="54864" anchor="t">
            <a:noAutofit/>
          </a:bodyPr>
          <a:lstStyle/>
          <a:p>
            <a:pPr rtl="1" algn="r">
              <a:lnSpc>
                <a:spcPct val="110000"/>
              </a:lnSpc>
              <a:spcAft>
                <a:spcPts val="500"/>
              </a:spcAft>
            </a:pPr>
            <a:r>
              <a:rPr sz="1600" b="0" i="0" lang="he-IL">
                <a:solidFill>
                  <a:srgbClr val="0A1A33"/>
                </a:solidFill>
                <a:latin typeface="Rubik"/>
                <a:ea typeface="Rubik"/>
                <a:cs typeface="Rubik"/>
              </a:rPr>
              <a:t>שיחה מ־12.10.2026</a:t>
            </a:r>
          </a:p>
          <a:p>
            <a:pPr rtl="1" algn="r">
              <a:lnSpc>
                <a:spcPct val="110000"/>
              </a:lnSpc>
              <a:spcAft>
                <a:spcPts val="500"/>
              </a:spcAft>
            </a:pPr>
            <a:r>
              <a:rPr sz="1600" b="0" i="0" lang="he-IL">
                <a:solidFill>
                  <a:srgbClr val="0A1A33"/>
                </a:solidFill>
                <a:latin typeface="Rubik"/>
                <a:ea typeface="Rubik"/>
                <a:cs typeface="Rubik"/>
              </a:rPr>
              <a:t>סכום מבוקש: 1,300,000 ₪</a:t>
            </a:r>
          </a:p>
          <a:p>
            <a:pPr rtl="1" algn="r">
              <a:lnSpc>
                <a:spcPct val="110000"/>
              </a:lnSpc>
              <a:spcAft>
                <a:spcPts val="500"/>
              </a:spcAft>
            </a:pPr>
            <a:r>
              <a:rPr sz="1600" b="0" i="0" lang="he-IL">
                <a:solidFill>
                  <a:srgbClr val="0A1A33"/>
                </a:solidFill>
                <a:latin typeface="Rubik"/>
                <a:ea typeface="Rubik"/>
                <a:cs typeface="Rubik"/>
              </a:rPr>
              <a:t>דפי עו״ש יישלחו בהמשך</a:t>
            </a:r>
          </a:p>
        </p:txBody>
      </p:sp>
      <p:sp>
        <p:nvSpPr>
          <p:cNvPr id="14" name="Rounded Rectangle 13"/>
          <p:cNvSpPr/>
          <p:nvPr/>
        </p:nvSpPr>
        <p:spPr>
          <a:xfrm>
            <a:off x="6312103" y="3886200"/>
            <a:ext cx="2377440" cy="329184"/>
          </a:xfrm>
          <a:prstGeom prst="roundRect">
            <a:avLst>
              <a:gd name="adj" fmla="val 50000"/>
            </a:avLst>
          </a:prstGeom>
          <a:solidFill>
            <a:srgbClr val="F7F8F8"/>
          </a:solidFill>
          <a:ln>
            <a:noFill/>
          </a:ln>
          <a:effectLst/>
        </p:spPr>
        <p:txBody>
          <a:bodyPr rtlCol="0" anchor="ctr" wrap="square" lIns="45720" rIns="45720">
            <a:noAutofit/>
          </a:bodyPr>
          <a:lstStyle/>
          <a:p>
            <a:pPr algn="ctr" rtl="0">
              <a:lnSpc>
                <a:spcPct val="110000"/>
              </a:lnSpc>
            </a:pPr>
            <a:r>
              <a:rPr sz="1200" b="0" i="0" lang="en-US">
                <a:solidFill>
                  <a:srgbClr val="4C5058"/>
                </a:solidFill>
                <a:latin typeface="Rubik"/>
                <a:ea typeface="Rubik"/>
                <a:cs typeface="Rubik"/>
              </a:rPr>
              <a:t>notes.txt</a:t>
            </a:r>
          </a:p>
        </p:txBody>
      </p:sp>
      <p:sp>
        <p:nvSpPr>
          <p:cNvPr id="15" name="Rounded Rectangle 14"/>
          <p:cNvSpPr/>
          <p:nvPr/>
        </p:nvSpPr>
        <p:spPr>
          <a:xfrm>
            <a:off x="3358591" y="1508760"/>
            <a:ext cx="2651760" cy="283464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16" name="Rectangle 15"/>
          <p:cNvSpPr/>
          <p:nvPr/>
        </p:nvSpPr>
        <p:spPr>
          <a:xfrm>
            <a:off x="3358591" y="1508760"/>
            <a:ext cx="2651760" cy="502920"/>
          </a:xfrm>
          <a:prstGeom prst="rect">
            <a:avLst/>
          </a:prstGeom>
          <a:solidFill>
            <a:srgbClr val="0A1A33"/>
          </a:solidFill>
          <a:ln>
            <a:noFill/>
          </a:ln>
          <a:effectLst/>
        </p:spPr>
        <p:txBody>
          <a:bodyPr rtlCol="0" anchor="ctr"/>
          <a:lstStyle/>
          <a:p>
            <a:pPr algn="ctr"/>
          </a:p>
        </p:txBody>
      </p:sp>
      <p:sp>
        <p:nvSpPr>
          <p:cNvPr id="17" name="TextBox 16"/>
          <p:cNvSpPr txBox="1"/>
          <p:nvPr/>
        </p:nvSpPr>
        <p:spPr>
          <a:xfrm>
            <a:off x="3495751" y="1508760"/>
            <a:ext cx="2377440" cy="50292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FFFFFF"/>
                </a:solidFill>
                <a:latin typeface="Rubik"/>
                <a:ea typeface="Rubik"/>
                <a:cs typeface="Rubik"/>
              </a:rPr>
              <a:t>נתוני הכנסה</a:t>
            </a:r>
          </a:p>
        </p:txBody>
      </p:sp>
      <p:sp>
        <p:nvSpPr>
          <p:cNvPr id="18" name="TextBox 17"/>
          <p:cNvSpPr txBox="1"/>
          <p:nvPr/>
        </p:nvSpPr>
        <p:spPr>
          <a:xfrm>
            <a:off x="3495751" y="2103120"/>
            <a:ext cx="2377440" cy="1737360"/>
          </a:xfrm>
          <a:prstGeom prst="rect">
            <a:avLst/>
          </a:prstGeom>
          <a:noFill/>
        </p:spPr>
        <p:txBody>
          <a:bodyPr wrap="square" lIns="73152" rIns="73152" tIns="54864" bIns="54864" anchor="t">
            <a:noAutofit/>
          </a:bodyPr>
          <a:lstStyle/>
          <a:p>
            <a:pPr rtl="1" algn="r">
              <a:lnSpc>
                <a:spcPct val="110000"/>
              </a:lnSpc>
              <a:spcAft>
                <a:spcPts val="500"/>
              </a:spcAft>
            </a:pPr>
            <a:r>
              <a:rPr sz="1600" b="0" i="0" lang="he-IL">
                <a:solidFill>
                  <a:srgbClr val="0A1A33"/>
                </a:solidFill>
                <a:latin typeface="Rubik"/>
                <a:ea typeface="Rubik"/>
                <a:cs typeface="Rubik"/>
              </a:rPr>
              <a:t>הלווה: משה לוי, שכיר</a:t>
            </a:r>
          </a:p>
          <a:p>
            <a:pPr rtl="1" algn="r">
              <a:lnSpc>
                <a:spcPct val="110000"/>
              </a:lnSpc>
              <a:spcAft>
                <a:spcPts val="500"/>
              </a:spcAft>
            </a:pPr>
            <a:r>
              <a:rPr sz="1600" b="0" i="0" lang="he-IL">
                <a:solidFill>
                  <a:srgbClr val="0A1A33"/>
                </a:solidFill>
                <a:latin typeface="Rubik"/>
                <a:ea typeface="Rubik"/>
                <a:cs typeface="Rubik"/>
              </a:rPr>
              <a:t>הכנסה חודשית נטו: 14,500 ₪</a:t>
            </a:r>
          </a:p>
        </p:txBody>
      </p:sp>
      <p:sp>
        <p:nvSpPr>
          <p:cNvPr id="19" name="Rounded Rectangle 18"/>
          <p:cNvSpPr/>
          <p:nvPr/>
        </p:nvSpPr>
        <p:spPr>
          <a:xfrm>
            <a:off x="3495751" y="3886200"/>
            <a:ext cx="2377440" cy="329184"/>
          </a:xfrm>
          <a:prstGeom prst="roundRect">
            <a:avLst>
              <a:gd name="adj" fmla="val 50000"/>
            </a:avLst>
          </a:prstGeom>
          <a:solidFill>
            <a:srgbClr val="F7F8F8"/>
          </a:solidFill>
          <a:ln>
            <a:noFill/>
          </a:ln>
          <a:effectLst/>
        </p:spPr>
        <p:txBody>
          <a:bodyPr rtlCol="0" anchor="ctr" wrap="square" lIns="45720" rIns="45720">
            <a:noAutofit/>
          </a:bodyPr>
          <a:lstStyle/>
          <a:p>
            <a:pPr algn="ctr" rtl="0">
              <a:lnSpc>
                <a:spcPct val="110000"/>
              </a:lnSpc>
            </a:pPr>
            <a:r>
              <a:rPr sz="1200" b="0" i="0" lang="en-US">
                <a:solidFill>
                  <a:srgbClr val="4C5058"/>
                </a:solidFill>
                <a:latin typeface="Rubik"/>
                <a:ea typeface="Rubik"/>
                <a:cs typeface="Rubik"/>
              </a:rPr>
              <a:t>scan_0012.txt</a:t>
            </a:r>
          </a:p>
        </p:txBody>
      </p:sp>
      <p:sp>
        <p:nvSpPr>
          <p:cNvPr id="20" name="Rounded Rectangle 19"/>
          <p:cNvSpPr/>
          <p:nvPr/>
        </p:nvSpPr>
        <p:spPr>
          <a:xfrm>
            <a:off x="542239" y="1508760"/>
            <a:ext cx="2651760" cy="283464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21" name="Rectangle 20"/>
          <p:cNvSpPr/>
          <p:nvPr/>
        </p:nvSpPr>
        <p:spPr>
          <a:xfrm>
            <a:off x="542239" y="1508760"/>
            <a:ext cx="2651760" cy="502920"/>
          </a:xfrm>
          <a:prstGeom prst="rect">
            <a:avLst/>
          </a:prstGeom>
          <a:solidFill>
            <a:srgbClr val="0A1A33"/>
          </a:solidFill>
          <a:ln>
            <a:noFill/>
          </a:ln>
          <a:effectLst/>
        </p:spPr>
        <p:txBody>
          <a:bodyPr rtlCol="0" anchor="ctr"/>
          <a:lstStyle/>
          <a:p>
            <a:pPr algn="ctr"/>
          </a:p>
        </p:txBody>
      </p:sp>
      <p:sp>
        <p:nvSpPr>
          <p:cNvPr id="22" name="TextBox 21"/>
          <p:cNvSpPr txBox="1"/>
          <p:nvPr/>
        </p:nvSpPr>
        <p:spPr>
          <a:xfrm>
            <a:off x="679399" y="1508760"/>
            <a:ext cx="2377440" cy="50292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FFFFFF"/>
                </a:solidFill>
                <a:latin typeface="Rubik"/>
                <a:ea typeface="Rubik"/>
                <a:cs typeface="Rubik"/>
              </a:rPr>
              <a:t>התחייבויות</a:t>
            </a:r>
          </a:p>
        </p:txBody>
      </p:sp>
      <p:sp>
        <p:nvSpPr>
          <p:cNvPr id="23" name="TextBox 22"/>
          <p:cNvSpPr txBox="1"/>
          <p:nvPr/>
        </p:nvSpPr>
        <p:spPr>
          <a:xfrm>
            <a:off x="679399" y="2103120"/>
            <a:ext cx="2377440" cy="1737360"/>
          </a:xfrm>
          <a:prstGeom prst="rect">
            <a:avLst/>
          </a:prstGeom>
          <a:noFill/>
        </p:spPr>
        <p:txBody>
          <a:bodyPr wrap="square" lIns="73152" rIns="73152" tIns="54864" bIns="54864" anchor="t">
            <a:noAutofit/>
          </a:bodyPr>
          <a:lstStyle/>
          <a:p>
            <a:pPr rtl="1" algn="r">
              <a:lnSpc>
                <a:spcPct val="110000"/>
              </a:lnSpc>
              <a:spcAft>
                <a:spcPts val="500"/>
              </a:spcAft>
            </a:pPr>
            <a:r>
              <a:rPr sz="1600" b="0" i="0" lang="he-IL">
                <a:solidFill>
                  <a:srgbClr val="0A1A33"/>
                </a:solidFill>
                <a:latin typeface="Rubik"/>
                <a:ea typeface="Rubik"/>
                <a:cs typeface="Rubik"/>
              </a:rPr>
              <a:t>הלוואת רכב</a:t>
            </a:r>
          </a:p>
          <a:p>
            <a:pPr rtl="1" algn="r">
              <a:lnSpc>
                <a:spcPct val="110000"/>
              </a:lnSpc>
              <a:spcAft>
                <a:spcPts val="500"/>
              </a:spcAft>
            </a:pPr>
            <a:r>
              <a:rPr sz="1600" b="0" i="0" lang="he-IL">
                <a:solidFill>
                  <a:srgbClr val="0A1A33"/>
                </a:solidFill>
                <a:latin typeface="Rubik"/>
                <a:ea typeface="Rubik"/>
                <a:cs typeface="Rubik"/>
              </a:rPr>
              <a:t>יתרה: 38,000 ₪</a:t>
            </a:r>
          </a:p>
          <a:p>
            <a:pPr rtl="1" algn="r">
              <a:lnSpc>
                <a:spcPct val="110000"/>
              </a:lnSpc>
              <a:spcAft>
                <a:spcPts val="500"/>
              </a:spcAft>
            </a:pPr>
            <a:r>
              <a:rPr sz="1600" b="0" i="0" lang="he-IL">
                <a:solidFill>
                  <a:srgbClr val="0A1A33"/>
                </a:solidFill>
                <a:latin typeface="Rubik"/>
                <a:ea typeface="Rubik"/>
                <a:cs typeface="Rubik"/>
              </a:rPr>
              <a:t>החזר חודשי: 1,150 ₪</a:t>
            </a:r>
          </a:p>
        </p:txBody>
      </p:sp>
      <p:sp>
        <p:nvSpPr>
          <p:cNvPr id="24" name="Rounded Rectangle 23"/>
          <p:cNvSpPr/>
          <p:nvPr/>
        </p:nvSpPr>
        <p:spPr>
          <a:xfrm>
            <a:off x="679399" y="3886200"/>
            <a:ext cx="2377440" cy="329184"/>
          </a:xfrm>
          <a:prstGeom prst="roundRect">
            <a:avLst>
              <a:gd name="adj" fmla="val 50000"/>
            </a:avLst>
          </a:prstGeom>
          <a:solidFill>
            <a:srgbClr val="F7F8F8"/>
          </a:solidFill>
          <a:ln>
            <a:noFill/>
          </a:ln>
          <a:effectLst/>
        </p:spPr>
        <p:txBody>
          <a:bodyPr rtlCol="0" anchor="ctr" wrap="square" lIns="45720" rIns="45720">
            <a:noAutofit/>
          </a:bodyPr>
          <a:lstStyle/>
          <a:p>
            <a:pPr algn="ctr" rtl="0">
              <a:lnSpc>
                <a:spcPct val="110000"/>
              </a:lnSpc>
            </a:pPr>
            <a:r>
              <a:rPr sz="1200" b="0" i="0" lang="en-US">
                <a:solidFill>
                  <a:srgbClr val="4C5058"/>
                </a:solidFill>
                <a:latin typeface="Rubik"/>
                <a:ea typeface="Rubik"/>
                <a:cs typeface="Rubik"/>
              </a:rPr>
              <a:t>new file.txt</a:t>
            </a:r>
          </a:p>
        </p:txBody>
      </p:sp>
      <p:sp>
        <p:nvSpPr>
          <p:cNvPr id="25" name="Rounded Rectangle 24"/>
          <p:cNvSpPr/>
          <p:nvPr/>
        </p:nvSpPr>
        <p:spPr>
          <a:xfrm>
            <a:off x="6172200" y="4572000"/>
            <a:ext cx="5470855" cy="1325880"/>
          </a:xfrm>
          <a:prstGeom prst="roundRect">
            <a:avLst>
              <a:gd name="adj" fmla="val 6000"/>
            </a:avLst>
          </a:prstGeom>
          <a:solidFill>
            <a:srgbClr val="FFFFFF"/>
          </a:solidFill>
          <a:ln w="25400">
            <a:solidFill>
              <a:srgbClr val="E0A72E"/>
            </a:solidFill>
          </a:ln>
          <a:effectLst/>
        </p:spPr>
        <p:txBody>
          <a:bodyPr rtlCol="0" anchor="ctr"/>
          <a:lstStyle/>
          <a:p>
            <a:pPr algn="ctr"/>
          </a:p>
        </p:txBody>
      </p:sp>
      <p:sp>
        <p:nvSpPr>
          <p:cNvPr id="26" name="TextBox 25"/>
          <p:cNvSpPr txBox="1"/>
          <p:nvPr/>
        </p:nvSpPr>
        <p:spPr>
          <a:xfrm>
            <a:off x="6355080" y="4645152"/>
            <a:ext cx="5105095" cy="41148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סכום הבקשה שונה בשני מקורות</a:t>
            </a:r>
          </a:p>
        </p:txBody>
      </p:sp>
      <p:sp>
        <p:nvSpPr>
          <p:cNvPr id="27" name="TextBox 26"/>
          <p:cNvSpPr txBox="1"/>
          <p:nvPr/>
        </p:nvSpPr>
        <p:spPr>
          <a:xfrm>
            <a:off x="6355080" y="5074920"/>
            <a:ext cx="5105095" cy="77724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בשאלון 1,200,000 ₪ ובסיכום השיחה 1,300,000 ₪</a:t>
            </a:r>
          </a:p>
        </p:txBody>
      </p:sp>
      <p:sp>
        <p:nvSpPr>
          <p:cNvPr id="28" name="Rounded Rectangle 27"/>
          <p:cNvSpPr/>
          <p:nvPr/>
        </p:nvSpPr>
        <p:spPr>
          <a:xfrm>
            <a:off x="548640" y="4572000"/>
            <a:ext cx="5394960" cy="1325880"/>
          </a:xfrm>
          <a:prstGeom prst="roundRect">
            <a:avLst>
              <a:gd name="adj" fmla="val 6000"/>
            </a:avLst>
          </a:prstGeom>
          <a:solidFill>
            <a:srgbClr val="FFFFFF"/>
          </a:solidFill>
          <a:ln w="25400">
            <a:solidFill>
              <a:srgbClr val="E0A72E"/>
            </a:solidFill>
          </a:ln>
          <a:effectLst/>
        </p:spPr>
        <p:txBody>
          <a:bodyPr rtlCol="0" anchor="ctr"/>
          <a:lstStyle/>
          <a:p>
            <a:pPr algn="ctr"/>
          </a:p>
        </p:txBody>
      </p:sp>
      <p:sp>
        <p:nvSpPr>
          <p:cNvPr id="29" name="TextBox 28"/>
          <p:cNvSpPr txBox="1"/>
          <p:nvPr/>
        </p:nvSpPr>
        <p:spPr>
          <a:xfrm>
            <a:off x="731520" y="4645152"/>
            <a:ext cx="5029200" cy="41148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מסמך חסר</a:t>
            </a:r>
          </a:p>
        </p:txBody>
      </p:sp>
      <p:sp>
        <p:nvSpPr>
          <p:cNvPr id="30" name="TextBox 29"/>
          <p:cNvSpPr txBox="1"/>
          <p:nvPr/>
        </p:nvSpPr>
        <p:spPr>
          <a:xfrm>
            <a:off x="731520" y="5074920"/>
            <a:ext cx="5029200" cy="77724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דפי עו״ש: נזכרו בשיחה, אבל אין קובץ. וגם: ‎doc1‎ נשלח פעמיים.</a:t>
            </a:r>
          </a:p>
        </p:txBody>
      </p:sp>
      <p:sp>
        <p:nvSpPr>
          <p:cNvPr id="31" name="TextBox 3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14</a:t>
            </a:r>
            <a:r>
              <a:rPr sz="1200" b="0" i="0" lang="he-IL">
                <a:solidFill>
                  <a:srgbClr val="8D9299"/>
                </a:solidFill>
                <a:latin typeface="Rubik"/>
                <a:ea typeface="Rubik"/>
                <a:cs typeface="Rubik"/>
              </a:rPr>
              <a:t>  |  Claude Code ליועצי משכנתאות</a:t>
            </a:r>
          </a:p>
        </p:txBody>
      </p:sp>
      <p:pic>
        <p:nvPicPr>
          <p:cNvPr id="32" name="Picture 3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חומרי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371600"/>
            <a:ext cx="11094415" cy="452628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371600"/>
            <a:ext cx="73152" cy="452628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4813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 העתיקו כמו שהיא</a:t>
            </a:r>
          </a:p>
        </p:txBody>
      </p:sp>
      <p:sp>
        <p:nvSpPr>
          <p:cNvPr id="9" name="TextBox 8"/>
          <p:cNvSpPr txBox="1"/>
          <p:nvPr/>
        </p:nvSpPr>
        <p:spPr>
          <a:xfrm>
            <a:off x="731520" y="1810512"/>
            <a:ext cx="10682935" cy="4023360"/>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צור בתיקייה ‎01_originals‎ חמישה קובצי טקסט פיקטיביים. בשורה הראשונה של כל קובץ כתוב: „לתרגול בלבד, נתונים פיקטיביים”.</a:t>
            </a:r>
          </a:p>
          <a:p>
            <a:pPr rtl="1" algn="r">
              <a:lnSpc>
                <a:spcPct val="115000"/>
              </a:lnSpc>
              <a:spcAft>
                <a:spcPts val="400"/>
              </a:spcAft>
            </a:pPr>
            <a:r>
              <a:rPr sz="1700" b="1" i="0" lang="he-IL">
                <a:solidFill>
                  <a:srgbClr val="0A1A33"/>
                </a:solidFill>
                <a:latin typeface="Rubik"/>
                <a:ea typeface="Rubik"/>
                <a:cs typeface="Rubik"/>
              </a:rPr>
              <a:t>1. ‎doc1.txt‎</a:t>
            </a:r>
            <a:r>
              <a:rPr sz="1700" b="0" i="0" lang="he-IL">
                <a:solidFill>
                  <a:srgbClr val="0A1A33"/>
                </a:solidFill>
                <a:latin typeface="Rubik"/>
                <a:ea typeface="Rubik"/>
                <a:cs typeface="Rubik"/>
              </a:rPr>
              <a:t>: שאלון לקוח. משה לוי, רכישת דירה, מחיר הנכס 1,900,000 ₪, הון עצמי 700,000 ₪, סכום משכנתא מבוקש 1,200,000 ₪.</a:t>
            </a:r>
          </a:p>
          <a:p>
            <a:pPr rtl="1" algn="r">
              <a:lnSpc>
                <a:spcPct val="115000"/>
              </a:lnSpc>
              <a:spcAft>
                <a:spcPts val="400"/>
              </a:spcAft>
            </a:pPr>
            <a:r>
              <a:rPr sz="1700" b="1" i="0" lang="he-IL">
                <a:solidFill>
                  <a:srgbClr val="0A1A33"/>
                </a:solidFill>
                <a:latin typeface="Rubik"/>
                <a:ea typeface="Rubik"/>
                <a:cs typeface="Rubik"/>
              </a:rPr>
              <a:t>2. ‎notes.txt‎</a:t>
            </a:r>
            <a:r>
              <a:rPr sz="1700" b="0" i="0" lang="he-IL">
                <a:solidFill>
                  <a:srgbClr val="0A1A33"/>
                </a:solidFill>
                <a:latin typeface="Rubik"/>
                <a:ea typeface="Rubik"/>
                <a:cs typeface="Rubik"/>
              </a:rPr>
              <a:t>: סיכום שיחה מ־12.10.2026. הלקוח ביקש 1,300,000 ₪ ואמר שדפי העו״ש יישלחו בהמשך.</a:t>
            </a:r>
          </a:p>
          <a:p>
            <a:pPr rtl="1" algn="r">
              <a:lnSpc>
                <a:spcPct val="115000"/>
              </a:lnSpc>
              <a:spcAft>
                <a:spcPts val="400"/>
              </a:spcAft>
            </a:pPr>
            <a:r>
              <a:rPr sz="1700" b="1" i="0" lang="he-IL">
                <a:solidFill>
                  <a:srgbClr val="0A1A33"/>
                </a:solidFill>
                <a:latin typeface="Rubik"/>
                <a:ea typeface="Rubik"/>
                <a:cs typeface="Rubik"/>
              </a:rPr>
              <a:t>3. ‎scan_0012.txt‎</a:t>
            </a:r>
            <a:r>
              <a:rPr sz="1700" b="0" i="0" lang="he-IL">
                <a:solidFill>
                  <a:srgbClr val="0A1A33"/>
                </a:solidFill>
                <a:latin typeface="Rubik"/>
                <a:ea typeface="Rubik"/>
                <a:cs typeface="Rubik"/>
              </a:rPr>
              <a:t>: נתוני הכנסה. שכיר, הכנסה חודשית נטו 14,500 ₪.</a:t>
            </a:r>
          </a:p>
          <a:p>
            <a:pPr rtl="1" algn="r">
              <a:lnSpc>
                <a:spcPct val="115000"/>
              </a:lnSpc>
              <a:spcAft>
                <a:spcPts val="400"/>
              </a:spcAft>
            </a:pPr>
            <a:r>
              <a:rPr sz="1700" b="1" i="0" lang="he-IL">
                <a:solidFill>
                  <a:srgbClr val="0A1A33"/>
                </a:solidFill>
                <a:latin typeface="Rubik"/>
                <a:ea typeface="Rubik"/>
                <a:cs typeface="Rubik"/>
              </a:rPr>
              <a:t>4. new ‎file.txt‎</a:t>
            </a:r>
            <a:r>
              <a:rPr sz="1700" b="0" i="0" lang="he-IL">
                <a:solidFill>
                  <a:srgbClr val="0A1A33"/>
                </a:solidFill>
                <a:latin typeface="Rubik"/>
                <a:ea typeface="Rubik"/>
                <a:cs typeface="Rubik"/>
              </a:rPr>
              <a:t>: התחייבויות. הלוואת רכב, יתרה 38,000 ₪, החזר חודשי 1,150 ₪.</a:t>
            </a:r>
          </a:p>
          <a:p>
            <a:pPr rtl="1" algn="r">
              <a:lnSpc>
                <a:spcPct val="115000"/>
              </a:lnSpc>
              <a:spcAft>
                <a:spcPts val="400"/>
              </a:spcAft>
            </a:pPr>
            <a:r>
              <a:rPr sz="1700" b="1" i="0" lang="he-IL">
                <a:solidFill>
                  <a:srgbClr val="0A1A33"/>
                </a:solidFill>
                <a:latin typeface="Rubik"/>
                <a:ea typeface="Rubik"/>
                <a:cs typeface="Rubik"/>
              </a:rPr>
              <a:t>5. ‎doc1_copy.txt‎</a:t>
            </a:r>
            <a:r>
              <a:rPr sz="1700" b="0" i="0" lang="he-IL">
                <a:solidFill>
                  <a:srgbClr val="0A1A33"/>
                </a:solidFill>
                <a:latin typeface="Rubik"/>
                <a:ea typeface="Rubik"/>
                <a:cs typeface="Rubik"/>
              </a:rPr>
              <a:t>: עותק זהה של ‎doc1.txt‎.</a:t>
            </a:r>
          </a:p>
          <a:p>
            <a:pPr rtl="1" algn="r">
              <a:lnSpc>
                <a:spcPct val="115000"/>
              </a:lnSpc>
              <a:spcAft>
                <a:spcPts val="400"/>
              </a:spcAft>
            </a:pPr>
            <a:r>
              <a:rPr sz="1700" b="1" i="0" lang="he-IL">
                <a:solidFill>
                  <a:srgbClr val="0A1A33"/>
                </a:solidFill>
                <a:latin typeface="Rubik"/>
                <a:ea typeface="Rubik"/>
                <a:cs typeface="Rubik"/>
              </a:rPr>
              <a:t>אל תיצור קובץ של דפי עו״ש. אל תוסיף נתונים שלא ביקשתי.</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15</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מיפוי הקבצים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120640" y="1417320"/>
            <a:ext cx="6522415" cy="278892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17320"/>
            <a:ext cx="73152" cy="2788920"/>
          </a:xfrm>
          <a:prstGeom prst="rect">
            <a:avLst/>
          </a:prstGeom>
          <a:solidFill>
            <a:srgbClr val="64CAAD"/>
          </a:solidFill>
          <a:ln>
            <a:noFill/>
          </a:ln>
          <a:effectLst/>
        </p:spPr>
        <p:txBody>
          <a:bodyPr rtlCol="0" anchor="ctr"/>
          <a:lstStyle/>
          <a:p>
            <a:pPr algn="ctr"/>
          </a:p>
        </p:txBody>
      </p:sp>
      <p:sp>
        <p:nvSpPr>
          <p:cNvPr id="8" name="TextBox 7"/>
          <p:cNvSpPr txBox="1"/>
          <p:nvPr/>
        </p:nvSpPr>
        <p:spPr>
          <a:xfrm>
            <a:off x="5303520" y="1527048"/>
            <a:ext cx="6110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5303520" y="1856232"/>
            <a:ext cx="6110935" cy="2286000"/>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קרא את כל הקבצים ב־‎01_originals‎.</a:t>
            </a:r>
          </a:p>
          <a:p>
            <a:pPr rtl="1" algn="r">
              <a:lnSpc>
                <a:spcPct val="115000"/>
              </a:lnSpc>
              <a:spcAft>
                <a:spcPts val="400"/>
              </a:spcAft>
            </a:pPr>
            <a:r>
              <a:rPr sz="1700" b="0" i="0" lang="he-IL">
                <a:solidFill>
                  <a:srgbClr val="0A1A33"/>
                </a:solidFill>
                <a:latin typeface="Rubik"/>
                <a:ea typeface="Rubik"/>
                <a:cs typeface="Rubik"/>
              </a:rPr>
              <a:t>צור טבלה: שם הקובץ, סוג המסמך ותקציר של התוכן.</a:t>
            </a:r>
          </a:p>
          <a:p>
            <a:pPr rtl="1" algn="r">
              <a:lnSpc>
                <a:spcPct val="115000"/>
              </a:lnSpc>
              <a:spcAft>
                <a:spcPts val="400"/>
              </a:spcAft>
            </a:pPr>
            <a:r>
              <a:rPr sz="1700" b="0" i="0" lang="he-IL">
                <a:solidFill>
                  <a:srgbClr val="0A1A33"/>
                </a:solidFill>
                <a:latin typeface="Rubik"/>
                <a:ea typeface="Rubik"/>
                <a:cs typeface="Rubik"/>
              </a:rPr>
              <a:t>סמן קובץ שלא הצלחת לקרוא, וקבצים שנראים כפולים.</a:t>
            </a:r>
          </a:p>
          <a:p>
            <a:pPr rtl="1" algn="r">
              <a:lnSpc>
                <a:spcPct val="115000"/>
              </a:lnSpc>
              <a:spcAft>
                <a:spcPts val="400"/>
              </a:spcAft>
            </a:pPr>
            <a:r>
              <a:rPr sz="1700" b="0" i="0" lang="he-IL">
                <a:solidFill>
                  <a:srgbClr val="0A1A33"/>
                </a:solidFill>
                <a:latin typeface="Rubik"/>
                <a:ea typeface="Rubik"/>
                <a:cs typeface="Rubik"/>
              </a:rPr>
              <a:t>אל תשנה אף קובץ. שמור את הטבלה ב־‎03_reports‎ בשם ‎file_list.md‎.</a:t>
            </a:r>
          </a:p>
        </p:txBody>
      </p:sp>
      <p:graphicFrame>
        <p:nvGraphicFramePr>
          <p:cNvPr id="10" name="Table 9"/>
          <p:cNvGraphicFramePr>
            <a:graphicFrameLocks noGrp="1"/>
          </p:cNvGraphicFramePr>
          <p:nvPr/>
        </p:nvGraphicFramePr>
        <p:xfrm>
          <a:off x="548640" y="1417320"/>
          <a:ext cx="4343400" cy="2578608"/>
        </p:xfrm>
        <a:graphic>
          <a:graphicData uri="http://schemas.openxmlformats.org/drawingml/2006/table">
            <a:tbl>
              <a:tblPr firstRow="1" bandRow="0" rtl="1">
                <a:tableStyleId>{5940675A-B579-460E-94D1-54222C63F5DA}</a:tableStyleId>
              </a:tblPr>
              <a:tblGrid>
                <a:gridCol w="2011680"/>
                <a:gridCol w="1463040"/>
                <a:gridCol w="868680"/>
              </a:tblGrid>
              <a:tr h="429768">
                <a:tc>
                  <a:txBody>
                    <a:bodyPr wrap="square"/>
                    <a:lstStyle/>
                    <a:p>
                      <a:pPr rtl="1" algn="r"/>
                      <a:r>
                        <a:rPr sz="1400" b="1" i="0" lang="he-IL">
                          <a:solidFill>
                            <a:srgbClr val="FFFFFF"/>
                          </a:solidFill>
                          <a:latin typeface="Rubik"/>
                          <a:ea typeface="Rubik"/>
                          <a:cs typeface="Rubik"/>
                        </a:rPr>
                        <a:t>קובץ</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400" b="1" i="0" lang="he-IL">
                          <a:solidFill>
                            <a:srgbClr val="FFFFFF"/>
                          </a:solidFill>
                          <a:latin typeface="Rubik"/>
                          <a:ea typeface="Rubik"/>
                          <a:cs typeface="Rubik"/>
                        </a:rPr>
                        <a:t>סוג</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400" b="1" i="0" lang="he-IL">
                          <a:solidFill>
                            <a:srgbClr val="FFFFFF"/>
                          </a:solidFill>
                          <a:latin typeface="Rubik"/>
                          <a:ea typeface="Rubik"/>
                          <a:cs typeface="Rubik"/>
                        </a:rPr>
                        <a:t>הערה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29768">
                <a:tc>
                  <a:txBody>
                    <a:bodyPr wrap="square"/>
                    <a:lstStyle/>
                    <a:p>
                      <a:pPr rtl="0" algn="l"/>
                      <a:r>
                        <a:rPr sz="14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0" i="0" lang="he-IL">
                          <a:solidFill>
                            <a:srgbClr val="0A1A33"/>
                          </a:solidFill>
                          <a:latin typeface="Rubik"/>
                          <a:ea typeface="Rubik"/>
                          <a:cs typeface="Rubik"/>
                        </a:rPr>
                        <a:t>שאלון לקוח</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1"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29768">
                <a:tc>
                  <a:txBody>
                    <a:bodyPr wrap="square"/>
                    <a:lstStyle/>
                    <a:p>
                      <a:pPr rtl="0" algn="l"/>
                      <a:r>
                        <a:rPr sz="14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400" b="0" i="0" lang="he-IL">
                          <a:solidFill>
                            <a:srgbClr val="0A1A33"/>
                          </a:solidFill>
                          <a:latin typeface="Rubik"/>
                          <a:ea typeface="Rubik"/>
                          <a:cs typeface="Rubik"/>
                        </a:rPr>
                        <a:t>שאלון לקוח</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400" b="1" i="0" lang="he-IL">
                          <a:solidFill>
                            <a:srgbClr val="158E78"/>
                          </a:solidFill>
                          <a:latin typeface="Rubik"/>
                          <a:ea typeface="Rubik"/>
                          <a:cs typeface="Rubik"/>
                        </a:rPr>
                        <a:t>כפול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29768">
                <a:tc>
                  <a:txBody>
                    <a:bodyPr wrap="square"/>
                    <a:lstStyle/>
                    <a:p>
                      <a:pPr rtl="0" algn="l"/>
                      <a:r>
                        <a:rPr sz="14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0" i="0" lang="he-IL">
                          <a:solidFill>
                            <a:srgbClr val="0A1A33"/>
                          </a:solidFill>
                          <a:latin typeface="Rubik"/>
                          <a:ea typeface="Rubik"/>
                          <a:cs typeface="Rubik"/>
                        </a:rPr>
                        <a:t>נתוני 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1"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29768">
                <a:tc>
                  <a:txBody>
                    <a:bodyPr wrap="square"/>
                    <a:lstStyle/>
                    <a:p>
                      <a:pPr rtl="0" algn="l"/>
                      <a:r>
                        <a:rPr sz="14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4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400" b="1"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29768">
                <a:tc>
                  <a:txBody>
                    <a:bodyPr wrap="square"/>
                    <a:lstStyle/>
                    <a:p>
                      <a:pPr rtl="0" algn="l"/>
                      <a:r>
                        <a:rPr sz="14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0" i="0" lang="he-IL">
                          <a:solidFill>
                            <a:srgbClr val="0A1A33"/>
                          </a:solidFill>
                          <a:latin typeface="Rubik"/>
                          <a:ea typeface="Rubik"/>
                          <a:cs typeface="Rubik"/>
                        </a:rPr>
                        <a:t>סיכום 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1"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1" name="TextBox 10"/>
          <p:cNvSpPr txBox="1"/>
          <p:nvPr/>
        </p:nvSpPr>
        <p:spPr>
          <a:xfrm>
            <a:off x="548640" y="4069080"/>
            <a:ext cx="4343400" cy="320040"/>
          </a:xfrm>
          <a:prstGeom prst="rect">
            <a:avLst/>
          </a:prstGeom>
          <a:noFill/>
        </p:spPr>
        <p:txBody>
          <a:bodyPr wrap="square" lIns="73152" rIns="73152" tIns="54864" bIns="54864" anchor="t">
            <a:noAutofit/>
          </a:bodyPr>
          <a:lstStyle/>
          <a:p>
            <a:pPr rtl="1" algn="r">
              <a:lnSpc>
                <a:spcPct val="110000"/>
              </a:lnSpc>
              <a:spcAft>
                <a:spcPts val="600"/>
              </a:spcAft>
            </a:pPr>
            <a:r>
              <a:rPr sz="1300" b="0" i="0" lang="he-IL">
                <a:solidFill>
                  <a:srgbClr val="8D9299"/>
                </a:solidFill>
                <a:latin typeface="Rubik"/>
                <a:ea typeface="Rubik"/>
                <a:cs typeface="Rubik"/>
              </a:rPr>
              <a:t>כך צפויה להיראות הטבלה (בקיצור)</a:t>
            </a:r>
          </a:p>
        </p:txBody>
      </p:sp>
      <p:sp>
        <p:nvSpPr>
          <p:cNvPr id="12" name="Rounded Rectangle 11"/>
          <p:cNvSpPr/>
          <p:nvPr/>
        </p:nvSpPr>
        <p:spPr>
          <a:xfrm>
            <a:off x="548640" y="4526280"/>
            <a:ext cx="11094415" cy="1371600"/>
          </a:xfrm>
          <a:prstGeom prst="roundRect">
            <a:avLst>
              <a:gd name="adj" fmla="val 6000"/>
            </a:avLst>
          </a:prstGeom>
          <a:solidFill>
            <a:srgbClr val="F7F8F8"/>
          </a:solidFill>
          <a:ln>
            <a:noFill/>
          </a:ln>
          <a:effectLst/>
        </p:spPr>
        <p:txBody>
          <a:bodyPr rtlCol="0" anchor="ctr"/>
          <a:lstStyle/>
          <a:p>
            <a:pPr algn="ctr"/>
          </a:p>
        </p:txBody>
      </p:sp>
      <p:sp>
        <p:nvSpPr>
          <p:cNvPr id="13" name="TextBox 12"/>
          <p:cNvSpPr txBox="1"/>
          <p:nvPr/>
        </p:nvSpPr>
        <p:spPr>
          <a:xfrm>
            <a:off x="822959" y="4617720"/>
            <a:ext cx="10545775"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בדיקה מול סייר הקבצים של Windows</a:t>
            </a:r>
          </a:p>
        </p:txBody>
      </p:sp>
      <p:sp>
        <p:nvSpPr>
          <p:cNvPr id="14" name="TextBox 13"/>
          <p:cNvSpPr txBox="1"/>
          <p:nvPr/>
        </p:nvSpPr>
        <p:spPr>
          <a:xfrm>
            <a:off x="822959" y="5029200"/>
            <a:ext cx="10545775" cy="822960"/>
          </a:xfrm>
          <a:prstGeom prst="rect">
            <a:avLst/>
          </a:prstGeom>
          <a:noFill/>
        </p:spPr>
        <p:txBody>
          <a:bodyPr wrap="square" lIns="73152" rIns="73152" tIns="54864" bIns="54864" anchor="t">
            <a:noAutofit/>
          </a:bodyPr>
          <a:lstStyle/>
          <a:p>
            <a:pPr rtl="1" algn="r">
              <a:lnSpc>
                <a:spcPct val="110000"/>
              </a:lnSpc>
              <a:spcAft>
                <a:spcPts val="400"/>
              </a:spcAft>
            </a:pPr>
            <a:r>
              <a:rPr sz="1700" b="0" i="0" lang="he-IL">
                <a:solidFill>
                  <a:srgbClr val="0A1A33"/>
                </a:solidFill>
                <a:latin typeface="Rubik"/>
                <a:ea typeface="Rubik"/>
                <a:cs typeface="Rubik"/>
              </a:rPr>
              <a:t>•  מספר השורות בטבלה שווה למספר הקבצים בתיקייה (5)?</a:t>
            </a:r>
          </a:p>
          <a:p>
            <a:pPr rtl="1" algn="r">
              <a:lnSpc>
                <a:spcPct val="110000"/>
              </a:lnSpc>
              <a:spcAft>
                <a:spcPts val="400"/>
              </a:spcAft>
            </a:pPr>
            <a:r>
              <a:rPr sz="1700" b="0" i="0" lang="he-IL">
                <a:solidFill>
                  <a:srgbClr val="0A1A33"/>
                </a:solidFill>
                <a:latin typeface="Rubik"/>
                <a:ea typeface="Rubik"/>
                <a:cs typeface="Rubik"/>
              </a:rPr>
              <a:t>•  שמות הקבצים בטבלה זהים לשמות בסייר?</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16</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תוכנית הסידור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417320"/>
          <a:ext cx="11094414" cy="2743200"/>
        </p:xfrm>
        <a:graphic>
          <a:graphicData uri="http://schemas.openxmlformats.org/drawingml/2006/table">
            <a:tbl>
              <a:tblPr firstRow="1" bandRow="0" rtl="1">
                <a:tableStyleId>{5940675A-B579-460E-94D1-54222C63F5DA}</a:tableStyleId>
              </a:tblPr>
              <a:tblGrid>
                <a:gridCol w="3328324"/>
                <a:gridCol w="2218883"/>
                <a:gridCol w="5547207"/>
              </a:tblGrid>
              <a:tr h="457200">
                <a:tc>
                  <a:txBody>
                    <a:bodyPr wrap="square"/>
                    <a:lstStyle/>
                    <a:p>
                      <a:pPr rtl="1" algn="r"/>
                      <a:r>
                        <a:rPr sz="1600" b="1" i="0" lang="he-IL">
                          <a:solidFill>
                            <a:srgbClr val="FFFFFF"/>
                          </a:solidFill>
                          <a:latin typeface="Rubik"/>
                          <a:ea typeface="Rubik"/>
                          <a:cs typeface="Rubik"/>
                        </a:rPr>
                        <a:t>קובץ מקורי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קטגוריה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שם חדש מוצע</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57200">
                <a:tc>
                  <a:txBody>
                    <a:bodyPr wrap="square"/>
                    <a:lstStyle/>
                    <a:p>
                      <a:pPr rtl="0" algn="l"/>
                      <a:r>
                        <a:rPr sz="16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‎01_questionnaire.txt‎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0" algn="l"/>
                      <a:r>
                        <a:rPr sz="16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שיחות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‎02_call_summary.txt‎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0" algn="l"/>
                      <a:r>
                        <a:rPr sz="16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הכנסות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‎03_income.txt‎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0" algn="l"/>
                      <a:r>
                        <a:rPr sz="16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‎04_liabilities.txt‎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0" algn="l"/>
                      <a:r>
                        <a:rPr sz="16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600" b="0" i="0" lang="he-IL">
                          <a:solidFill>
                            <a:srgbClr val="0A1A33"/>
                          </a:solidFill>
                          <a:latin typeface="Rubik"/>
                          <a:ea typeface="Rubik"/>
                          <a:cs typeface="Rubik"/>
                        </a:rPr>
                        <a:t>כפילות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600" b="0" i="0" lang="he-IL">
                          <a:solidFill>
                            <a:srgbClr val="0A1A33"/>
                          </a:solidFill>
                          <a:latin typeface="Rubik"/>
                          <a:ea typeface="Rubik"/>
                          <a:cs typeface="Rubik"/>
                        </a:rPr>
                        <a:t>לא מעתיקים. מציינים ברשימה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8076895" y="4343400"/>
            <a:ext cx="3566160" cy="15544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8" name="Rectangle 7"/>
          <p:cNvSpPr/>
          <p:nvPr/>
        </p:nvSpPr>
        <p:spPr>
          <a:xfrm>
            <a:off x="8305495" y="4343400"/>
            <a:ext cx="3108960" cy="54864"/>
          </a:xfrm>
          <a:prstGeom prst="rect">
            <a:avLst/>
          </a:prstGeom>
          <a:solidFill>
            <a:srgbClr val="64CAAD"/>
          </a:solidFill>
          <a:ln>
            <a:noFill/>
          </a:ln>
          <a:effectLst/>
        </p:spPr>
        <p:txBody>
          <a:bodyPr rtlCol="0" anchor="ctr"/>
          <a:lstStyle/>
          <a:p>
            <a:pPr algn="ctr"/>
          </a:p>
        </p:txBody>
      </p:sp>
      <p:sp>
        <p:nvSpPr>
          <p:cNvPr id="9" name="TextBox 8"/>
          <p:cNvSpPr txBox="1"/>
          <p:nvPr/>
        </p:nvSpPr>
        <p:spPr>
          <a:xfrm>
            <a:off x="8259775" y="4526280"/>
            <a:ext cx="3200400"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קובץ לא מזוהה</a:t>
            </a:r>
          </a:p>
        </p:txBody>
      </p:sp>
      <p:sp>
        <p:nvSpPr>
          <p:cNvPr id="10" name="TextBox 9"/>
          <p:cNvSpPr txBox="1"/>
          <p:nvPr/>
        </p:nvSpPr>
        <p:spPr>
          <a:xfrm>
            <a:off x="8259775" y="5001768"/>
            <a:ext cx="3200400" cy="804672"/>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לא מנחשים. קטגוריה „לא מזוהה” וההחלטה אצל היועץ.</a:t>
            </a:r>
          </a:p>
        </p:txBody>
      </p:sp>
      <p:sp>
        <p:nvSpPr>
          <p:cNvPr id="11" name="Rounded Rectangle 10"/>
          <p:cNvSpPr/>
          <p:nvPr/>
        </p:nvSpPr>
        <p:spPr>
          <a:xfrm>
            <a:off x="4318711" y="4343400"/>
            <a:ext cx="3566160" cy="15544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12" name="Rectangle 11"/>
          <p:cNvSpPr/>
          <p:nvPr/>
        </p:nvSpPr>
        <p:spPr>
          <a:xfrm>
            <a:off x="4547311" y="4343400"/>
            <a:ext cx="3108960" cy="54864"/>
          </a:xfrm>
          <a:prstGeom prst="rect">
            <a:avLst/>
          </a:prstGeom>
          <a:solidFill>
            <a:srgbClr val="64CAAD"/>
          </a:solidFill>
          <a:ln>
            <a:noFill/>
          </a:ln>
          <a:effectLst/>
        </p:spPr>
        <p:txBody>
          <a:bodyPr rtlCol="0" anchor="ctr"/>
          <a:lstStyle/>
          <a:p>
            <a:pPr algn="ctr"/>
          </a:p>
        </p:txBody>
      </p:sp>
      <p:sp>
        <p:nvSpPr>
          <p:cNvPr id="13" name="TextBox 12"/>
          <p:cNvSpPr txBox="1"/>
          <p:nvPr/>
        </p:nvSpPr>
        <p:spPr>
          <a:xfrm>
            <a:off x="4501591" y="4526280"/>
            <a:ext cx="3200400"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כפילות</a:t>
            </a:r>
          </a:p>
        </p:txBody>
      </p:sp>
      <p:sp>
        <p:nvSpPr>
          <p:cNvPr id="14" name="TextBox 13"/>
          <p:cNvSpPr txBox="1"/>
          <p:nvPr/>
        </p:nvSpPr>
        <p:spPr>
          <a:xfrm>
            <a:off x="4501591" y="5001768"/>
            <a:ext cx="3200400" cy="804672"/>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משווים את התוכן. רק אם הוא זהה, מעתיקים פעם אחת.</a:t>
            </a:r>
          </a:p>
        </p:txBody>
      </p:sp>
      <p:sp>
        <p:nvSpPr>
          <p:cNvPr id="15" name="Rounded Rectangle 14"/>
          <p:cNvSpPr/>
          <p:nvPr/>
        </p:nvSpPr>
        <p:spPr>
          <a:xfrm>
            <a:off x="560527" y="4343400"/>
            <a:ext cx="3566160" cy="1554480"/>
          </a:xfrm>
          <a:prstGeom prst="roundRect">
            <a:avLst>
              <a:gd name="adj" fmla="val 6000"/>
            </a:avLst>
          </a:prstGeom>
          <a:solidFill>
            <a:srgbClr val="FFFFFF"/>
          </a:solidFill>
          <a:ln w="12700">
            <a:solidFill>
              <a:srgbClr val="D4D6D8"/>
            </a:solidFill>
          </a:ln>
          <a:effectLst/>
        </p:spPr>
        <p:txBody>
          <a:bodyPr rtlCol="0" anchor="ctr"/>
          <a:lstStyle/>
          <a:p>
            <a:pPr algn="ctr"/>
          </a:p>
        </p:txBody>
      </p:sp>
      <p:sp>
        <p:nvSpPr>
          <p:cNvPr id="16" name="Rectangle 15"/>
          <p:cNvSpPr/>
          <p:nvPr/>
        </p:nvSpPr>
        <p:spPr>
          <a:xfrm>
            <a:off x="789127" y="4343400"/>
            <a:ext cx="3108960" cy="54864"/>
          </a:xfrm>
          <a:prstGeom prst="rect">
            <a:avLst/>
          </a:prstGeom>
          <a:solidFill>
            <a:srgbClr val="435FB5"/>
          </a:solidFill>
          <a:ln>
            <a:noFill/>
          </a:ln>
          <a:effectLst/>
        </p:spPr>
        <p:txBody>
          <a:bodyPr rtlCol="0" anchor="ctr"/>
          <a:lstStyle/>
          <a:p>
            <a:pPr algn="ctr"/>
          </a:p>
        </p:txBody>
      </p:sp>
      <p:sp>
        <p:nvSpPr>
          <p:cNvPr id="17" name="TextBox 16"/>
          <p:cNvSpPr txBox="1"/>
          <p:nvPr/>
        </p:nvSpPr>
        <p:spPr>
          <a:xfrm>
            <a:off x="743407" y="4526280"/>
            <a:ext cx="3200400"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לפני ביצוע</a:t>
            </a:r>
          </a:p>
        </p:txBody>
      </p:sp>
      <p:sp>
        <p:nvSpPr>
          <p:cNvPr id="18" name="TextBox 17"/>
          <p:cNvSpPr txBox="1"/>
          <p:nvPr/>
        </p:nvSpPr>
        <p:spPr>
          <a:xfrm>
            <a:off x="743407" y="5001768"/>
            <a:ext cx="3200400" cy="804672"/>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קוראים את התוכנית, מתקנים ורק אז מאשרים.</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17</a:t>
            </a:r>
            <a:r>
              <a:rPr sz="1200" b="0" i="0" lang="he-IL">
                <a:solidFill>
                  <a:srgbClr val="8D9299"/>
                </a:solidFill>
                <a:latin typeface="Rubik"/>
                <a:ea typeface="Rubik"/>
                <a:cs typeface="Rubik"/>
              </a:rPr>
              <a:t>  |  Claude Code ליועצי משכנתאות</a:t>
            </a:r>
          </a:p>
        </p:txBody>
      </p:sp>
      <p:pic>
        <p:nvPicPr>
          <p:cNvPr id="20" name="Picture 19"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ארגון המסמכים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577840" y="1417320"/>
            <a:ext cx="6065215" cy="237744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17320"/>
            <a:ext cx="73152" cy="2377440"/>
          </a:xfrm>
          <a:prstGeom prst="rect">
            <a:avLst/>
          </a:prstGeom>
          <a:solidFill>
            <a:srgbClr val="64CAAD"/>
          </a:solidFill>
          <a:ln>
            <a:noFill/>
          </a:ln>
          <a:effectLst/>
        </p:spPr>
        <p:txBody>
          <a:bodyPr rtlCol="0" anchor="ctr"/>
          <a:lstStyle/>
          <a:p>
            <a:pPr algn="ctr"/>
          </a:p>
        </p:txBody>
      </p:sp>
      <p:sp>
        <p:nvSpPr>
          <p:cNvPr id="8" name="TextBox 7"/>
          <p:cNvSpPr txBox="1"/>
          <p:nvPr/>
        </p:nvSpPr>
        <p:spPr>
          <a:xfrm>
            <a:off x="5760720" y="1527048"/>
            <a:ext cx="56537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5760720" y="1856232"/>
            <a:ext cx="5653735" cy="1874519"/>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בצע את התוכנית שאישרתי:</a:t>
            </a:r>
          </a:p>
          <a:p>
            <a:pPr rtl="1" algn="r">
              <a:lnSpc>
                <a:spcPct val="115000"/>
              </a:lnSpc>
              <a:spcAft>
                <a:spcPts val="400"/>
              </a:spcAft>
            </a:pPr>
            <a:r>
              <a:rPr sz="1700" b="0" i="0" lang="he-IL">
                <a:solidFill>
                  <a:srgbClr val="0A1A33"/>
                </a:solidFill>
                <a:latin typeface="Rubik"/>
                <a:ea typeface="Rubik"/>
                <a:cs typeface="Rubik"/>
              </a:rPr>
              <a:t>העתק את הקבצים ל־‎02_organized‎ בשמות החדשים. אל תעביר ואל תמחק את המקורות.</a:t>
            </a:r>
          </a:p>
          <a:p>
            <a:pPr rtl="1" algn="r">
              <a:lnSpc>
                <a:spcPct val="115000"/>
              </a:lnSpc>
              <a:spcAft>
                <a:spcPts val="400"/>
              </a:spcAft>
            </a:pPr>
            <a:r>
              <a:rPr sz="1700" b="0" i="0" lang="he-IL">
                <a:solidFill>
                  <a:srgbClr val="0A1A33"/>
                </a:solidFill>
                <a:latin typeface="Rubik"/>
                <a:ea typeface="Rubik"/>
                <a:cs typeface="Rubik"/>
              </a:rPr>
              <a:t>צור ב־‎03_reports‎ קובץ ‎name_map.md‎ עם שם מקורי מול שם חדש.</a:t>
            </a:r>
          </a:p>
        </p:txBody>
      </p:sp>
      <p:sp>
        <p:nvSpPr>
          <p:cNvPr id="10" name="Rounded Rectangle 9"/>
          <p:cNvSpPr/>
          <p:nvPr/>
        </p:nvSpPr>
        <p:spPr>
          <a:xfrm>
            <a:off x="548640" y="1417320"/>
            <a:ext cx="4754880" cy="2377440"/>
          </a:xfrm>
          <a:prstGeom prst="roundRect">
            <a:avLst>
              <a:gd name="adj" fmla="val 6000"/>
            </a:avLst>
          </a:prstGeom>
          <a:solidFill>
            <a:srgbClr val="0A1A33"/>
          </a:solidFill>
          <a:ln>
            <a:noFill/>
          </a:ln>
          <a:effectLst/>
        </p:spPr>
        <p:txBody>
          <a:bodyPr rtlCol="0" anchor="ctr"/>
          <a:lstStyle/>
          <a:p>
            <a:pPr algn="ctr"/>
          </a:p>
        </p:txBody>
      </p:sp>
      <p:sp>
        <p:nvSpPr>
          <p:cNvPr id="11" name="TextBox 10"/>
          <p:cNvSpPr txBox="1"/>
          <p:nvPr/>
        </p:nvSpPr>
        <p:spPr>
          <a:xfrm>
            <a:off x="731520" y="1508760"/>
            <a:ext cx="438912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אחרי הביצוע</a:t>
            </a:r>
          </a:p>
        </p:txBody>
      </p:sp>
      <p:sp>
        <p:nvSpPr>
          <p:cNvPr id="12" name="TextBox 11"/>
          <p:cNvSpPr txBox="1"/>
          <p:nvPr/>
        </p:nvSpPr>
        <p:spPr>
          <a:xfrm>
            <a:off x="685800" y="1828800"/>
            <a:ext cx="4480560" cy="1892808"/>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01_originals\   5 קבצים, ללא שינוי</a:t>
            </a:r>
          </a:p>
          <a:p>
            <a:pPr rtl="0" algn="l">
              <a:lnSpc>
                <a:spcPct val="115000"/>
              </a:lnSpc>
              <a:spcAft>
                <a:spcPts val="200"/>
              </a:spcAft>
            </a:pPr>
            <a:r>
              <a:rPr sz="1500" b="0" i="0" lang="en-US">
                <a:solidFill>
                  <a:srgbClr val="64CAAD"/>
                </a:solidFill>
                <a:latin typeface="Consolas"/>
                <a:ea typeface="Consolas"/>
                <a:cs typeface="Rubik"/>
              </a:rPr>
              <a:t>02_organized\</a:t>
            </a:r>
          </a:p>
          <a:p>
            <a:pPr rtl="0" algn="l">
              <a:lnSpc>
                <a:spcPct val="115000"/>
              </a:lnSpc>
              <a:spcAft>
                <a:spcPts val="200"/>
              </a:spcAft>
            </a:pPr>
            <a:r>
              <a:rPr sz="1500" b="0" i="0" lang="en-US">
                <a:solidFill>
                  <a:srgbClr val="FFFFFF"/>
                </a:solidFill>
                <a:latin typeface="Consolas"/>
                <a:ea typeface="Consolas"/>
                <a:cs typeface="Rubik"/>
              </a:rPr>
              <a:t>  01_questionnaire.txt</a:t>
            </a:r>
          </a:p>
          <a:p>
            <a:pPr rtl="0" algn="l">
              <a:lnSpc>
                <a:spcPct val="115000"/>
              </a:lnSpc>
              <a:spcAft>
                <a:spcPts val="200"/>
              </a:spcAft>
            </a:pPr>
            <a:r>
              <a:rPr sz="1500" b="0" i="0" lang="en-US">
                <a:solidFill>
                  <a:srgbClr val="FFFFFF"/>
                </a:solidFill>
                <a:latin typeface="Consolas"/>
                <a:ea typeface="Consolas"/>
                <a:cs typeface="Rubik"/>
              </a:rPr>
              <a:t>  02_call_summary.txt</a:t>
            </a:r>
          </a:p>
          <a:p>
            <a:pPr rtl="0" algn="l">
              <a:lnSpc>
                <a:spcPct val="115000"/>
              </a:lnSpc>
              <a:spcAft>
                <a:spcPts val="200"/>
              </a:spcAft>
            </a:pPr>
            <a:r>
              <a:rPr sz="1500" b="0" i="0" lang="en-US">
                <a:solidFill>
                  <a:srgbClr val="FFFFFF"/>
                </a:solidFill>
                <a:latin typeface="Consolas"/>
                <a:ea typeface="Consolas"/>
                <a:cs typeface="Rubik"/>
              </a:rPr>
              <a:t>  03_income.txt</a:t>
            </a:r>
          </a:p>
          <a:p>
            <a:pPr rtl="0" algn="l">
              <a:lnSpc>
                <a:spcPct val="115000"/>
              </a:lnSpc>
              <a:spcAft>
                <a:spcPts val="200"/>
              </a:spcAft>
            </a:pPr>
            <a:r>
              <a:rPr sz="1500" b="0" i="0" lang="en-US">
                <a:solidFill>
                  <a:srgbClr val="FFFFFF"/>
                </a:solidFill>
                <a:latin typeface="Consolas"/>
                <a:ea typeface="Consolas"/>
                <a:cs typeface="Rubik"/>
              </a:rPr>
              <a:t>  04_liabilities.txt</a:t>
            </a:r>
          </a:p>
        </p:txBody>
      </p:sp>
      <p:sp>
        <p:nvSpPr>
          <p:cNvPr id="13" name="TextBox 12"/>
          <p:cNvSpPr txBox="1"/>
          <p:nvPr/>
        </p:nvSpPr>
        <p:spPr>
          <a:xfrm>
            <a:off x="548640" y="4023360"/>
            <a:ext cx="11094415" cy="365760"/>
          </a:xfrm>
          <a:prstGeom prst="rect">
            <a:avLst/>
          </a:prstGeom>
          <a:noFill/>
        </p:spPr>
        <p:txBody>
          <a:bodyPr wrap="square" lIns="73152" rIns="73152" tIns="54864" bIns="54864" anchor="t">
            <a:noAutofit/>
          </a:bodyPr>
          <a:lstStyle/>
          <a:p>
            <a:pPr rtl="0" algn="r">
              <a:lnSpc>
                <a:spcPct val="110000"/>
              </a:lnSpc>
              <a:spcAft>
                <a:spcPts val="600"/>
              </a:spcAft>
            </a:pPr>
            <a:r>
              <a:rPr sz="1500" b="1" i="0" lang="en-US">
                <a:solidFill>
                  <a:srgbClr val="435FB5"/>
                </a:solidFill>
                <a:latin typeface="Consolas"/>
                <a:ea typeface="Consolas"/>
                <a:cs typeface="Rubik"/>
              </a:rPr>
              <a:t>03_reports\name_map.md</a:t>
            </a:r>
          </a:p>
        </p:txBody>
      </p:sp>
      <p:graphicFrame>
        <p:nvGraphicFramePr>
          <p:cNvPr id="14" name="Table 13"/>
          <p:cNvGraphicFramePr>
            <a:graphicFrameLocks noGrp="1"/>
          </p:cNvGraphicFramePr>
          <p:nvPr/>
        </p:nvGraphicFramePr>
        <p:xfrm>
          <a:off x="548640" y="4389120"/>
          <a:ext cx="11094415" cy="1700784"/>
        </p:xfrm>
        <a:graphic>
          <a:graphicData uri="http://schemas.openxmlformats.org/drawingml/2006/table">
            <a:tbl>
              <a:tblPr firstRow="1" bandRow="0" rtl="1">
                <a:tableStyleId>{5940675A-B579-460E-94D1-54222C63F5DA}</a:tableStyleId>
              </a:tblPr>
              <a:tblGrid>
                <a:gridCol w="4437766"/>
                <a:gridCol w="6656649"/>
              </a:tblGrid>
              <a:tr h="283464">
                <a:tc>
                  <a:txBody>
                    <a:bodyPr wrap="square"/>
                    <a:lstStyle/>
                    <a:p>
                      <a:pPr rtl="1" algn="r"/>
                      <a:r>
                        <a:rPr sz="1400" b="1" i="0" lang="he-IL">
                          <a:solidFill>
                            <a:srgbClr val="FFFFFF"/>
                          </a:solidFill>
                          <a:latin typeface="Rubik"/>
                          <a:ea typeface="Rubik"/>
                          <a:cs typeface="Rubik"/>
                        </a:rPr>
                        <a:t>שם מקורי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400" b="1" i="0" lang="he-IL">
                          <a:solidFill>
                            <a:srgbClr val="FFFFFF"/>
                          </a:solidFill>
                          <a:latin typeface="Rubik"/>
                          <a:ea typeface="Rubik"/>
                          <a:cs typeface="Rubik"/>
                        </a:rPr>
                        <a:t>שם חדש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283464">
                <a:tc>
                  <a:txBody>
                    <a:bodyPr wrap="square"/>
                    <a:lstStyle/>
                    <a:p>
                      <a:pPr rtl="0" algn="l"/>
                      <a:r>
                        <a:rPr sz="14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0" i="0" lang="he-IL">
                          <a:solidFill>
                            <a:srgbClr val="0A1A33"/>
                          </a:solidFill>
                          <a:latin typeface="Rubik"/>
                          <a:ea typeface="Rubik"/>
                          <a:cs typeface="Rubik"/>
                        </a:rPr>
                        <a:t>‎01_questionnaire.txt‎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283464">
                <a:tc>
                  <a:txBody>
                    <a:bodyPr wrap="square"/>
                    <a:lstStyle/>
                    <a:p>
                      <a:pPr rtl="0" algn="l"/>
                      <a:r>
                        <a:rPr sz="14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400" b="0" i="0" lang="he-IL">
                          <a:solidFill>
                            <a:srgbClr val="0A1A33"/>
                          </a:solidFill>
                          <a:latin typeface="Rubik"/>
                          <a:ea typeface="Rubik"/>
                          <a:cs typeface="Rubik"/>
                        </a:rPr>
                        <a:t>‎02_call_summary.txt‎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283464">
                <a:tc>
                  <a:txBody>
                    <a:bodyPr wrap="square"/>
                    <a:lstStyle/>
                    <a:p>
                      <a:pPr rtl="0" algn="l"/>
                      <a:r>
                        <a:rPr sz="14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0" i="0" lang="he-IL">
                          <a:solidFill>
                            <a:srgbClr val="0A1A33"/>
                          </a:solidFill>
                          <a:latin typeface="Rubik"/>
                          <a:ea typeface="Rubik"/>
                          <a:cs typeface="Rubik"/>
                        </a:rPr>
                        <a:t>‎03_income.txt‎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283464">
                <a:tc>
                  <a:txBody>
                    <a:bodyPr wrap="square"/>
                    <a:lstStyle/>
                    <a:p>
                      <a:pPr rtl="0" algn="l"/>
                      <a:r>
                        <a:rPr sz="14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400" b="0" i="0" lang="he-IL">
                          <a:solidFill>
                            <a:srgbClr val="0A1A33"/>
                          </a:solidFill>
                          <a:latin typeface="Rubik"/>
                          <a:ea typeface="Rubik"/>
                          <a:cs typeface="Rubik"/>
                        </a:rPr>
                        <a:t>‎04_liabilities.txt‎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283464">
                <a:tc>
                  <a:txBody>
                    <a:bodyPr wrap="square"/>
                    <a:lstStyle/>
                    <a:p>
                      <a:pPr rtl="0" algn="l"/>
                      <a:r>
                        <a:rPr sz="14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400" b="0" i="0" lang="he-IL">
                          <a:solidFill>
                            <a:srgbClr val="0A1A33"/>
                          </a:solidFill>
                          <a:latin typeface="Rubik"/>
                          <a:ea typeface="Rubik"/>
                          <a:cs typeface="Rubik"/>
                        </a:rPr>
                        <a:t>כפול ל־‎doc1.txt‎, לא הועתק</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18</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חילוץ נתונים עם מקורות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371600"/>
          <a:ext cx="11094413" cy="3218688"/>
        </p:xfrm>
        <a:graphic>
          <a:graphicData uri="http://schemas.openxmlformats.org/drawingml/2006/table">
            <a:tbl>
              <a:tblPr firstRow="1" bandRow="0" rtl="1">
                <a:tableStyleId>{5940675A-B579-460E-94D1-54222C63F5DA}</a:tableStyleId>
              </a:tblPr>
              <a:tblGrid>
                <a:gridCol w="2275777"/>
                <a:gridCol w="3034369"/>
                <a:gridCol w="2370601"/>
                <a:gridCol w="3413666"/>
              </a:tblGrid>
              <a:tr h="402336">
                <a:tc>
                  <a:txBody>
                    <a:bodyPr wrap="square"/>
                    <a:lstStyle/>
                    <a:p>
                      <a:pPr rtl="1" algn="r"/>
                      <a:r>
                        <a:rPr sz="1500" b="1" i="0" lang="he-IL">
                          <a:solidFill>
                            <a:srgbClr val="FFFFFF"/>
                          </a:solidFill>
                          <a:latin typeface="Rubik"/>
                          <a:ea typeface="Rubik"/>
                          <a:cs typeface="Rubik"/>
                        </a:rPr>
                        <a:t>נושא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500" b="1" i="0" lang="he-IL">
                          <a:solidFill>
                            <a:srgbClr val="FFFFFF"/>
                          </a:solidFill>
                          <a:latin typeface="Rubik"/>
                          <a:ea typeface="Rubik"/>
                          <a:cs typeface="Rubik"/>
                        </a:rPr>
                        <a:t>נתון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500" b="1" i="0" lang="he-IL">
                          <a:solidFill>
                            <a:srgbClr val="FFFFFF"/>
                          </a:solidFill>
                          <a:latin typeface="Rubik"/>
                          <a:ea typeface="Rubik"/>
                          <a:cs typeface="Rubik"/>
                        </a:rPr>
                        <a:t>קובץ 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500" b="1" i="0" lang="he-IL">
                          <a:solidFill>
                            <a:srgbClr val="FFFFFF"/>
                          </a:solidFill>
                          <a:latin typeface="Rubik"/>
                          <a:ea typeface="Rubik"/>
                          <a:cs typeface="Rubik"/>
                        </a:rPr>
                        <a:t>הערה לבדיקה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02336">
                <a:tc>
                  <a:txBody>
                    <a:bodyPr wrap="square"/>
                    <a:lstStyle/>
                    <a:p>
                      <a:pPr rtl="1" algn="r"/>
                      <a:r>
                        <a:rPr sz="1500" b="1" i="0" lang="he-IL">
                          <a:solidFill>
                            <a:srgbClr val="0A1A33"/>
                          </a:solidFill>
                          <a:latin typeface="Rubik"/>
                          <a:ea typeface="Rubik"/>
                          <a:cs typeface="Rubik"/>
                        </a:rPr>
                        <a:t>מחיר הנכס</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1,900,000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02336">
                <a:tc>
                  <a:txBody>
                    <a:bodyPr wrap="square"/>
                    <a:lstStyle/>
                    <a:p>
                      <a:pPr rtl="1" algn="r"/>
                      <a:r>
                        <a:rPr sz="1500" b="1" i="0" lang="he-IL">
                          <a:solidFill>
                            <a:srgbClr val="0A1A33"/>
                          </a:solidFill>
                          <a:latin typeface="Rubik"/>
                          <a:ea typeface="Rubik"/>
                          <a:cs typeface="Rubik"/>
                        </a:rPr>
                        <a:t>הון עצמי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700,000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02336">
                <a:tc>
                  <a:txBody>
                    <a:bodyPr wrap="square"/>
                    <a:lstStyle/>
                    <a:p>
                      <a:pPr rtl="1" algn="r"/>
                      <a:r>
                        <a:rPr sz="15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1,200,000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סותר את סיכום השיחה.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02336">
                <a:tc>
                  <a:txBody>
                    <a:bodyPr wrap="square"/>
                    <a:lstStyle/>
                    <a:p>
                      <a:pPr rtl="1" algn="r"/>
                      <a:r>
                        <a:rPr sz="15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1,300,000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‎02_call_summary‎</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סותר את השאלון.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02336">
                <a:tc>
                  <a:txBody>
                    <a:bodyPr wrap="square"/>
                    <a:lstStyle/>
                    <a:p>
                      <a:pPr rtl="1" algn="r"/>
                      <a:r>
                        <a:rPr sz="1500" b="1" i="0" lang="he-IL">
                          <a:solidFill>
                            <a:srgbClr val="0A1A33"/>
                          </a:solidFill>
                          <a:latin typeface="Rubik"/>
                          <a:ea typeface="Rubik"/>
                          <a:cs typeface="Rubik"/>
                        </a:rPr>
                        <a:t>הכנסה חודשית נטו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14,500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‎03_income‎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לאמת מול תלושים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02336">
                <a:tc>
                  <a:txBody>
                    <a:bodyPr wrap="square"/>
                    <a:lstStyle/>
                    <a:p>
                      <a:pPr rtl="1" algn="r"/>
                      <a:r>
                        <a:rPr sz="1500" b="1" i="0" lang="he-IL">
                          <a:solidFill>
                            <a:srgbClr val="0A1A33"/>
                          </a:solidFill>
                          <a:latin typeface="Rubik"/>
                          <a:ea typeface="Rubik"/>
                          <a:cs typeface="Rubik"/>
                        </a:rPr>
                        <a:t>הלוואת רכב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יתרה 38,000 ₪, החזר 1,150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‎04_liabilities‎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02336">
                <a:tc>
                  <a:txBody>
                    <a:bodyPr wrap="square"/>
                    <a:lstStyle/>
                    <a:p>
                      <a:pPr rtl="1" algn="r"/>
                      <a:r>
                        <a:rPr sz="1500" b="1" i="0" lang="he-IL">
                          <a:solidFill>
                            <a:srgbClr val="0A1A33"/>
                          </a:solidFill>
                          <a:latin typeface="Rubik"/>
                          <a:ea typeface="Rubik"/>
                          <a:cs typeface="Rubik"/>
                        </a:rPr>
                        <a:t>דפי עו״ש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500" b="0" i="0" lang="he-IL">
                          <a:solidFill>
                            <a:srgbClr val="0A1A33"/>
                          </a:solidFill>
                          <a:latin typeface="Rubik"/>
                          <a:ea typeface="Rubik"/>
                          <a:cs typeface="Rubik"/>
                        </a:rPr>
                        <a:t>לא נמצא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5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500" b="0" i="0" lang="he-IL">
                          <a:solidFill>
                            <a:srgbClr val="0A1A33"/>
                          </a:solidFill>
                          <a:latin typeface="Rubik"/>
                          <a:ea typeface="Rubik"/>
                          <a:cs typeface="Rubik"/>
                        </a:rPr>
                        <a:t>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548640" y="4800600"/>
            <a:ext cx="11094415" cy="114300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4800600"/>
            <a:ext cx="73152" cy="1143000"/>
          </a:xfrm>
          <a:prstGeom prst="rect">
            <a:avLst/>
          </a:prstGeom>
          <a:solidFill>
            <a:srgbClr val="64CAAD"/>
          </a:solidFill>
          <a:ln>
            <a:noFill/>
          </a:ln>
          <a:effectLst/>
        </p:spPr>
        <p:txBody>
          <a:bodyPr rtlCol="0" anchor="ctr"/>
          <a:lstStyle/>
          <a:p>
            <a:pPr algn="ctr"/>
          </a:p>
        </p:txBody>
      </p:sp>
      <p:sp>
        <p:nvSpPr>
          <p:cNvPr id="9" name="TextBox 8"/>
          <p:cNvSpPr txBox="1"/>
          <p:nvPr/>
        </p:nvSpPr>
        <p:spPr>
          <a:xfrm>
            <a:off x="731520" y="49103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731520" y="5239512"/>
            <a:ext cx="10682935" cy="640080"/>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0A1A33"/>
                </a:solidFill>
                <a:latin typeface="Rubik"/>
                <a:ea typeface="Rubik"/>
                <a:cs typeface="Rubik"/>
              </a:rPr>
              <a:t>חלץ את הנתונים מהקבצים ב־‎02_organized‎ לטבלה: נושא, נתון, קובץ מקור, הערה. הפרד בין מה שנמצא למה שחסר. שמור כ־‎03_reports/data_summary.md‎.</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19</a:t>
            </a:r>
            <a:r>
              <a:rPr sz="1200" b="0" i="0" lang="he-IL">
                <a:solidFill>
                  <a:srgbClr val="8D9299"/>
                </a:solidFill>
                <a:latin typeface="Rubik"/>
                <a:ea typeface="Rubik"/>
                <a:cs typeface="Rubik"/>
              </a:rPr>
              <a:t>  |  Claude Code ליועצי משכנתאות</a:t>
            </a:r>
          </a:p>
        </p:txBody>
      </p:sp>
      <p:pic>
        <p:nvPicPr>
          <p:cNvPr id="12" name="Picture 1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מסמכים חסרים ונתונים סותרים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6522415" y="1554480"/>
            <a:ext cx="5120640" cy="2194560"/>
          </a:xfrm>
          <a:prstGeom prst="roundRect">
            <a:avLst>
              <a:gd name="adj" fmla="val 6000"/>
            </a:avLst>
          </a:prstGeom>
          <a:solidFill>
            <a:srgbClr val="142A4D"/>
          </a:solidFill>
          <a:ln>
            <a:noFill/>
          </a:ln>
          <a:effectLst/>
        </p:spPr>
        <p:txBody>
          <a:bodyPr rtlCol="0" anchor="ctr"/>
          <a:lstStyle/>
          <a:p>
            <a:pPr algn="ctr"/>
          </a:p>
        </p:txBody>
      </p:sp>
      <p:sp>
        <p:nvSpPr>
          <p:cNvPr id="6" name="TextBox 5"/>
          <p:cNvSpPr txBox="1"/>
          <p:nvPr/>
        </p:nvSpPr>
        <p:spPr>
          <a:xfrm>
            <a:off x="6796735" y="1691640"/>
            <a:ext cx="4572000" cy="41148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D4D6D8"/>
                </a:solidFill>
                <a:latin typeface="Rubik"/>
                <a:ea typeface="Rubik"/>
                <a:cs typeface="Rubik"/>
              </a:rPr>
              <a:t>סכום מבוקש לפי שאלון לקוח</a:t>
            </a:r>
          </a:p>
        </p:txBody>
      </p:sp>
      <p:sp>
        <p:nvSpPr>
          <p:cNvPr id="7" name="TextBox 6"/>
          <p:cNvSpPr txBox="1"/>
          <p:nvPr/>
        </p:nvSpPr>
        <p:spPr>
          <a:xfrm>
            <a:off x="6796735" y="2148840"/>
            <a:ext cx="4572000" cy="868680"/>
          </a:xfrm>
          <a:prstGeom prst="rect">
            <a:avLst/>
          </a:prstGeom>
          <a:noFill/>
        </p:spPr>
        <p:txBody>
          <a:bodyPr wrap="square" lIns="73152" rIns="73152" tIns="54864" bIns="54864" anchor="t">
            <a:noAutofit/>
          </a:bodyPr>
          <a:lstStyle/>
          <a:p>
            <a:pPr rtl="1" algn="r">
              <a:lnSpc>
                <a:spcPct val="110000"/>
              </a:lnSpc>
              <a:spcAft>
                <a:spcPts val="600"/>
              </a:spcAft>
            </a:pPr>
            <a:r>
              <a:rPr sz="5000" b="1" i="0" lang="he-IL">
                <a:solidFill>
                  <a:srgbClr val="64CAAD"/>
                </a:solidFill>
                <a:latin typeface="Rubik"/>
                <a:ea typeface="Rubik"/>
                <a:cs typeface="Rubik"/>
              </a:rPr>
              <a:t>1,200,000 ₪</a:t>
            </a:r>
          </a:p>
        </p:txBody>
      </p:sp>
      <p:sp>
        <p:nvSpPr>
          <p:cNvPr id="8" name="TextBox 7"/>
          <p:cNvSpPr txBox="1"/>
          <p:nvPr/>
        </p:nvSpPr>
        <p:spPr>
          <a:xfrm>
            <a:off x="6796735" y="3108960"/>
            <a:ext cx="4572000" cy="411480"/>
          </a:xfrm>
          <a:prstGeom prst="rect">
            <a:avLst/>
          </a:prstGeom>
          <a:noFill/>
        </p:spPr>
        <p:txBody>
          <a:bodyPr wrap="square" lIns="73152" rIns="73152" tIns="54864" bIns="54864" anchor="t">
            <a:noAutofit/>
          </a:bodyPr>
          <a:lstStyle/>
          <a:p>
            <a:pPr rtl="0" algn="r">
              <a:lnSpc>
                <a:spcPct val="110000"/>
              </a:lnSpc>
              <a:spcAft>
                <a:spcPts val="600"/>
              </a:spcAft>
            </a:pPr>
            <a:r>
              <a:rPr sz="1400" b="0" i="0" lang="en-US">
                <a:solidFill>
                  <a:srgbClr val="D4D6D8"/>
                </a:solidFill>
                <a:latin typeface="Consolas"/>
                <a:ea typeface="Consolas"/>
                <a:cs typeface="Rubik"/>
              </a:rPr>
              <a:t>01_questionnaire.txt</a:t>
            </a:r>
          </a:p>
        </p:txBody>
      </p:sp>
      <p:sp>
        <p:nvSpPr>
          <p:cNvPr id="9" name="Rounded Rectangle 8"/>
          <p:cNvSpPr/>
          <p:nvPr/>
        </p:nvSpPr>
        <p:spPr>
          <a:xfrm>
            <a:off x="551383" y="1554480"/>
            <a:ext cx="5120640" cy="2194560"/>
          </a:xfrm>
          <a:prstGeom prst="roundRect">
            <a:avLst>
              <a:gd name="adj" fmla="val 6000"/>
            </a:avLst>
          </a:prstGeom>
          <a:solidFill>
            <a:srgbClr val="142A4D"/>
          </a:solidFill>
          <a:ln>
            <a:noFill/>
          </a:ln>
          <a:effectLst/>
        </p:spPr>
        <p:txBody>
          <a:bodyPr rtlCol="0" anchor="ctr"/>
          <a:lstStyle/>
          <a:p>
            <a:pPr algn="ctr"/>
          </a:p>
        </p:txBody>
      </p:sp>
      <p:sp>
        <p:nvSpPr>
          <p:cNvPr id="10" name="TextBox 9"/>
          <p:cNvSpPr txBox="1"/>
          <p:nvPr/>
        </p:nvSpPr>
        <p:spPr>
          <a:xfrm>
            <a:off x="825703" y="1691640"/>
            <a:ext cx="4572000" cy="41148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D4D6D8"/>
                </a:solidFill>
                <a:latin typeface="Rubik"/>
                <a:ea typeface="Rubik"/>
                <a:cs typeface="Rubik"/>
              </a:rPr>
              <a:t>סכום מבוקש לפי סיכום שיחה</a:t>
            </a:r>
          </a:p>
        </p:txBody>
      </p:sp>
      <p:sp>
        <p:nvSpPr>
          <p:cNvPr id="11" name="TextBox 10"/>
          <p:cNvSpPr txBox="1"/>
          <p:nvPr/>
        </p:nvSpPr>
        <p:spPr>
          <a:xfrm>
            <a:off x="825703" y="2148840"/>
            <a:ext cx="4572000" cy="868680"/>
          </a:xfrm>
          <a:prstGeom prst="rect">
            <a:avLst/>
          </a:prstGeom>
          <a:noFill/>
        </p:spPr>
        <p:txBody>
          <a:bodyPr wrap="square" lIns="73152" rIns="73152" tIns="54864" bIns="54864" anchor="t">
            <a:noAutofit/>
          </a:bodyPr>
          <a:lstStyle/>
          <a:p>
            <a:pPr rtl="1" algn="r">
              <a:lnSpc>
                <a:spcPct val="110000"/>
              </a:lnSpc>
              <a:spcAft>
                <a:spcPts val="600"/>
              </a:spcAft>
            </a:pPr>
            <a:r>
              <a:rPr sz="5000" b="1" i="0" lang="he-IL">
                <a:solidFill>
                  <a:srgbClr val="64CAAD"/>
                </a:solidFill>
                <a:latin typeface="Rubik"/>
                <a:ea typeface="Rubik"/>
                <a:cs typeface="Rubik"/>
              </a:rPr>
              <a:t>1,300,000 ₪</a:t>
            </a:r>
          </a:p>
        </p:txBody>
      </p:sp>
      <p:sp>
        <p:nvSpPr>
          <p:cNvPr id="12" name="TextBox 11"/>
          <p:cNvSpPr txBox="1"/>
          <p:nvPr/>
        </p:nvSpPr>
        <p:spPr>
          <a:xfrm>
            <a:off x="825703" y="3108960"/>
            <a:ext cx="4572000" cy="411480"/>
          </a:xfrm>
          <a:prstGeom prst="rect">
            <a:avLst/>
          </a:prstGeom>
          <a:noFill/>
        </p:spPr>
        <p:txBody>
          <a:bodyPr wrap="square" lIns="73152" rIns="73152" tIns="54864" bIns="54864" anchor="t">
            <a:noAutofit/>
          </a:bodyPr>
          <a:lstStyle/>
          <a:p>
            <a:pPr rtl="0" algn="r">
              <a:lnSpc>
                <a:spcPct val="110000"/>
              </a:lnSpc>
              <a:spcAft>
                <a:spcPts val="600"/>
              </a:spcAft>
            </a:pPr>
            <a:r>
              <a:rPr sz="1400" b="0" i="0" lang="en-US">
                <a:solidFill>
                  <a:srgbClr val="D4D6D8"/>
                </a:solidFill>
                <a:latin typeface="Consolas"/>
                <a:ea typeface="Consolas"/>
                <a:cs typeface="Rubik"/>
              </a:rPr>
              <a:t>02_call_summary.txt</a:t>
            </a:r>
          </a:p>
        </p:txBody>
      </p:sp>
      <p:sp>
        <p:nvSpPr>
          <p:cNvPr id="13" name="Rounded Rectangle 12"/>
          <p:cNvSpPr/>
          <p:nvPr/>
        </p:nvSpPr>
        <p:spPr>
          <a:xfrm>
            <a:off x="5410047" y="2423160"/>
            <a:ext cx="1371600" cy="457200"/>
          </a:xfrm>
          <a:prstGeom prst="roundRect">
            <a:avLst>
              <a:gd name="adj" fmla="val 50000"/>
            </a:avLst>
          </a:prstGeom>
          <a:solidFill>
            <a:srgbClr val="E0A72E"/>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לבירור</a:t>
            </a:r>
          </a:p>
        </p:txBody>
      </p:sp>
      <p:sp>
        <p:nvSpPr>
          <p:cNvPr id="14" name="TextBox 13"/>
          <p:cNvSpPr txBox="1"/>
          <p:nvPr/>
        </p:nvSpPr>
        <p:spPr>
          <a:xfrm>
            <a:off x="548640" y="40233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FFFFFF"/>
                </a:solidFill>
                <a:latin typeface="Rubik"/>
                <a:ea typeface="Rubik"/>
                <a:cs typeface="Rubik"/>
              </a:rPr>
              <a:t>הכלל: לא בוחרים מספר. מציגים את שני המקורות ומסמנים לבירור עם הלקוח.</a:t>
            </a:r>
          </a:p>
        </p:txBody>
      </p:sp>
      <p:sp>
        <p:nvSpPr>
          <p:cNvPr id="15" name="Rounded Rectangle 14"/>
          <p:cNvSpPr/>
          <p:nvPr/>
        </p:nvSpPr>
        <p:spPr>
          <a:xfrm>
            <a:off x="548640" y="4754880"/>
            <a:ext cx="11094415" cy="1097280"/>
          </a:xfrm>
          <a:prstGeom prst="roundRect">
            <a:avLst>
              <a:gd name="adj" fmla="val 6000"/>
            </a:avLst>
          </a:prstGeom>
          <a:solidFill>
            <a:srgbClr val="FFFFFF"/>
          </a:solidFill>
          <a:ln>
            <a:noFill/>
          </a:ln>
          <a:effectLst/>
        </p:spPr>
        <p:txBody>
          <a:bodyPr rtlCol="0" anchor="ctr"/>
          <a:lstStyle/>
          <a:p>
            <a:pPr algn="ctr"/>
          </a:p>
        </p:txBody>
      </p:sp>
      <p:sp>
        <p:nvSpPr>
          <p:cNvPr id="16" name="TextBox 15"/>
          <p:cNvSpPr txBox="1"/>
          <p:nvPr/>
        </p:nvSpPr>
        <p:spPr>
          <a:xfrm>
            <a:off x="822959" y="4754880"/>
            <a:ext cx="10545775" cy="1097280"/>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435FB5"/>
                </a:solidFill>
                <a:latin typeface="Rubik"/>
                <a:ea typeface="Rubik"/>
                <a:cs typeface="Rubik"/>
              </a:rPr>
              <a:t>מסמך חסר: </a:t>
            </a:r>
            <a:r>
              <a:rPr sz="1800" b="0" i="0" lang="he-IL">
                <a:solidFill>
                  <a:srgbClr val="0A1A33"/>
                </a:solidFill>
                <a:latin typeface="Rubik"/>
                <a:ea typeface="Rubik"/>
                <a:cs typeface="Rubik"/>
              </a:rPr>
              <a:t>דפי עו״ש. הם נזכרו בסיכום השיחה, אבל אין קובץ בתיק. הם נכנסים לרשימת החוסרים ולשאלות ללקוח.</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טיוטת התיק לקראת פנייה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8351215" y="1463040"/>
            <a:ext cx="3291840" cy="676656"/>
          </a:xfrm>
          <a:prstGeom prst="roundRect">
            <a:avLst>
              <a:gd name="adj" fmla="val 10000"/>
            </a:avLst>
          </a:prstGeom>
          <a:solidFill>
            <a:srgbClr val="F7F8F8"/>
          </a:solidFill>
          <a:ln>
            <a:noFill/>
          </a:ln>
          <a:effectLst/>
        </p:spPr>
        <p:txBody>
          <a:bodyPr rtlCol="0" anchor="ctr"/>
          <a:lstStyle/>
          <a:p>
            <a:pPr algn="ctr"/>
          </a:p>
        </p:txBody>
      </p:sp>
      <p:sp>
        <p:nvSpPr>
          <p:cNvPr id="7" name="Oval 6"/>
          <p:cNvSpPr/>
          <p:nvPr/>
        </p:nvSpPr>
        <p:spPr>
          <a:xfrm>
            <a:off x="11140135" y="160020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1</a:t>
            </a:r>
          </a:p>
        </p:txBody>
      </p:sp>
      <p:sp>
        <p:nvSpPr>
          <p:cNvPr id="8" name="TextBox 7"/>
          <p:cNvSpPr txBox="1"/>
          <p:nvPr/>
        </p:nvSpPr>
        <p:spPr>
          <a:xfrm>
            <a:off x="8460943" y="1481328"/>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פרטי התיק</a:t>
            </a:r>
          </a:p>
        </p:txBody>
      </p:sp>
      <p:sp>
        <p:nvSpPr>
          <p:cNvPr id="9" name="TextBox 8"/>
          <p:cNvSpPr txBox="1"/>
          <p:nvPr/>
        </p:nvSpPr>
        <p:spPr>
          <a:xfrm>
            <a:off x="8460943" y="1792224"/>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לקוח, תאריך, סטטוס: טיוטה</a:t>
            </a:r>
          </a:p>
        </p:txBody>
      </p:sp>
      <p:sp>
        <p:nvSpPr>
          <p:cNvPr id="10" name="Rounded Rectangle 9"/>
          <p:cNvSpPr/>
          <p:nvPr/>
        </p:nvSpPr>
        <p:spPr>
          <a:xfrm>
            <a:off x="8351215" y="2249424"/>
            <a:ext cx="3291840" cy="676656"/>
          </a:xfrm>
          <a:prstGeom prst="roundRect">
            <a:avLst>
              <a:gd name="adj" fmla="val 10000"/>
            </a:avLst>
          </a:prstGeom>
          <a:solidFill>
            <a:srgbClr val="F7F8F8"/>
          </a:solidFill>
          <a:ln>
            <a:noFill/>
          </a:ln>
          <a:effectLst/>
        </p:spPr>
        <p:txBody>
          <a:bodyPr rtlCol="0" anchor="ctr"/>
          <a:lstStyle/>
          <a:p>
            <a:pPr algn="ctr"/>
          </a:p>
        </p:txBody>
      </p:sp>
      <p:sp>
        <p:nvSpPr>
          <p:cNvPr id="11" name="Oval 10"/>
          <p:cNvSpPr/>
          <p:nvPr/>
        </p:nvSpPr>
        <p:spPr>
          <a:xfrm>
            <a:off x="11140135" y="2386584"/>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2</a:t>
            </a:r>
          </a:p>
        </p:txBody>
      </p:sp>
      <p:sp>
        <p:nvSpPr>
          <p:cNvPr id="12" name="TextBox 11"/>
          <p:cNvSpPr txBox="1"/>
          <p:nvPr/>
        </p:nvSpPr>
        <p:spPr>
          <a:xfrm>
            <a:off x="8460943" y="2267712"/>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מטרת הפנייה</a:t>
            </a:r>
          </a:p>
        </p:txBody>
      </p:sp>
      <p:sp>
        <p:nvSpPr>
          <p:cNvPr id="13" name="TextBox 12"/>
          <p:cNvSpPr txBox="1"/>
          <p:nvPr/>
        </p:nvSpPr>
        <p:spPr>
          <a:xfrm>
            <a:off x="8460943" y="2578608"/>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רכישת דירה</a:t>
            </a:r>
          </a:p>
        </p:txBody>
      </p:sp>
      <p:sp>
        <p:nvSpPr>
          <p:cNvPr id="14" name="Rounded Rectangle 13"/>
          <p:cNvSpPr/>
          <p:nvPr/>
        </p:nvSpPr>
        <p:spPr>
          <a:xfrm>
            <a:off x="8351215" y="3035808"/>
            <a:ext cx="3291840" cy="676656"/>
          </a:xfrm>
          <a:prstGeom prst="roundRect">
            <a:avLst>
              <a:gd name="adj" fmla="val 10000"/>
            </a:avLst>
          </a:prstGeom>
          <a:solidFill>
            <a:srgbClr val="F7F8F8"/>
          </a:solidFill>
          <a:ln>
            <a:noFill/>
          </a:ln>
          <a:effectLst/>
        </p:spPr>
        <p:txBody>
          <a:bodyPr rtlCol="0" anchor="ctr"/>
          <a:lstStyle/>
          <a:p>
            <a:pPr algn="ctr"/>
          </a:p>
        </p:txBody>
      </p:sp>
      <p:sp>
        <p:nvSpPr>
          <p:cNvPr id="15" name="Oval 14"/>
          <p:cNvSpPr/>
          <p:nvPr/>
        </p:nvSpPr>
        <p:spPr>
          <a:xfrm>
            <a:off x="11140135" y="3172968"/>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3</a:t>
            </a:r>
          </a:p>
        </p:txBody>
      </p:sp>
      <p:sp>
        <p:nvSpPr>
          <p:cNvPr id="16" name="TextBox 15"/>
          <p:cNvSpPr txBox="1"/>
          <p:nvPr/>
        </p:nvSpPr>
        <p:spPr>
          <a:xfrm>
            <a:off x="8460943" y="3054096"/>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נתונים</a:t>
            </a:r>
          </a:p>
        </p:txBody>
      </p:sp>
      <p:sp>
        <p:nvSpPr>
          <p:cNvPr id="17" name="TextBox 16"/>
          <p:cNvSpPr txBox="1"/>
          <p:nvPr/>
        </p:nvSpPr>
        <p:spPr>
          <a:xfrm>
            <a:off x="8460943" y="3364992"/>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טבלת הנתונים עם מקורות</a:t>
            </a:r>
          </a:p>
        </p:txBody>
      </p:sp>
      <p:sp>
        <p:nvSpPr>
          <p:cNvPr id="18" name="Rounded Rectangle 17"/>
          <p:cNvSpPr/>
          <p:nvPr/>
        </p:nvSpPr>
        <p:spPr>
          <a:xfrm>
            <a:off x="8351215" y="3822191"/>
            <a:ext cx="3291840" cy="676656"/>
          </a:xfrm>
          <a:prstGeom prst="roundRect">
            <a:avLst>
              <a:gd name="adj" fmla="val 10000"/>
            </a:avLst>
          </a:prstGeom>
          <a:solidFill>
            <a:srgbClr val="F7F8F8"/>
          </a:solidFill>
          <a:ln>
            <a:noFill/>
          </a:ln>
          <a:effectLst/>
        </p:spPr>
        <p:txBody>
          <a:bodyPr rtlCol="0" anchor="ctr"/>
          <a:lstStyle/>
          <a:p>
            <a:pPr algn="ctr"/>
          </a:p>
        </p:txBody>
      </p:sp>
      <p:sp>
        <p:nvSpPr>
          <p:cNvPr id="19" name="Oval 18"/>
          <p:cNvSpPr/>
          <p:nvPr/>
        </p:nvSpPr>
        <p:spPr>
          <a:xfrm>
            <a:off x="11140135" y="3959352"/>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4</a:t>
            </a:r>
          </a:p>
        </p:txBody>
      </p:sp>
      <p:sp>
        <p:nvSpPr>
          <p:cNvPr id="20" name="TextBox 19"/>
          <p:cNvSpPr txBox="1"/>
          <p:nvPr/>
        </p:nvSpPr>
        <p:spPr>
          <a:xfrm>
            <a:off x="8460943" y="3840479"/>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מסמכים</a:t>
            </a:r>
          </a:p>
        </p:txBody>
      </p:sp>
      <p:sp>
        <p:nvSpPr>
          <p:cNvPr id="21" name="TextBox 20"/>
          <p:cNvSpPr txBox="1"/>
          <p:nvPr/>
        </p:nvSpPr>
        <p:spPr>
          <a:xfrm>
            <a:off x="8460943" y="4151376"/>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מה קיים בתיק</a:t>
            </a:r>
          </a:p>
        </p:txBody>
      </p:sp>
      <p:sp>
        <p:nvSpPr>
          <p:cNvPr id="22" name="Rounded Rectangle 21"/>
          <p:cNvSpPr/>
          <p:nvPr/>
        </p:nvSpPr>
        <p:spPr>
          <a:xfrm>
            <a:off x="4922215" y="1463040"/>
            <a:ext cx="3291840" cy="676656"/>
          </a:xfrm>
          <a:prstGeom prst="roundRect">
            <a:avLst>
              <a:gd name="adj" fmla="val 10000"/>
            </a:avLst>
          </a:prstGeom>
          <a:solidFill>
            <a:srgbClr val="F7F8F8"/>
          </a:solidFill>
          <a:ln>
            <a:noFill/>
          </a:ln>
          <a:effectLst/>
        </p:spPr>
        <p:txBody>
          <a:bodyPr rtlCol="0" anchor="ctr"/>
          <a:lstStyle/>
          <a:p>
            <a:pPr algn="ctr"/>
          </a:p>
        </p:txBody>
      </p:sp>
      <p:sp>
        <p:nvSpPr>
          <p:cNvPr id="23" name="Oval 22"/>
          <p:cNvSpPr/>
          <p:nvPr/>
        </p:nvSpPr>
        <p:spPr>
          <a:xfrm>
            <a:off x="7711135" y="160020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5</a:t>
            </a:r>
          </a:p>
        </p:txBody>
      </p:sp>
      <p:sp>
        <p:nvSpPr>
          <p:cNvPr id="24" name="TextBox 23"/>
          <p:cNvSpPr txBox="1"/>
          <p:nvPr/>
        </p:nvSpPr>
        <p:spPr>
          <a:xfrm>
            <a:off x="5031943" y="1481328"/>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חוסרים</a:t>
            </a:r>
          </a:p>
        </p:txBody>
      </p:sp>
      <p:sp>
        <p:nvSpPr>
          <p:cNvPr id="25" name="TextBox 24"/>
          <p:cNvSpPr txBox="1"/>
          <p:nvPr/>
        </p:nvSpPr>
        <p:spPr>
          <a:xfrm>
            <a:off x="5031943" y="1792224"/>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דפי עו״ש</a:t>
            </a:r>
          </a:p>
        </p:txBody>
      </p:sp>
      <p:sp>
        <p:nvSpPr>
          <p:cNvPr id="26" name="Rounded Rectangle 25"/>
          <p:cNvSpPr/>
          <p:nvPr/>
        </p:nvSpPr>
        <p:spPr>
          <a:xfrm>
            <a:off x="4922215" y="2249424"/>
            <a:ext cx="3291840" cy="676656"/>
          </a:xfrm>
          <a:prstGeom prst="roundRect">
            <a:avLst>
              <a:gd name="adj" fmla="val 10000"/>
            </a:avLst>
          </a:prstGeom>
          <a:solidFill>
            <a:srgbClr val="F7F8F8"/>
          </a:solidFill>
          <a:ln>
            <a:noFill/>
          </a:ln>
          <a:effectLst/>
        </p:spPr>
        <p:txBody>
          <a:bodyPr rtlCol="0" anchor="ctr"/>
          <a:lstStyle/>
          <a:p>
            <a:pPr algn="ctr"/>
          </a:p>
        </p:txBody>
      </p:sp>
      <p:sp>
        <p:nvSpPr>
          <p:cNvPr id="27" name="Oval 26"/>
          <p:cNvSpPr/>
          <p:nvPr/>
        </p:nvSpPr>
        <p:spPr>
          <a:xfrm>
            <a:off x="7711135" y="2386584"/>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6</a:t>
            </a:r>
          </a:p>
        </p:txBody>
      </p:sp>
      <p:sp>
        <p:nvSpPr>
          <p:cNvPr id="28" name="TextBox 27"/>
          <p:cNvSpPr txBox="1"/>
          <p:nvPr/>
        </p:nvSpPr>
        <p:spPr>
          <a:xfrm>
            <a:off x="5031943" y="2267712"/>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שאלות לבירור</a:t>
            </a:r>
          </a:p>
        </p:txBody>
      </p:sp>
      <p:sp>
        <p:nvSpPr>
          <p:cNvPr id="29" name="TextBox 28"/>
          <p:cNvSpPr txBox="1"/>
          <p:nvPr/>
        </p:nvSpPr>
        <p:spPr>
          <a:xfrm>
            <a:off x="5031943" y="2578608"/>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מהו הסכום המבוקש?</a:t>
            </a:r>
          </a:p>
        </p:txBody>
      </p:sp>
      <p:sp>
        <p:nvSpPr>
          <p:cNvPr id="30" name="Rounded Rectangle 29"/>
          <p:cNvSpPr/>
          <p:nvPr/>
        </p:nvSpPr>
        <p:spPr>
          <a:xfrm>
            <a:off x="4922215" y="3035808"/>
            <a:ext cx="3291840" cy="676656"/>
          </a:xfrm>
          <a:prstGeom prst="roundRect">
            <a:avLst>
              <a:gd name="adj" fmla="val 10000"/>
            </a:avLst>
          </a:prstGeom>
          <a:solidFill>
            <a:srgbClr val="F7F8F8"/>
          </a:solidFill>
          <a:ln>
            <a:noFill/>
          </a:ln>
          <a:effectLst/>
        </p:spPr>
        <p:txBody>
          <a:bodyPr rtlCol="0" anchor="ctr"/>
          <a:lstStyle/>
          <a:p>
            <a:pPr algn="ctr"/>
          </a:p>
        </p:txBody>
      </p:sp>
      <p:sp>
        <p:nvSpPr>
          <p:cNvPr id="31" name="Oval 30"/>
          <p:cNvSpPr/>
          <p:nvPr/>
        </p:nvSpPr>
        <p:spPr>
          <a:xfrm>
            <a:off x="7711135" y="3172968"/>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7</a:t>
            </a:r>
          </a:p>
        </p:txBody>
      </p:sp>
      <p:sp>
        <p:nvSpPr>
          <p:cNvPr id="32" name="TextBox 31"/>
          <p:cNvSpPr txBox="1"/>
          <p:nvPr/>
        </p:nvSpPr>
        <p:spPr>
          <a:xfrm>
            <a:off x="5031943" y="3054096"/>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700" b="1" i="0" lang="he-IL">
                <a:solidFill>
                  <a:srgbClr val="0A1A33"/>
                </a:solidFill>
                <a:latin typeface="Rubik"/>
                <a:ea typeface="Rubik"/>
                <a:cs typeface="Rubik"/>
              </a:rPr>
              <a:t>מקורות</a:t>
            </a:r>
          </a:p>
        </p:txBody>
      </p:sp>
      <p:sp>
        <p:nvSpPr>
          <p:cNvPr id="33" name="TextBox 32"/>
          <p:cNvSpPr txBox="1"/>
          <p:nvPr/>
        </p:nvSpPr>
        <p:spPr>
          <a:xfrm>
            <a:off x="5031943" y="3364992"/>
            <a:ext cx="2651760" cy="329184"/>
          </a:xfrm>
          <a:prstGeom prst="rect">
            <a:avLst/>
          </a:prstGeom>
          <a:noFill/>
        </p:spPr>
        <p:txBody>
          <a:bodyPr wrap="square" lIns="73152" rIns="73152" tIns="54864" bIns="54864" anchor="t">
            <a:noAutofit/>
          </a:bodyPr>
          <a:lstStyle/>
          <a:p>
            <a:pPr rtl="1" algn="r">
              <a:lnSpc>
                <a:spcPct val="110000"/>
              </a:lnSpc>
              <a:spcAft>
                <a:spcPts val="600"/>
              </a:spcAft>
            </a:pPr>
            <a:r>
              <a:rPr sz="1400" b="0" i="0" lang="he-IL">
                <a:solidFill>
                  <a:srgbClr val="4C5058"/>
                </a:solidFill>
                <a:latin typeface="Rubik"/>
                <a:ea typeface="Rubik"/>
                <a:cs typeface="Rubik"/>
              </a:rPr>
              <a:t>רשימת הקבצים שנקראו</a:t>
            </a:r>
          </a:p>
        </p:txBody>
      </p:sp>
      <p:sp>
        <p:nvSpPr>
          <p:cNvPr id="34" name="Rounded Rectangle 33"/>
          <p:cNvSpPr/>
          <p:nvPr/>
        </p:nvSpPr>
        <p:spPr>
          <a:xfrm>
            <a:off x="548640" y="1463040"/>
            <a:ext cx="4206240" cy="3017520"/>
          </a:xfrm>
          <a:prstGeom prst="roundRect">
            <a:avLst>
              <a:gd name="adj" fmla="val 5000"/>
            </a:avLst>
          </a:prstGeom>
          <a:solidFill>
            <a:srgbClr val="E8FBF7"/>
          </a:solidFill>
          <a:ln>
            <a:noFill/>
          </a:ln>
          <a:effectLst/>
        </p:spPr>
        <p:txBody>
          <a:bodyPr rtlCol="0" anchor="ctr"/>
          <a:lstStyle/>
          <a:p>
            <a:pPr algn="ctr"/>
          </a:p>
        </p:txBody>
      </p:sp>
      <p:sp>
        <p:nvSpPr>
          <p:cNvPr id="35" name="Rectangle 34"/>
          <p:cNvSpPr/>
          <p:nvPr/>
        </p:nvSpPr>
        <p:spPr>
          <a:xfrm>
            <a:off x="4681727" y="1463040"/>
            <a:ext cx="73152" cy="3017520"/>
          </a:xfrm>
          <a:prstGeom prst="rect">
            <a:avLst/>
          </a:prstGeom>
          <a:solidFill>
            <a:srgbClr val="64CAAD"/>
          </a:solidFill>
          <a:ln>
            <a:noFill/>
          </a:ln>
          <a:effectLst/>
        </p:spPr>
        <p:txBody>
          <a:bodyPr rtlCol="0" anchor="ctr"/>
          <a:lstStyle/>
          <a:p>
            <a:pPr algn="ctr"/>
          </a:p>
        </p:txBody>
      </p:sp>
      <p:sp>
        <p:nvSpPr>
          <p:cNvPr id="36" name="TextBox 35"/>
          <p:cNvSpPr txBox="1"/>
          <p:nvPr/>
        </p:nvSpPr>
        <p:spPr>
          <a:xfrm>
            <a:off x="731520" y="1572768"/>
            <a:ext cx="379475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37" name="TextBox 36"/>
          <p:cNvSpPr txBox="1"/>
          <p:nvPr/>
        </p:nvSpPr>
        <p:spPr>
          <a:xfrm>
            <a:off x="731520" y="1901952"/>
            <a:ext cx="3794759" cy="2514600"/>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0A1A33"/>
                </a:solidFill>
                <a:latin typeface="Rubik"/>
                <a:ea typeface="Rubik"/>
                <a:cs typeface="Rubik"/>
              </a:rPr>
              <a:t>הכן טיוטה לקראת פנייה לבנק לפי שבעת החלקים שבשקף. השתמש רק במידע מ־‎03_reports/data_summary.md‎. בראש הקובץ כתוב: „טיוטה לבדיקת היועץ”. שמור כ־‎03_reports/draft.md‎.</a:t>
            </a:r>
          </a:p>
        </p:txBody>
      </p:sp>
      <p:sp>
        <p:nvSpPr>
          <p:cNvPr id="38" name="Rounded Rectangle 37"/>
          <p:cNvSpPr/>
          <p:nvPr/>
        </p:nvSpPr>
        <p:spPr>
          <a:xfrm>
            <a:off x="548640" y="4800600"/>
            <a:ext cx="11094415" cy="1097280"/>
          </a:xfrm>
          <a:prstGeom prst="roundRect">
            <a:avLst>
              <a:gd name="adj" fmla="val 8000"/>
            </a:avLst>
          </a:prstGeom>
          <a:solidFill>
            <a:srgbClr val="EAF3FF"/>
          </a:solidFill>
          <a:ln>
            <a:noFill/>
          </a:ln>
          <a:effectLst/>
        </p:spPr>
        <p:txBody>
          <a:bodyPr rtlCol="0" anchor="ctr"/>
          <a:lstStyle/>
          <a:p>
            <a:pPr algn="ctr"/>
          </a:p>
        </p:txBody>
      </p:sp>
      <p:sp>
        <p:nvSpPr>
          <p:cNvPr id="39" name="TextBox 38"/>
          <p:cNvSpPr txBox="1"/>
          <p:nvPr/>
        </p:nvSpPr>
        <p:spPr>
          <a:xfrm>
            <a:off x="822959" y="4800600"/>
            <a:ext cx="10545775" cy="1097280"/>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435FB5"/>
                </a:solidFill>
                <a:latin typeface="Rubik"/>
                <a:ea typeface="Rubik"/>
                <a:cs typeface="Rubik"/>
              </a:rPr>
              <a:t>הטיוטה היא חומר עבודה של היועץ. </a:t>
            </a:r>
            <a:r>
              <a:rPr sz="1800" b="0" i="0" lang="he-IL">
                <a:solidFill>
                  <a:srgbClr val="0A1A33"/>
                </a:solidFill>
                <a:latin typeface="Rubik"/>
                <a:ea typeface="Rubik"/>
                <a:cs typeface="Rubik"/>
              </a:rPr>
              <a:t>היא לא אישור מקצועי ולא המלצת אשראי, ולא נשלחת לבנק אוטומטית. היועץ בודק אותה ומחליט מה לשלוח.</a:t>
            </a:r>
          </a:p>
        </p:txBody>
      </p:sp>
      <p:sp>
        <p:nvSpPr>
          <p:cNvPr id="40" name="TextBox 3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21</a:t>
            </a:r>
            <a:r>
              <a:rPr sz="1200" b="0" i="0" lang="he-IL">
                <a:solidFill>
                  <a:srgbClr val="8D9299"/>
                </a:solidFill>
                <a:latin typeface="Rubik"/>
                <a:ea typeface="Rubik"/>
                <a:cs typeface="Rubik"/>
              </a:rPr>
              <a:t>  |  Claude Code ליועצי משכנתאות</a:t>
            </a:r>
          </a:p>
        </p:txBody>
      </p:sp>
      <p:pic>
        <p:nvPicPr>
          <p:cNvPr id="41" name="Picture 4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הטיוטה ותיקון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11259007" y="1536192"/>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7" name="TextBox 6"/>
          <p:cNvSpPr txBox="1"/>
          <p:nvPr/>
        </p:nvSpPr>
        <p:spPr>
          <a:xfrm>
            <a:off x="6309360" y="1463040"/>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סכומים</a:t>
            </a:r>
          </a:p>
        </p:txBody>
      </p:sp>
      <p:sp>
        <p:nvSpPr>
          <p:cNvPr id="8" name="TextBox 7"/>
          <p:cNvSpPr txBox="1"/>
          <p:nvPr/>
        </p:nvSpPr>
        <p:spPr>
          <a:xfrm>
            <a:off x="6309360" y="1828800"/>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כל סכום בטיוטה זהה לסכום בקובץ המקור</a:t>
            </a:r>
          </a:p>
        </p:txBody>
      </p:sp>
      <p:sp>
        <p:nvSpPr>
          <p:cNvPr id="9" name="Rounded Rectangle 8"/>
          <p:cNvSpPr/>
          <p:nvPr/>
        </p:nvSpPr>
        <p:spPr>
          <a:xfrm>
            <a:off x="11259007" y="2322576"/>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0" name="TextBox 9"/>
          <p:cNvSpPr txBox="1"/>
          <p:nvPr/>
        </p:nvSpPr>
        <p:spPr>
          <a:xfrm>
            <a:off x="6309360" y="2249424"/>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תאריכים</a:t>
            </a:r>
          </a:p>
        </p:txBody>
      </p:sp>
      <p:sp>
        <p:nvSpPr>
          <p:cNvPr id="11" name="TextBox 10"/>
          <p:cNvSpPr txBox="1"/>
          <p:nvPr/>
        </p:nvSpPr>
        <p:spPr>
          <a:xfrm>
            <a:off x="6309360" y="2615184"/>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התאריך של סיכום השיחה: 12.10.2026</a:t>
            </a:r>
          </a:p>
        </p:txBody>
      </p:sp>
      <p:sp>
        <p:nvSpPr>
          <p:cNvPr id="12" name="Rounded Rectangle 11"/>
          <p:cNvSpPr/>
          <p:nvPr/>
        </p:nvSpPr>
        <p:spPr>
          <a:xfrm>
            <a:off x="11259007" y="3108960"/>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3" name="TextBox 12"/>
          <p:cNvSpPr txBox="1"/>
          <p:nvPr/>
        </p:nvSpPr>
        <p:spPr>
          <a:xfrm>
            <a:off x="6309360" y="3035808"/>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מקורות</a:t>
            </a:r>
          </a:p>
        </p:txBody>
      </p:sp>
      <p:sp>
        <p:nvSpPr>
          <p:cNvPr id="14" name="TextBox 13"/>
          <p:cNvSpPr txBox="1"/>
          <p:nvPr/>
        </p:nvSpPr>
        <p:spPr>
          <a:xfrm>
            <a:off x="6309360" y="3401568"/>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לכל נתון יש קובץ מקור, והקובץ קיים</a:t>
            </a:r>
          </a:p>
        </p:txBody>
      </p:sp>
      <p:sp>
        <p:nvSpPr>
          <p:cNvPr id="15" name="Rounded Rectangle 14"/>
          <p:cNvSpPr/>
          <p:nvPr/>
        </p:nvSpPr>
        <p:spPr>
          <a:xfrm>
            <a:off x="11259007" y="3895344"/>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6" name="TextBox 15"/>
          <p:cNvSpPr txBox="1"/>
          <p:nvPr/>
        </p:nvSpPr>
        <p:spPr>
          <a:xfrm>
            <a:off x="6309360" y="3822191"/>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חוסרים ושאלות</a:t>
            </a:r>
          </a:p>
        </p:txBody>
      </p:sp>
      <p:sp>
        <p:nvSpPr>
          <p:cNvPr id="17" name="TextBox 16"/>
          <p:cNvSpPr txBox="1"/>
          <p:nvPr/>
        </p:nvSpPr>
        <p:spPr>
          <a:xfrm>
            <a:off x="6309360" y="4187952"/>
            <a:ext cx="4830775" cy="3657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דפי העו״ש ברשימת החוסרים, והסתירה בשאלות</a:t>
            </a:r>
          </a:p>
        </p:txBody>
      </p:sp>
      <p:sp>
        <p:nvSpPr>
          <p:cNvPr id="18" name="Rounded Rectangle 17"/>
          <p:cNvSpPr/>
          <p:nvPr/>
        </p:nvSpPr>
        <p:spPr>
          <a:xfrm>
            <a:off x="548640" y="1463040"/>
            <a:ext cx="5394960" cy="160020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5870448" y="1463040"/>
            <a:ext cx="73152" cy="160020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1572768"/>
            <a:ext cx="498348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1: בדיקה</a:t>
            </a:r>
          </a:p>
        </p:txBody>
      </p:sp>
      <p:sp>
        <p:nvSpPr>
          <p:cNvPr id="21" name="TextBox 20"/>
          <p:cNvSpPr txBox="1"/>
          <p:nvPr/>
        </p:nvSpPr>
        <p:spPr>
          <a:xfrm>
            <a:off x="731520" y="1901952"/>
            <a:ext cx="4983480" cy="1097280"/>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0A1A33"/>
                </a:solidFill>
                <a:latin typeface="Rubik"/>
                <a:ea typeface="Rubik"/>
                <a:cs typeface="Rubik"/>
              </a:rPr>
              <a:t>בדוק שכל סכום ותאריך בטיוטה מופיע בקובץ המקור שצוין. תקן מה שלא תואם, ופרט בסוף התשובה מה שינית.</a:t>
            </a:r>
          </a:p>
        </p:txBody>
      </p:sp>
      <p:sp>
        <p:nvSpPr>
          <p:cNvPr id="22" name="Rounded Rectangle 21"/>
          <p:cNvSpPr/>
          <p:nvPr/>
        </p:nvSpPr>
        <p:spPr>
          <a:xfrm>
            <a:off x="548640" y="3200400"/>
            <a:ext cx="5394960" cy="1600200"/>
          </a:xfrm>
          <a:prstGeom prst="roundRect">
            <a:avLst>
              <a:gd name="adj" fmla="val 5000"/>
            </a:avLst>
          </a:prstGeom>
          <a:solidFill>
            <a:srgbClr val="E8FBF7"/>
          </a:solidFill>
          <a:ln>
            <a:noFill/>
          </a:ln>
          <a:effectLst/>
        </p:spPr>
        <p:txBody>
          <a:bodyPr rtlCol="0" anchor="ctr"/>
          <a:lstStyle/>
          <a:p>
            <a:pPr algn="ctr"/>
          </a:p>
        </p:txBody>
      </p:sp>
      <p:sp>
        <p:nvSpPr>
          <p:cNvPr id="23" name="Rectangle 22"/>
          <p:cNvSpPr/>
          <p:nvPr/>
        </p:nvSpPr>
        <p:spPr>
          <a:xfrm>
            <a:off x="5870448" y="3200400"/>
            <a:ext cx="73152" cy="1600200"/>
          </a:xfrm>
          <a:prstGeom prst="rect">
            <a:avLst/>
          </a:prstGeom>
          <a:solidFill>
            <a:srgbClr val="64CAAD"/>
          </a:solidFill>
          <a:ln>
            <a:noFill/>
          </a:ln>
          <a:effectLst/>
        </p:spPr>
        <p:txBody>
          <a:bodyPr rtlCol="0" anchor="ctr"/>
          <a:lstStyle/>
          <a:p>
            <a:pPr algn="ctr"/>
          </a:p>
        </p:txBody>
      </p:sp>
      <p:sp>
        <p:nvSpPr>
          <p:cNvPr id="24" name="TextBox 23"/>
          <p:cNvSpPr txBox="1"/>
          <p:nvPr/>
        </p:nvSpPr>
        <p:spPr>
          <a:xfrm>
            <a:off x="731520" y="3310128"/>
            <a:ext cx="498348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2: עדכון אחרי מידע חדש (דוגמה)</a:t>
            </a:r>
          </a:p>
        </p:txBody>
      </p:sp>
      <p:sp>
        <p:nvSpPr>
          <p:cNvPr id="25" name="TextBox 24"/>
          <p:cNvSpPr txBox="1"/>
          <p:nvPr/>
        </p:nvSpPr>
        <p:spPr>
          <a:xfrm>
            <a:off x="731520" y="3639312"/>
            <a:ext cx="4983480" cy="1097280"/>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0A1A33"/>
                </a:solidFill>
                <a:latin typeface="Rubik"/>
                <a:ea typeface="Rubik"/>
                <a:cs typeface="Rubik"/>
              </a:rPr>
              <a:t>דפי העו״ש התקבלו ונשמרו ב־‎01_originals‎. קרא אותם, עדכן את רשימת המסמכים והחוסרים, ושמור את הטיוטה מחדש.</a:t>
            </a:r>
          </a:p>
        </p:txBody>
      </p:sp>
      <p:sp>
        <p:nvSpPr>
          <p:cNvPr id="26" name="Rounded Rectangle 25"/>
          <p:cNvSpPr/>
          <p:nvPr/>
        </p:nvSpPr>
        <p:spPr>
          <a:xfrm>
            <a:off x="548640" y="5074920"/>
            <a:ext cx="11094415" cy="822960"/>
          </a:xfrm>
          <a:prstGeom prst="roundRect">
            <a:avLst>
              <a:gd name="adj" fmla="val 8000"/>
            </a:avLst>
          </a:prstGeom>
          <a:solidFill>
            <a:srgbClr val="F7F8F8"/>
          </a:solidFill>
          <a:ln>
            <a:noFill/>
          </a:ln>
          <a:effectLst/>
        </p:spPr>
        <p:txBody>
          <a:bodyPr rtlCol="0" anchor="ctr"/>
          <a:lstStyle/>
          <a:p>
            <a:pPr algn="ctr"/>
          </a:p>
        </p:txBody>
      </p:sp>
      <p:sp>
        <p:nvSpPr>
          <p:cNvPr id="27" name="TextBox 26"/>
          <p:cNvSpPr txBox="1"/>
          <p:nvPr/>
        </p:nvSpPr>
        <p:spPr>
          <a:xfrm>
            <a:off x="822959" y="5074920"/>
            <a:ext cx="10545775" cy="822960"/>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435FB5"/>
                </a:solidFill>
                <a:latin typeface="Rubik"/>
                <a:ea typeface="Rubik"/>
                <a:cs typeface="Rubik"/>
              </a:rPr>
              <a:t>בסוף: </a:t>
            </a:r>
            <a:r>
              <a:rPr sz="1800" b="0" i="0" lang="he-IL">
                <a:solidFill>
                  <a:srgbClr val="0A1A33"/>
                </a:solidFill>
                <a:latin typeface="Rubik"/>
                <a:ea typeface="Rubik"/>
                <a:cs typeface="Rubik"/>
              </a:rPr>
              <a:t>הטיוטה נשמרת ב־‎03_reports‎, ומחכה לבדיקת היועץ.</a:t>
            </a:r>
          </a:p>
        </p:txBody>
      </p:sp>
      <p:sp>
        <p:nvSpPr>
          <p:cNvPr id="28" name="TextBox 2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22</a:t>
            </a:r>
            <a:r>
              <a:rPr sz="1200" b="0" i="0" lang="he-IL">
                <a:solidFill>
                  <a:srgbClr val="8D9299"/>
                </a:solidFill>
                <a:latin typeface="Rubik"/>
                <a:ea typeface="Rubik"/>
                <a:cs typeface="Rubik"/>
              </a:rPr>
              <a:t>  |  Claude Code ליועצי משכנתאות</a:t>
            </a:r>
          </a:p>
        </p:txBody>
      </p:sp>
      <p:pic>
        <p:nvPicPr>
          <p:cNvPr id="29" name="Picture 2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מהו סקיל (Skill)</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508760"/>
            <a:ext cx="11094415" cy="822960"/>
          </a:xfrm>
          <a:prstGeom prst="rect">
            <a:avLst/>
          </a:prstGeom>
          <a:noFill/>
        </p:spPr>
        <p:txBody>
          <a:bodyPr wrap="square" lIns="73152" rIns="73152" tIns="54864" bIns="54864" anchor="t">
            <a:noAutofit/>
          </a:bodyPr>
          <a:lstStyle/>
          <a:p>
            <a:pPr rtl="1" algn="r">
              <a:lnSpc>
                <a:spcPct val="110000"/>
              </a:lnSpc>
              <a:spcAft>
                <a:spcPts val="600"/>
              </a:spcAft>
            </a:pPr>
            <a:r>
              <a:rPr sz="2600" b="1" i="0" lang="he-IL">
                <a:solidFill>
                  <a:srgbClr val="FFFFFF"/>
                </a:solidFill>
                <a:latin typeface="Rubik"/>
                <a:ea typeface="Rubik"/>
                <a:cs typeface="Rubik"/>
              </a:rPr>
              <a:t>סקיל = הוראות כתובות למשימה שחוזרת, שאפשר להפעיל שוב בכל תיק.</a:t>
            </a:r>
          </a:p>
        </p:txBody>
      </p:sp>
      <p:sp>
        <p:nvSpPr>
          <p:cNvPr id="6" name="Rounded Rectangle 5"/>
          <p:cNvSpPr/>
          <p:nvPr/>
        </p:nvSpPr>
        <p:spPr>
          <a:xfrm>
            <a:off x="8076895" y="2514600"/>
            <a:ext cx="3566160" cy="1737360"/>
          </a:xfrm>
          <a:prstGeom prst="roundRect">
            <a:avLst>
              <a:gd name="adj" fmla="val 6000"/>
            </a:avLst>
          </a:prstGeom>
          <a:solidFill>
            <a:srgbClr val="142A4D"/>
          </a:solidFill>
          <a:ln>
            <a:noFill/>
          </a:ln>
          <a:effectLst/>
        </p:spPr>
        <p:txBody>
          <a:bodyPr rtlCol="0" anchor="ctr"/>
          <a:lstStyle/>
          <a:p>
            <a:pPr algn="ctr"/>
          </a:p>
        </p:txBody>
      </p:sp>
      <p:sp>
        <p:nvSpPr>
          <p:cNvPr id="7" name="TextBox 6"/>
          <p:cNvSpPr txBox="1"/>
          <p:nvPr/>
        </p:nvSpPr>
        <p:spPr>
          <a:xfrm>
            <a:off x="8259775" y="2651760"/>
            <a:ext cx="320040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64CAAD"/>
                </a:solidFill>
                <a:latin typeface="Rubik"/>
                <a:ea typeface="Rubik"/>
                <a:cs typeface="Rubik"/>
              </a:rPr>
              <a:t>‎SKILL.md‎</a:t>
            </a:r>
          </a:p>
        </p:txBody>
      </p:sp>
      <p:sp>
        <p:nvSpPr>
          <p:cNvPr id="8" name="TextBox 7"/>
          <p:cNvSpPr txBox="1"/>
          <p:nvPr/>
        </p:nvSpPr>
        <p:spPr>
          <a:xfrm>
            <a:off x="8259775" y="3108960"/>
            <a:ext cx="3200400" cy="10972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D4D6D8"/>
                </a:solidFill>
                <a:latin typeface="Rubik"/>
                <a:ea typeface="Rubik"/>
                <a:cs typeface="Rubik"/>
              </a:rPr>
              <a:t>קובץ ההוראות של הסקיל: שם, תיאור, ואחריהם השלבים והכללים.</a:t>
            </a:r>
          </a:p>
        </p:txBody>
      </p:sp>
      <p:sp>
        <p:nvSpPr>
          <p:cNvPr id="9" name="Rounded Rectangle 8"/>
          <p:cNvSpPr/>
          <p:nvPr/>
        </p:nvSpPr>
        <p:spPr>
          <a:xfrm>
            <a:off x="4318711" y="2514600"/>
            <a:ext cx="3566160" cy="1737360"/>
          </a:xfrm>
          <a:prstGeom prst="roundRect">
            <a:avLst>
              <a:gd name="adj" fmla="val 6000"/>
            </a:avLst>
          </a:prstGeom>
          <a:solidFill>
            <a:srgbClr val="142A4D"/>
          </a:solidFill>
          <a:ln>
            <a:noFill/>
          </a:ln>
          <a:effectLst/>
        </p:spPr>
        <p:txBody>
          <a:bodyPr rtlCol="0" anchor="ctr"/>
          <a:lstStyle/>
          <a:p>
            <a:pPr algn="ctr"/>
          </a:p>
        </p:txBody>
      </p:sp>
      <p:sp>
        <p:nvSpPr>
          <p:cNvPr id="10" name="TextBox 9"/>
          <p:cNvSpPr txBox="1"/>
          <p:nvPr/>
        </p:nvSpPr>
        <p:spPr>
          <a:xfrm>
            <a:off x="4501591" y="2651760"/>
            <a:ext cx="320040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64CAAD"/>
                </a:solidFill>
                <a:latin typeface="Rubik"/>
                <a:ea typeface="Rubik"/>
                <a:cs typeface="Rubik"/>
              </a:rPr>
              <a:t>קבצי עזר</a:t>
            </a:r>
          </a:p>
        </p:txBody>
      </p:sp>
      <p:sp>
        <p:nvSpPr>
          <p:cNvPr id="11" name="TextBox 10"/>
          <p:cNvSpPr txBox="1"/>
          <p:nvPr/>
        </p:nvSpPr>
        <p:spPr>
          <a:xfrm>
            <a:off x="4501591" y="3108960"/>
            <a:ext cx="3200400" cy="10972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D4D6D8"/>
                </a:solidFill>
                <a:latin typeface="Rubik"/>
                <a:ea typeface="Rubik"/>
                <a:cs typeface="Rubik"/>
              </a:rPr>
              <a:t>אפשר להוסיף לאותה תיקייה תבניות ודוגמאות, למשל תבנית לטיוטה.</a:t>
            </a:r>
          </a:p>
        </p:txBody>
      </p:sp>
      <p:sp>
        <p:nvSpPr>
          <p:cNvPr id="12" name="Rounded Rectangle 11"/>
          <p:cNvSpPr/>
          <p:nvPr/>
        </p:nvSpPr>
        <p:spPr>
          <a:xfrm>
            <a:off x="560527" y="2514600"/>
            <a:ext cx="3566160" cy="1737360"/>
          </a:xfrm>
          <a:prstGeom prst="roundRect">
            <a:avLst>
              <a:gd name="adj" fmla="val 6000"/>
            </a:avLst>
          </a:prstGeom>
          <a:solidFill>
            <a:srgbClr val="142A4D"/>
          </a:solidFill>
          <a:ln>
            <a:noFill/>
          </a:ln>
          <a:effectLst/>
        </p:spPr>
        <p:txBody>
          <a:bodyPr rtlCol="0" anchor="ctr"/>
          <a:lstStyle/>
          <a:p>
            <a:pPr algn="ctr"/>
          </a:p>
        </p:txBody>
      </p:sp>
      <p:sp>
        <p:nvSpPr>
          <p:cNvPr id="13" name="TextBox 12"/>
          <p:cNvSpPr txBox="1"/>
          <p:nvPr/>
        </p:nvSpPr>
        <p:spPr>
          <a:xfrm>
            <a:off x="743407" y="2651760"/>
            <a:ext cx="320040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64CAAD"/>
                </a:solidFill>
                <a:latin typeface="Rubik"/>
                <a:ea typeface="Rubik"/>
                <a:cs typeface="Rubik"/>
              </a:rPr>
              <a:t>הפעלה</a:t>
            </a:r>
          </a:p>
        </p:txBody>
      </p:sp>
      <p:sp>
        <p:nvSpPr>
          <p:cNvPr id="14" name="TextBox 13"/>
          <p:cNvSpPr txBox="1"/>
          <p:nvPr/>
        </p:nvSpPr>
        <p:spPr>
          <a:xfrm>
            <a:off x="743407" y="3108960"/>
            <a:ext cx="3200400" cy="10972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D4D6D8"/>
                </a:solidFill>
                <a:latin typeface="Rubik"/>
                <a:ea typeface="Rubik"/>
                <a:cs typeface="Rubik"/>
              </a:rPr>
              <a:t>כותבים ‎/‎ ואת שם הסקיל. Claude יכול גם להפעיל אותו לבד כשהבקשה מתאימה לתיאור.</a:t>
            </a:r>
          </a:p>
        </p:txBody>
      </p:sp>
      <p:sp>
        <p:nvSpPr>
          <p:cNvPr id="15" name="Rounded Rectangle 14"/>
          <p:cNvSpPr/>
          <p:nvPr/>
        </p:nvSpPr>
        <p:spPr>
          <a:xfrm>
            <a:off x="548640" y="4526280"/>
            <a:ext cx="11094415" cy="1325880"/>
          </a:xfrm>
          <a:prstGeom prst="roundRect">
            <a:avLst>
              <a:gd name="adj" fmla="val 6000"/>
            </a:avLst>
          </a:prstGeom>
          <a:solidFill>
            <a:srgbClr val="142A4D"/>
          </a:solidFill>
          <a:ln>
            <a:noFill/>
          </a:ln>
          <a:effectLst/>
        </p:spPr>
        <p:txBody>
          <a:bodyPr rtlCol="0" anchor="ctr"/>
          <a:lstStyle/>
          <a:p>
            <a:pPr algn="ctr"/>
          </a:p>
        </p:txBody>
      </p:sp>
      <p:sp>
        <p:nvSpPr>
          <p:cNvPr id="16" name="TextBox 15"/>
          <p:cNvSpPr txBox="1"/>
          <p:nvPr/>
        </p:nvSpPr>
        <p:spPr>
          <a:xfrm>
            <a:off x="685800" y="4636008"/>
            <a:ext cx="10820095" cy="1142999"/>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.claude\skills\prepare-bank-file\</a:t>
            </a:r>
          </a:p>
          <a:p>
            <a:pPr rtl="0" algn="l">
              <a:lnSpc>
                <a:spcPct val="115000"/>
              </a:lnSpc>
              <a:spcAft>
                <a:spcPts val="200"/>
              </a:spcAft>
            </a:pPr>
            <a:r>
              <a:rPr sz="1700" b="0" i="0" lang="en-US">
                <a:solidFill>
                  <a:srgbClr val="64CAAD"/>
                </a:solidFill>
                <a:latin typeface="Consolas"/>
                <a:ea typeface="Consolas"/>
                <a:cs typeface="Rubik"/>
              </a:rPr>
              <a:t>    SKILL.md            ← ההוראות</a:t>
            </a:r>
          </a:p>
          <a:p>
            <a:pPr rtl="0" algn="l">
              <a:lnSpc>
                <a:spcPct val="115000"/>
              </a:lnSpc>
              <a:spcAft>
                <a:spcPts val="200"/>
              </a:spcAft>
            </a:pPr>
            <a:r>
              <a:rPr sz="1700" b="0" i="0" lang="en-US">
                <a:solidFill>
                  <a:srgbClr val="FFFFFF"/>
                </a:solidFill>
                <a:latin typeface="Consolas"/>
                <a:ea typeface="Consolas"/>
                <a:cs typeface="Rubik"/>
              </a:rPr>
              <a:t>    template.md         ← תבנית טיוטה (רשות)</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סקיל לדוגמה: הכנת תיק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677095" y="1508760"/>
            <a:ext cx="1965960" cy="914400"/>
          </a:xfrm>
          <a:prstGeom prst="roundRect">
            <a:avLst>
              <a:gd name="adj" fmla="val 12000"/>
            </a:avLst>
          </a:prstGeom>
          <a:solidFill>
            <a:srgbClr val="EAF3FF"/>
          </a:solidFill>
          <a:ln>
            <a:noFill/>
          </a:ln>
          <a:effectLst/>
        </p:spPr>
        <p:txBody>
          <a:bodyPr rtlCol="0" anchor="ctr"/>
          <a:lstStyle/>
          <a:p>
            <a:pPr algn="ctr"/>
          </a:p>
        </p:txBody>
      </p:sp>
      <p:sp>
        <p:nvSpPr>
          <p:cNvPr id="6" name="Oval 5"/>
          <p:cNvSpPr/>
          <p:nvPr/>
        </p:nvSpPr>
        <p:spPr>
          <a:xfrm>
            <a:off x="11140135" y="1755648"/>
            <a:ext cx="384048" cy="384048"/>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1</a:t>
            </a:r>
          </a:p>
        </p:txBody>
      </p:sp>
      <p:sp>
        <p:nvSpPr>
          <p:cNvPr id="7" name="TextBox 6"/>
          <p:cNvSpPr txBox="1"/>
          <p:nvPr/>
        </p:nvSpPr>
        <p:spPr>
          <a:xfrm>
            <a:off x="9768535" y="1508760"/>
            <a:ext cx="1325880" cy="91440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מיפוי</a:t>
            </a:r>
          </a:p>
        </p:txBody>
      </p:sp>
      <p:sp>
        <p:nvSpPr>
          <p:cNvPr id="8" name="Left Arrow 7"/>
          <p:cNvSpPr/>
          <p:nvPr/>
        </p:nvSpPr>
        <p:spPr>
          <a:xfrm>
            <a:off x="9421063" y="1828800"/>
            <a:ext cx="210312" cy="256032"/>
          </a:xfrm>
          <a:prstGeom prst="leftArrow">
            <a:avLst/>
          </a:prstGeom>
          <a:solidFill>
            <a:srgbClr val="64CAAD"/>
          </a:solidFill>
          <a:ln>
            <a:noFill/>
          </a:ln>
          <a:effectLst/>
        </p:spPr>
        <p:txBody>
          <a:bodyPr rtlCol="0" anchor="ctr"/>
          <a:lstStyle/>
          <a:p>
            <a:pPr algn="ctr"/>
          </a:p>
        </p:txBody>
      </p:sp>
      <p:sp>
        <p:nvSpPr>
          <p:cNvPr id="9" name="Rounded Rectangle 8"/>
          <p:cNvSpPr/>
          <p:nvPr/>
        </p:nvSpPr>
        <p:spPr>
          <a:xfrm>
            <a:off x="7409383" y="1508760"/>
            <a:ext cx="1965960" cy="914400"/>
          </a:xfrm>
          <a:prstGeom prst="roundRect">
            <a:avLst>
              <a:gd name="adj" fmla="val 12000"/>
            </a:avLst>
          </a:prstGeom>
          <a:solidFill>
            <a:srgbClr val="EAF3FF"/>
          </a:solidFill>
          <a:ln>
            <a:noFill/>
          </a:ln>
          <a:effectLst/>
        </p:spPr>
        <p:txBody>
          <a:bodyPr rtlCol="0" anchor="ctr"/>
          <a:lstStyle/>
          <a:p>
            <a:pPr algn="ctr"/>
          </a:p>
        </p:txBody>
      </p:sp>
      <p:sp>
        <p:nvSpPr>
          <p:cNvPr id="10" name="Oval 9"/>
          <p:cNvSpPr/>
          <p:nvPr/>
        </p:nvSpPr>
        <p:spPr>
          <a:xfrm>
            <a:off x="8872423" y="1755648"/>
            <a:ext cx="384048" cy="384048"/>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2</a:t>
            </a:r>
          </a:p>
        </p:txBody>
      </p:sp>
      <p:sp>
        <p:nvSpPr>
          <p:cNvPr id="11" name="TextBox 10"/>
          <p:cNvSpPr txBox="1"/>
          <p:nvPr/>
        </p:nvSpPr>
        <p:spPr>
          <a:xfrm>
            <a:off x="7500823" y="1508760"/>
            <a:ext cx="1325880" cy="91440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ארגון עותקים</a:t>
            </a:r>
          </a:p>
        </p:txBody>
      </p:sp>
      <p:sp>
        <p:nvSpPr>
          <p:cNvPr id="12" name="Left Arrow 11"/>
          <p:cNvSpPr/>
          <p:nvPr/>
        </p:nvSpPr>
        <p:spPr>
          <a:xfrm>
            <a:off x="7153351" y="1828800"/>
            <a:ext cx="210312" cy="256032"/>
          </a:xfrm>
          <a:prstGeom prst="leftArrow">
            <a:avLst/>
          </a:prstGeom>
          <a:solidFill>
            <a:srgbClr val="64CAAD"/>
          </a:solidFill>
          <a:ln>
            <a:noFill/>
          </a:ln>
          <a:effectLst/>
        </p:spPr>
        <p:txBody>
          <a:bodyPr rtlCol="0" anchor="ctr"/>
          <a:lstStyle/>
          <a:p>
            <a:pPr algn="ctr"/>
          </a:p>
        </p:txBody>
      </p:sp>
      <p:sp>
        <p:nvSpPr>
          <p:cNvPr id="13" name="Rounded Rectangle 12"/>
          <p:cNvSpPr/>
          <p:nvPr/>
        </p:nvSpPr>
        <p:spPr>
          <a:xfrm>
            <a:off x="5141671" y="1508760"/>
            <a:ext cx="1965960" cy="914400"/>
          </a:xfrm>
          <a:prstGeom prst="roundRect">
            <a:avLst>
              <a:gd name="adj" fmla="val 12000"/>
            </a:avLst>
          </a:prstGeom>
          <a:solidFill>
            <a:srgbClr val="EAF3FF"/>
          </a:solidFill>
          <a:ln>
            <a:noFill/>
          </a:ln>
          <a:effectLst/>
        </p:spPr>
        <p:txBody>
          <a:bodyPr rtlCol="0" anchor="ctr"/>
          <a:lstStyle/>
          <a:p>
            <a:pPr algn="ctr"/>
          </a:p>
        </p:txBody>
      </p:sp>
      <p:sp>
        <p:nvSpPr>
          <p:cNvPr id="14" name="Oval 13"/>
          <p:cNvSpPr/>
          <p:nvPr/>
        </p:nvSpPr>
        <p:spPr>
          <a:xfrm>
            <a:off x="6604711" y="1755648"/>
            <a:ext cx="384048" cy="384048"/>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3</a:t>
            </a:r>
          </a:p>
        </p:txBody>
      </p:sp>
      <p:sp>
        <p:nvSpPr>
          <p:cNvPr id="15" name="TextBox 14"/>
          <p:cNvSpPr txBox="1"/>
          <p:nvPr/>
        </p:nvSpPr>
        <p:spPr>
          <a:xfrm>
            <a:off x="5233111" y="1508760"/>
            <a:ext cx="1325880" cy="91440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חילוץ נתונים</a:t>
            </a:r>
          </a:p>
        </p:txBody>
      </p:sp>
      <p:sp>
        <p:nvSpPr>
          <p:cNvPr id="16" name="Left Arrow 15"/>
          <p:cNvSpPr/>
          <p:nvPr/>
        </p:nvSpPr>
        <p:spPr>
          <a:xfrm>
            <a:off x="4885639" y="1828800"/>
            <a:ext cx="210312" cy="256032"/>
          </a:xfrm>
          <a:prstGeom prst="leftArrow">
            <a:avLst/>
          </a:prstGeom>
          <a:solidFill>
            <a:srgbClr val="64CAAD"/>
          </a:solidFill>
          <a:ln>
            <a:noFill/>
          </a:ln>
          <a:effectLst/>
        </p:spPr>
        <p:txBody>
          <a:bodyPr rtlCol="0" anchor="ctr"/>
          <a:lstStyle/>
          <a:p>
            <a:pPr algn="ctr"/>
          </a:p>
        </p:txBody>
      </p:sp>
      <p:sp>
        <p:nvSpPr>
          <p:cNvPr id="17" name="Rounded Rectangle 16"/>
          <p:cNvSpPr/>
          <p:nvPr/>
        </p:nvSpPr>
        <p:spPr>
          <a:xfrm>
            <a:off x="2873959" y="1508760"/>
            <a:ext cx="1965960" cy="914400"/>
          </a:xfrm>
          <a:prstGeom prst="roundRect">
            <a:avLst>
              <a:gd name="adj" fmla="val 12000"/>
            </a:avLst>
          </a:prstGeom>
          <a:solidFill>
            <a:srgbClr val="EAF3FF"/>
          </a:solidFill>
          <a:ln>
            <a:noFill/>
          </a:ln>
          <a:effectLst/>
        </p:spPr>
        <p:txBody>
          <a:bodyPr rtlCol="0" anchor="ctr"/>
          <a:lstStyle/>
          <a:p>
            <a:pPr algn="ctr"/>
          </a:p>
        </p:txBody>
      </p:sp>
      <p:sp>
        <p:nvSpPr>
          <p:cNvPr id="18" name="Oval 17"/>
          <p:cNvSpPr/>
          <p:nvPr/>
        </p:nvSpPr>
        <p:spPr>
          <a:xfrm>
            <a:off x="4336999" y="1755648"/>
            <a:ext cx="384048" cy="384048"/>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400" b="1" i="0" lang="he-IL">
                <a:solidFill>
                  <a:srgbClr val="FFFFFF"/>
                </a:solidFill>
                <a:latin typeface="Rubik"/>
                <a:ea typeface="Rubik"/>
                <a:cs typeface="Rubik"/>
              </a:rPr>
              <a:t>4</a:t>
            </a:r>
          </a:p>
        </p:txBody>
      </p:sp>
      <p:sp>
        <p:nvSpPr>
          <p:cNvPr id="19" name="TextBox 18"/>
          <p:cNvSpPr txBox="1"/>
          <p:nvPr/>
        </p:nvSpPr>
        <p:spPr>
          <a:xfrm>
            <a:off x="2965399" y="1508760"/>
            <a:ext cx="1325880" cy="91440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איתור חוסרים</a:t>
            </a:r>
          </a:p>
        </p:txBody>
      </p:sp>
      <p:sp>
        <p:nvSpPr>
          <p:cNvPr id="20" name="Left Arrow 19"/>
          <p:cNvSpPr/>
          <p:nvPr/>
        </p:nvSpPr>
        <p:spPr>
          <a:xfrm>
            <a:off x="2617927" y="1828800"/>
            <a:ext cx="210312" cy="256032"/>
          </a:xfrm>
          <a:prstGeom prst="leftArrow">
            <a:avLst/>
          </a:prstGeom>
          <a:solidFill>
            <a:srgbClr val="64CAAD"/>
          </a:solidFill>
          <a:ln>
            <a:noFill/>
          </a:ln>
          <a:effectLst/>
        </p:spPr>
        <p:txBody>
          <a:bodyPr rtlCol="0" anchor="ctr"/>
          <a:lstStyle/>
          <a:p>
            <a:pPr algn="ctr"/>
          </a:p>
        </p:txBody>
      </p:sp>
      <p:sp>
        <p:nvSpPr>
          <p:cNvPr id="21" name="Rounded Rectangle 20"/>
          <p:cNvSpPr/>
          <p:nvPr/>
        </p:nvSpPr>
        <p:spPr>
          <a:xfrm>
            <a:off x="606247" y="1508760"/>
            <a:ext cx="1965960" cy="914400"/>
          </a:xfrm>
          <a:prstGeom prst="roundRect">
            <a:avLst>
              <a:gd name="adj" fmla="val 12000"/>
            </a:avLst>
          </a:prstGeom>
          <a:solidFill>
            <a:srgbClr val="435FB5"/>
          </a:solidFill>
          <a:ln>
            <a:noFill/>
          </a:ln>
          <a:effectLst/>
        </p:spPr>
        <p:txBody>
          <a:bodyPr rtlCol="0" anchor="ctr"/>
          <a:lstStyle/>
          <a:p>
            <a:pPr algn="ctr"/>
          </a:p>
        </p:txBody>
      </p:sp>
      <p:sp>
        <p:nvSpPr>
          <p:cNvPr id="22" name="Oval 21"/>
          <p:cNvSpPr/>
          <p:nvPr/>
        </p:nvSpPr>
        <p:spPr>
          <a:xfrm>
            <a:off x="2069287" y="1755648"/>
            <a:ext cx="384048" cy="384048"/>
          </a:xfrm>
          <a:prstGeom prst="ellipse">
            <a:avLst/>
          </a:prstGeom>
          <a:solidFill>
            <a:srgbClr val="FFFFFF"/>
          </a:solidFill>
          <a:ln>
            <a:noFill/>
          </a:ln>
          <a:effectLst/>
        </p:spPr>
        <p:txBody>
          <a:bodyPr rtlCol="0" anchor="ctr" wrap="square" lIns="0" rIns="0" tIns="0" bIns="0">
            <a:noAutofit/>
          </a:bodyPr>
          <a:lstStyle/>
          <a:p>
            <a:pPr algn="ctr" rtl="1">
              <a:lnSpc>
                <a:spcPct val="110000"/>
              </a:lnSpc>
            </a:pPr>
            <a:r>
              <a:rPr sz="1400" b="1" i="0" lang="he-IL">
                <a:solidFill>
                  <a:srgbClr val="435FB5"/>
                </a:solidFill>
                <a:latin typeface="Rubik"/>
                <a:ea typeface="Rubik"/>
                <a:cs typeface="Rubik"/>
              </a:rPr>
              <a:t>5</a:t>
            </a:r>
          </a:p>
        </p:txBody>
      </p:sp>
      <p:sp>
        <p:nvSpPr>
          <p:cNvPr id="23" name="TextBox 22"/>
          <p:cNvSpPr txBox="1"/>
          <p:nvPr/>
        </p:nvSpPr>
        <p:spPr>
          <a:xfrm>
            <a:off x="697687" y="1508760"/>
            <a:ext cx="1325880" cy="91440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FFFFFF"/>
                </a:solidFill>
                <a:latin typeface="Rubik"/>
                <a:ea typeface="Rubik"/>
                <a:cs typeface="Rubik"/>
              </a:rPr>
              <a:t>הפקת טיוטה</a:t>
            </a:r>
          </a:p>
        </p:txBody>
      </p:sp>
      <p:sp>
        <p:nvSpPr>
          <p:cNvPr id="24" name="Rounded Rectangle 23"/>
          <p:cNvSpPr/>
          <p:nvPr/>
        </p:nvSpPr>
        <p:spPr>
          <a:xfrm>
            <a:off x="548640" y="2697480"/>
            <a:ext cx="4937760" cy="3200400"/>
          </a:xfrm>
          <a:prstGeom prst="roundRect">
            <a:avLst>
              <a:gd name="adj" fmla="val 6000"/>
            </a:avLst>
          </a:prstGeom>
          <a:solidFill>
            <a:srgbClr val="0A1A33"/>
          </a:solidFill>
          <a:ln>
            <a:noFill/>
          </a:ln>
          <a:effectLst/>
        </p:spPr>
        <p:txBody>
          <a:bodyPr rtlCol="0" anchor="ctr"/>
          <a:lstStyle/>
          <a:p>
            <a:pPr algn="ctr"/>
          </a:p>
        </p:txBody>
      </p:sp>
      <p:sp>
        <p:nvSpPr>
          <p:cNvPr id="25" name="TextBox 24"/>
          <p:cNvSpPr txBox="1"/>
          <p:nvPr/>
        </p:nvSpPr>
        <p:spPr>
          <a:xfrm>
            <a:off x="731520" y="2788920"/>
            <a:ext cx="457200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ראש הקובץ ‎SKILL.md‎</a:t>
            </a:r>
          </a:p>
        </p:txBody>
      </p:sp>
      <p:sp>
        <p:nvSpPr>
          <p:cNvPr id="26" name="TextBox 25"/>
          <p:cNvSpPr txBox="1"/>
          <p:nvPr/>
        </p:nvSpPr>
        <p:spPr>
          <a:xfrm>
            <a:off x="685800" y="3108960"/>
            <a:ext cx="4663440" cy="2715768"/>
          </a:xfrm>
          <a:prstGeom prst="rect">
            <a:avLst/>
          </a:prstGeom>
          <a:noFill/>
        </p:spPr>
        <p:txBody>
          <a:bodyPr wrap="square" lIns="73152" rIns="73152" tIns="54864" bIns="54864" anchor="t">
            <a:noAutofit/>
          </a:bodyPr>
          <a:lstStyle/>
          <a:p>
            <a:pPr rtl="0" algn="l">
              <a:lnSpc>
                <a:spcPct val="115000"/>
              </a:lnSpc>
              <a:spcAft>
                <a:spcPts val="200"/>
              </a:spcAft>
            </a:pPr>
            <a:r>
              <a:rPr sz="1600" b="0" i="0" lang="en-US">
                <a:solidFill>
                  <a:srgbClr val="FFFFFF"/>
                </a:solidFill>
                <a:latin typeface="Consolas"/>
                <a:ea typeface="Consolas"/>
                <a:cs typeface="Rubik"/>
              </a:rPr>
              <a:t>---</a:t>
            </a:r>
          </a:p>
          <a:p>
            <a:pPr rtl="0" algn="l">
              <a:lnSpc>
                <a:spcPct val="115000"/>
              </a:lnSpc>
              <a:spcAft>
                <a:spcPts val="200"/>
              </a:spcAft>
            </a:pPr>
            <a:r>
              <a:rPr sz="1600" b="0" i="0" lang="en-US">
                <a:solidFill>
                  <a:srgbClr val="FFFFFF"/>
                </a:solidFill>
                <a:latin typeface="Consolas"/>
                <a:ea typeface="Consolas"/>
                <a:cs typeface="Rubik"/>
              </a:rPr>
              <a:t>name: prepare-bank-file</a:t>
            </a:r>
          </a:p>
          <a:p>
            <a:pPr rtl="0" algn="l">
              <a:lnSpc>
                <a:spcPct val="115000"/>
              </a:lnSpc>
              <a:spcAft>
                <a:spcPts val="200"/>
              </a:spcAft>
            </a:pPr>
            <a:r>
              <a:rPr sz="1600" b="0" i="0" lang="en-US">
                <a:solidFill>
                  <a:srgbClr val="FFFFFF"/>
                </a:solidFill>
                <a:latin typeface="Consolas"/>
                <a:ea typeface="Consolas"/>
                <a:cs typeface="Rubik"/>
              </a:rPr>
              <a:t>description: הכנת תיק לקוח</a:t>
            </a:r>
          </a:p>
          <a:p>
            <a:pPr rtl="0" algn="l">
              <a:lnSpc>
                <a:spcPct val="115000"/>
              </a:lnSpc>
              <a:spcAft>
                <a:spcPts val="200"/>
              </a:spcAft>
            </a:pPr>
            <a:r>
              <a:rPr sz="1600" b="0" i="0" lang="en-US">
                <a:solidFill>
                  <a:srgbClr val="FFFFFF"/>
                </a:solidFill>
                <a:latin typeface="Consolas"/>
                <a:ea typeface="Consolas"/>
                <a:cs typeface="Rubik"/>
              </a:rPr>
              <a:t>  לקראת פנייה לבנק, לבדיקת היועץ</a:t>
            </a:r>
          </a:p>
          <a:p>
            <a:pPr rtl="0" algn="l">
              <a:lnSpc>
                <a:spcPct val="115000"/>
              </a:lnSpc>
              <a:spcAft>
                <a:spcPts val="200"/>
              </a:spcAft>
            </a:pPr>
            <a:r>
              <a:rPr sz="1600" b="0" i="0" lang="en-US">
                <a:solidFill>
                  <a:srgbClr val="FFFFFF"/>
                </a:solidFill>
                <a:latin typeface="Consolas"/>
                <a:ea typeface="Consolas"/>
                <a:cs typeface="Rubik"/>
              </a:rPr>
              <a:t>disable-model-invocation: true</a:t>
            </a:r>
          </a:p>
          <a:p>
            <a:pPr rtl="0" algn="l">
              <a:lnSpc>
                <a:spcPct val="115000"/>
              </a:lnSpc>
              <a:spcAft>
                <a:spcPts val="200"/>
              </a:spcAft>
            </a:pPr>
            <a:r>
              <a:rPr sz="1600" b="0" i="0" lang="en-US">
                <a:solidFill>
                  <a:srgbClr val="FFFFFF"/>
                </a:solidFill>
                <a:latin typeface="Consolas"/>
                <a:ea typeface="Consolas"/>
                <a:cs typeface="Rubik"/>
              </a:rPr>
              <a:t>---</a:t>
            </a:r>
          </a:p>
          <a:p>
            <a:pPr rtl="0" algn="l">
              <a:lnSpc>
                <a:spcPct val="115000"/>
              </a:lnSpc>
              <a:spcAft>
                <a:spcPts val="200"/>
              </a:spcAft>
            </a:pPr>
            <a:r>
              <a:rPr sz="1600" b="0" i="0" lang="en-US">
                <a:solidFill>
                  <a:srgbClr val="64CAAD"/>
                </a:solidFill>
                <a:latin typeface="Consolas"/>
                <a:ea typeface="Consolas"/>
                <a:cs typeface="Rubik"/>
              </a:rPr>
              <a:t>(כאן השלבים והכללים, בעברית)</a:t>
            </a:r>
          </a:p>
        </p:txBody>
      </p:sp>
      <p:sp>
        <p:nvSpPr>
          <p:cNvPr id="27" name="TextBox 26"/>
          <p:cNvSpPr txBox="1"/>
          <p:nvPr/>
        </p:nvSpPr>
        <p:spPr>
          <a:xfrm>
            <a:off x="5760720" y="2697480"/>
            <a:ext cx="588233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כללים קבועים בסקיל</a:t>
            </a:r>
          </a:p>
        </p:txBody>
      </p:sp>
      <p:sp>
        <p:nvSpPr>
          <p:cNvPr id="28" name="TextBox 27"/>
          <p:cNvSpPr txBox="1"/>
          <p:nvPr/>
        </p:nvSpPr>
        <p:spPr>
          <a:xfrm>
            <a:off x="5760720" y="3154680"/>
            <a:ext cx="5882335" cy="2743200"/>
          </a:xfrm>
          <a:prstGeom prst="rect">
            <a:avLst/>
          </a:prstGeom>
          <a:noFill/>
        </p:spPr>
        <p:txBody>
          <a:bodyPr wrap="square" lIns="73152" rIns="73152" tIns="54864" bIns="54864" anchor="t">
            <a:noAutofit/>
          </a:bodyPr>
          <a:lstStyle/>
          <a:p>
            <a:pPr rtl="1" algn="r">
              <a:lnSpc>
                <a:spcPct val="110000"/>
              </a:lnSpc>
              <a:spcAft>
                <a:spcPts val="800"/>
              </a:spcAft>
            </a:pPr>
            <a:r>
              <a:rPr sz="1700" b="0" i="0" lang="he-IL">
                <a:solidFill>
                  <a:srgbClr val="0A1A33"/>
                </a:solidFill>
                <a:latin typeface="Rubik"/>
                <a:ea typeface="Rubik"/>
                <a:cs typeface="Rubik"/>
              </a:rPr>
              <a:t>•  המקורות ב־‎01_originals‎ לא משתנים</a:t>
            </a:r>
          </a:p>
          <a:p>
            <a:pPr rtl="1" algn="r">
              <a:lnSpc>
                <a:spcPct val="110000"/>
              </a:lnSpc>
              <a:spcAft>
                <a:spcPts val="800"/>
              </a:spcAft>
            </a:pPr>
            <a:r>
              <a:rPr sz="1700" b="0" i="0" lang="he-IL">
                <a:solidFill>
                  <a:srgbClr val="0A1A33"/>
                </a:solidFill>
                <a:latin typeface="Rubik"/>
                <a:ea typeface="Rubik"/>
                <a:cs typeface="Rubik"/>
              </a:rPr>
              <a:t>•  עותקים מסודרים נשמרים ב־‎02_organized‎</a:t>
            </a:r>
          </a:p>
          <a:p>
            <a:pPr rtl="1" algn="r">
              <a:lnSpc>
                <a:spcPct val="110000"/>
              </a:lnSpc>
              <a:spcAft>
                <a:spcPts val="800"/>
              </a:spcAft>
            </a:pPr>
            <a:r>
              <a:rPr sz="1700" b="0" i="0" lang="he-IL">
                <a:solidFill>
                  <a:srgbClr val="0A1A33"/>
                </a:solidFill>
                <a:latin typeface="Rubik"/>
                <a:ea typeface="Rubik"/>
                <a:cs typeface="Rubik"/>
              </a:rPr>
              <a:t>•  לכל נתון יש קובץ מקור</a:t>
            </a:r>
          </a:p>
          <a:p>
            <a:pPr rtl="1" algn="r">
              <a:lnSpc>
                <a:spcPct val="110000"/>
              </a:lnSpc>
              <a:spcAft>
                <a:spcPts val="800"/>
              </a:spcAft>
            </a:pPr>
            <a:r>
              <a:rPr sz="1700" b="0" i="0" lang="he-IL">
                <a:solidFill>
                  <a:srgbClr val="0A1A33"/>
                </a:solidFill>
                <a:latin typeface="Rubik"/>
                <a:ea typeface="Rubik"/>
                <a:cs typeface="Rubik"/>
              </a:rPr>
              <a:t>•  חוסרים וסתירות מסומנים ולא מושלמים</a:t>
            </a:r>
          </a:p>
          <a:p>
            <a:pPr rtl="1" algn="r">
              <a:lnSpc>
                <a:spcPct val="110000"/>
              </a:lnSpc>
              <a:spcAft>
                <a:spcPts val="800"/>
              </a:spcAft>
            </a:pPr>
            <a:r>
              <a:rPr sz="1700" b="0" i="0" lang="he-IL">
                <a:solidFill>
                  <a:srgbClr val="0A1A33"/>
                </a:solidFill>
                <a:latin typeface="Rubik"/>
                <a:ea typeface="Rubik"/>
                <a:cs typeface="Rubik"/>
              </a:rPr>
              <a:t>•  הטיוטה נשמרת ב־‎03_reports‎, לבדיקת היועץ</a:t>
            </a:r>
          </a:p>
        </p:txBody>
      </p:sp>
      <p:sp>
        <p:nvSpPr>
          <p:cNvPr id="29" name="TextBox 2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24</a:t>
            </a:r>
            <a:r>
              <a:rPr sz="1200" b="0" i="0" lang="he-IL">
                <a:solidFill>
                  <a:srgbClr val="8D9299"/>
                </a:solidFill>
                <a:latin typeface="Rubik"/>
                <a:ea typeface="Rubik"/>
                <a:cs typeface="Rubik"/>
              </a:rPr>
              <a:t>  |  Claude Code ליועצי משכנתאות</a:t>
            </a:r>
          </a:p>
        </p:txBody>
      </p:sp>
      <p:pic>
        <p:nvPicPr>
          <p:cNvPr id="30" name="Picture 29"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סקיל מתוך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417320"/>
            <a:ext cx="11094415" cy="16002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17320"/>
            <a:ext cx="73152" cy="16002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52704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731520" y="1856232"/>
            <a:ext cx="10682935" cy="1097280"/>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שמור את התהליך שעשינו היום כסקיל בפרויקט בשם ‎prepare-bank-file‎: מיפוי, ארגון עותקים, חילוץ נתונים, איתור חוסרים והפקת טיוטה. כלול את הכללים מ־‎CLAUDE.md‎, והגדר שהסקיל יופעל רק כשאני מבקש. אל תריץ אותו עכשיו.</a:t>
            </a:r>
          </a:p>
        </p:txBody>
      </p:sp>
      <p:sp>
        <p:nvSpPr>
          <p:cNvPr id="10" name="TextBox 9"/>
          <p:cNvSpPr txBox="1"/>
          <p:nvPr/>
        </p:nvSpPr>
        <p:spPr>
          <a:xfrm>
            <a:off x="6355080" y="3291840"/>
            <a:ext cx="5285232" cy="36576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איפה הסקיל נשמר</a:t>
            </a:r>
          </a:p>
        </p:txBody>
      </p:sp>
      <p:sp>
        <p:nvSpPr>
          <p:cNvPr id="11" name="Rounded Rectangle 10"/>
          <p:cNvSpPr/>
          <p:nvPr/>
        </p:nvSpPr>
        <p:spPr>
          <a:xfrm>
            <a:off x="6355080" y="3703320"/>
            <a:ext cx="5285232" cy="68580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6492240" y="3813048"/>
            <a:ext cx="5010912" cy="502919"/>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.claude/skills/prepare-bank-file/SKILL.md</a:t>
            </a:r>
          </a:p>
        </p:txBody>
      </p:sp>
      <p:sp>
        <p:nvSpPr>
          <p:cNvPr id="13" name="TextBox 12"/>
          <p:cNvSpPr txBox="1"/>
          <p:nvPr/>
        </p:nvSpPr>
        <p:spPr>
          <a:xfrm>
            <a:off x="548640" y="3291840"/>
            <a:ext cx="5394960" cy="36576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איך מפעילים אותו בתיק הבא</a:t>
            </a:r>
          </a:p>
        </p:txBody>
      </p:sp>
      <p:sp>
        <p:nvSpPr>
          <p:cNvPr id="14" name="Rounded Rectangle 13"/>
          <p:cNvSpPr/>
          <p:nvPr/>
        </p:nvSpPr>
        <p:spPr>
          <a:xfrm>
            <a:off x="548640" y="3703320"/>
            <a:ext cx="5394960" cy="685800"/>
          </a:xfrm>
          <a:prstGeom prst="roundRect">
            <a:avLst>
              <a:gd name="adj" fmla="val 6000"/>
            </a:avLst>
          </a:prstGeom>
          <a:solidFill>
            <a:srgbClr val="0A1A33"/>
          </a:solidFill>
          <a:ln>
            <a:noFill/>
          </a:ln>
          <a:effectLst/>
        </p:spPr>
        <p:txBody>
          <a:bodyPr rtlCol="0" anchor="ctr"/>
          <a:lstStyle/>
          <a:p>
            <a:pPr algn="ctr"/>
          </a:p>
        </p:txBody>
      </p:sp>
      <p:sp>
        <p:nvSpPr>
          <p:cNvPr id="15" name="TextBox 14"/>
          <p:cNvSpPr txBox="1"/>
          <p:nvPr/>
        </p:nvSpPr>
        <p:spPr>
          <a:xfrm>
            <a:off x="685800" y="3813048"/>
            <a:ext cx="5120640" cy="502919"/>
          </a:xfrm>
          <a:prstGeom prst="rect">
            <a:avLst/>
          </a:prstGeom>
          <a:noFill/>
        </p:spPr>
        <p:txBody>
          <a:bodyPr wrap="square" lIns="73152" rIns="73152" tIns="54864" bIns="54864" anchor="t">
            <a:noAutofit/>
          </a:bodyPr>
          <a:lstStyle/>
          <a:p>
            <a:pPr rtl="0" algn="l">
              <a:lnSpc>
                <a:spcPct val="115000"/>
              </a:lnSpc>
              <a:spcAft>
                <a:spcPts val="200"/>
              </a:spcAft>
            </a:pPr>
            <a:r>
              <a:rPr sz="2200" b="0" i="0" lang="en-US">
                <a:solidFill>
                  <a:srgbClr val="FFFFFF"/>
                </a:solidFill>
                <a:latin typeface="Consolas"/>
                <a:ea typeface="Consolas"/>
                <a:cs typeface="Rubik"/>
              </a:rPr>
              <a:t>/prepare-bank-file</a:t>
            </a:r>
          </a:p>
        </p:txBody>
      </p:sp>
      <p:sp>
        <p:nvSpPr>
          <p:cNvPr id="16" name="Rounded Rectangle 15"/>
          <p:cNvSpPr/>
          <p:nvPr/>
        </p:nvSpPr>
        <p:spPr>
          <a:xfrm>
            <a:off x="548640" y="4709160"/>
            <a:ext cx="11094415" cy="1188720"/>
          </a:xfrm>
          <a:prstGeom prst="roundRect">
            <a:avLst>
              <a:gd name="adj" fmla="val 8000"/>
            </a:avLst>
          </a:prstGeom>
          <a:solidFill>
            <a:srgbClr val="F7F8F8"/>
          </a:solidFill>
          <a:ln>
            <a:noFill/>
          </a:ln>
          <a:effectLst/>
        </p:spPr>
        <p:txBody>
          <a:bodyPr rtlCol="0" anchor="ctr"/>
          <a:lstStyle/>
          <a:p>
            <a:pPr algn="ctr"/>
          </a:p>
        </p:txBody>
      </p:sp>
      <p:sp>
        <p:nvSpPr>
          <p:cNvPr id="17" name="TextBox 16"/>
          <p:cNvSpPr txBox="1"/>
          <p:nvPr/>
        </p:nvSpPr>
        <p:spPr>
          <a:xfrm>
            <a:off x="822959" y="4754880"/>
            <a:ext cx="10545775" cy="109728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435FB5"/>
                </a:solidFill>
                <a:latin typeface="Rubik"/>
                <a:ea typeface="Rubik"/>
                <a:cs typeface="Rubik"/>
              </a:rPr>
              <a:t>בדיקה: </a:t>
            </a:r>
            <a:r>
              <a:rPr sz="1700" b="0" i="0" lang="he-IL">
                <a:solidFill>
                  <a:srgbClr val="0A1A33"/>
                </a:solidFill>
                <a:latin typeface="Rubik"/>
                <a:ea typeface="Rubik"/>
                <a:cs typeface="Rubik"/>
              </a:rPr>
              <a:t>פתחו את הקובץ ‎SKILL.md‎ וקראו אותו. מה שכתוב בו הוא מה ש־Claude יעשה בתיק הבא.</a:t>
            </a:r>
          </a:p>
          <a:p>
            <a:pPr rtl="1" algn="r">
              <a:lnSpc>
                <a:spcPct val="110000"/>
              </a:lnSpc>
              <a:spcAft>
                <a:spcPts val="600"/>
              </a:spcAft>
            </a:pPr>
            <a:r>
              <a:rPr sz="1700" b="1" i="0" lang="he-IL">
                <a:solidFill>
                  <a:srgbClr val="435FB5"/>
                </a:solidFill>
                <a:latin typeface="Rubik"/>
                <a:ea typeface="Rubik"/>
                <a:cs typeface="Rubik"/>
              </a:rPr>
              <a:t>הפעלה: </a:t>
            </a:r>
            <a:r>
              <a:rPr sz="1700" b="0" i="0" lang="he-IL">
                <a:solidFill>
                  <a:srgbClr val="0A1A33"/>
                </a:solidFill>
                <a:latin typeface="Rubik"/>
                <a:ea typeface="Rubik"/>
                <a:cs typeface="Rubik"/>
              </a:rPr>
              <a:t>כותבים ‎/‎ בתיבת ההוראות, או לוחצים ‎+‎ ואז Slash commands, ובוחרים את הסקיל.</a:t>
            </a:r>
          </a:p>
        </p:txBody>
      </p:sp>
      <p:sp>
        <p:nvSpPr>
          <p:cNvPr id="18" name="TextBox 1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25</a:t>
            </a:r>
            <a:r>
              <a:rPr sz="1200" b="0" i="0" lang="he-IL">
                <a:solidFill>
                  <a:srgbClr val="8D9299"/>
                </a:solidFill>
                <a:latin typeface="Rubik"/>
                <a:ea typeface="Rubik"/>
                <a:cs typeface="Rubik"/>
              </a:rPr>
              <a:t>  |  Claude Code ליועצי משכנתאות</a:t>
            </a:r>
          </a:p>
        </p:txBody>
      </p:sp>
      <p:pic>
        <p:nvPicPr>
          <p:cNvPr id="19" name="Picture 1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מהו סוכן משנה (Subagent)</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076895" y="1463040"/>
            <a:ext cx="3566160" cy="1463040"/>
          </a:xfrm>
          <a:prstGeom prst="roundRect">
            <a:avLst>
              <a:gd name="adj" fmla="val 6000"/>
            </a:avLst>
          </a:prstGeom>
          <a:solidFill>
            <a:srgbClr val="F7F8F8"/>
          </a:solidFill>
          <a:ln>
            <a:noFill/>
          </a:ln>
          <a:effectLst/>
        </p:spPr>
        <p:txBody>
          <a:bodyPr rtlCol="0" anchor="ctr"/>
          <a:lstStyle/>
          <a:p>
            <a:pPr algn="ctr"/>
          </a:p>
        </p:txBody>
      </p:sp>
      <p:sp>
        <p:nvSpPr>
          <p:cNvPr id="6" name="Oval 5"/>
          <p:cNvSpPr/>
          <p:nvPr/>
        </p:nvSpPr>
        <p:spPr>
          <a:xfrm>
            <a:off x="11076127" y="164592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8186623" y="1645920"/>
            <a:ext cx="2834639"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משימה ממוקדת</a:t>
            </a:r>
          </a:p>
        </p:txBody>
      </p:sp>
      <p:sp>
        <p:nvSpPr>
          <p:cNvPr id="8" name="TextBox 7"/>
          <p:cNvSpPr txBox="1"/>
          <p:nvPr/>
        </p:nvSpPr>
        <p:spPr>
          <a:xfrm>
            <a:off x="8259775" y="2157984"/>
            <a:ext cx="3200400" cy="676655"/>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תפקיד אחד מוגדר, למשל בדיקה של הטיוטה.</a:t>
            </a:r>
          </a:p>
        </p:txBody>
      </p:sp>
      <p:sp>
        <p:nvSpPr>
          <p:cNvPr id="9" name="Rounded Rectangle 8"/>
          <p:cNvSpPr/>
          <p:nvPr/>
        </p:nvSpPr>
        <p:spPr>
          <a:xfrm>
            <a:off x="4318711" y="1463040"/>
            <a:ext cx="3566160" cy="1463040"/>
          </a:xfrm>
          <a:prstGeom prst="roundRect">
            <a:avLst>
              <a:gd name="adj" fmla="val 6000"/>
            </a:avLst>
          </a:prstGeom>
          <a:solidFill>
            <a:srgbClr val="F7F8F8"/>
          </a:solidFill>
          <a:ln>
            <a:noFill/>
          </a:ln>
          <a:effectLst/>
        </p:spPr>
        <p:txBody>
          <a:bodyPr rtlCol="0" anchor="ctr"/>
          <a:lstStyle/>
          <a:p>
            <a:pPr algn="ctr"/>
          </a:p>
        </p:txBody>
      </p:sp>
      <p:sp>
        <p:nvSpPr>
          <p:cNvPr id="10" name="Oval 9"/>
          <p:cNvSpPr/>
          <p:nvPr/>
        </p:nvSpPr>
        <p:spPr>
          <a:xfrm>
            <a:off x="7317943" y="164592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1" name="TextBox 10"/>
          <p:cNvSpPr txBox="1"/>
          <p:nvPr/>
        </p:nvSpPr>
        <p:spPr>
          <a:xfrm>
            <a:off x="4428439" y="1645920"/>
            <a:ext cx="2834639"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הקשר נפרד</a:t>
            </a:r>
          </a:p>
        </p:txBody>
      </p:sp>
      <p:sp>
        <p:nvSpPr>
          <p:cNvPr id="12" name="TextBox 11"/>
          <p:cNvSpPr txBox="1"/>
          <p:nvPr/>
        </p:nvSpPr>
        <p:spPr>
          <a:xfrm>
            <a:off x="4501591" y="2157984"/>
            <a:ext cx="3200400" cy="676655"/>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עובד בחלון הקשר משלו, ומחזיר לשיחה רק סיכום.</a:t>
            </a:r>
          </a:p>
        </p:txBody>
      </p:sp>
      <p:sp>
        <p:nvSpPr>
          <p:cNvPr id="13" name="Rounded Rectangle 12"/>
          <p:cNvSpPr/>
          <p:nvPr/>
        </p:nvSpPr>
        <p:spPr>
          <a:xfrm>
            <a:off x="560527" y="1463040"/>
            <a:ext cx="3566160" cy="1463040"/>
          </a:xfrm>
          <a:prstGeom prst="roundRect">
            <a:avLst>
              <a:gd name="adj" fmla="val 6000"/>
            </a:avLst>
          </a:prstGeom>
          <a:solidFill>
            <a:srgbClr val="F7F8F8"/>
          </a:solidFill>
          <a:ln>
            <a:noFill/>
          </a:ln>
          <a:effectLst/>
        </p:spPr>
        <p:txBody>
          <a:bodyPr rtlCol="0" anchor="ctr"/>
          <a:lstStyle/>
          <a:p>
            <a:pPr algn="ctr"/>
          </a:p>
        </p:txBody>
      </p:sp>
      <p:sp>
        <p:nvSpPr>
          <p:cNvPr id="14" name="Oval 13"/>
          <p:cNvSpPr/>
          <p:nvPr/>
        </p:nvSpPr>
        <p:spPr>
          <a:xfrm>
            <a:off x="3559759" y="164592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5" name="TextBox 14"/>
          <p:cNvSpPr txBox="1"/>
          <p:nvPr/>
        </p:nvSpPr>
        <p:spPr>
          <a:xfrm>
            <a:off x="670255" y="1645920"/>
            <a:ext cx="2834639" cy="420624"/>
          </a:xfrm>
          <a:prstGeom prst="rect">
            <a:avLst/>
          </a:prstGeom>
          <a:noFill/>
        </p:spPr>
        <p:txBody>
          <a:bodyPr wrap="square" lIns="73152" rIns="73152" tIns="54864" bIns="54864" anchor="ctr">
            <a:noAutofit/>
          </a:bodyPr>
          <a:lstStyle/>
          <a:p>
            <a:pPr rtl="1" algn="r">
              <a:lnSpc>
                <a:spcPct val="100000"/>
              </a:lnSpc>
            </a:pPr>
            <a:r>
              <a:rPr sz="1900" b="1" i="0" lang="he-IL">
                <a:solidFill>
                  <a:srgbClr val="0A1A33"/>
                </a:solidFill>
                <a:latin typeface="Rubik"/>
                <a:ea typeface="Rubik"/>
                <a:cs typeface="Rubik"/>
              </a:rPr>
              <a:t>כלים מוגדרים</a:t>
            </a:r>
          </a:p>
        </p:txBody>
      </p:sp>
      <p:sp>
        <p:nvSpPr>
          <p:cNvPr id="16" name="TextBox 15"/>
          <p:cNvSpPr txBox="1"/>
          <p:nvPr/>
        </p:nvSpPr>
        <p:spPr>
          <a:xfrm>
            <a:off x="743407" y="2157984"/>
            <a:ext cx="3200400" cy="676655"/>
          </a:xfrm>
          <a:prstGeom prst="rect">
            <a:avLst/>
          </a:prstGeom>
          <a:noFill/>
        </p:spPr>
        <p:txBody>
          <a:bodyPr wrap="square" lIns="73152" rIns="73152" tIns="54864" bIns="54864" anchor="t">
            <a:noAutofit/>
          </a:bodyPr>
          <a:lstStyle/>
          <a:p>
            <a:pPr rtl="1" algn="r">
              <a:lnSpc>
                <a:spcPct val="115000"/>
              </a:lnSpc>
              <a:spcAft>
                <a:spcPts val="400"/>
              </a:spcAft>
            </a:pPr>
            <a:r>
              <a:rPr sz="1600" b="0" i="0" lang="he-IL">
                <a:solidFill>
                  <a:srgbClr val="4C5058"/>
                </a:solidFill>
                <a:latin typeface="Rubik"/>
                <a:ea typeface="Rubik"/>
                <a:cs typeface="Rubik"/>
              </a:rPr>
              <a:t>אפשר להגביל אותו, למשל לקריאה בלבד.</a:t>
            </a:r>
          </a:p>
        </p:txBody>
      </p:sp>
      <p:sp>
        <p:nvSpPr>
          <p:cNvPr id="17" name="TextBox 16"/>
          <p:cNvSpPr txBox="1"/>
          <p:nvPr/>
        </p:nvSpPr>
        <p:spPr>
          <a:xfrm>
            <a:off x="6355080" y="3154680"/>
            <a:ext cx="5285232"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דוגמה: ‎report-checker‎</a:t>
            </a:r>
          </a:p>
        </p:txBody>
      </p:sp>
      <p:sp>
        <p:nvSpPr>
          <p:cNvPr id="18" name="TextBox 17"/>
          <p:cNvSpPr txBox="1"/>
          <p:nvPr/>
        </p:nvSpPr>
        <p:spPr>
          <a:xfrm>
            <a:off x="6355080" y="3611880"/>
            <a:ext cx="5285232" cy="146304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משווה את הטיוטה לקבצים ב־‎01_originals‎.</a:t>
            </a:r>
          </a:p>
          <a:p>
            <a:pPr rtl="1" algn="r">
              <a:lnSpc>
                <a:spcPct val="110000"/>
              </a:lnSpc>
              <a:spcAft>
                <a:spcPts val="600"/>
              </a:spcAft>
            </a:pPr>
            <a:r>
              <a:rPr sz="1700" b="0" i="0" lang="he-IL">
                <a:solidFill>
                  <a:srgbClr val="4C5058"/>
                </a:solidFill>
                <a:latin typeface="Rubik"/>
                <a:ea typeface="Rubik"/>
                <a:cs typeface="Rubik"/>
              </a:rPr>
              <a:t>מחזיר רשימה: נתונים ללא מקור, ונתונים שסותרים את המקור.</a:t>
            </a:r>
          </a:p>
          <a:p>
            <a:pPr rtl="1" algn="r">
              <a:lnSpc>
                <a:spcPct val="110000"/>
              </a:lnSpc>
              <a:spcAft>
                <a:spcPts val="600"/>
              </a:spcAft>
            </a:pPr>
            <a:r>
              <a:rPr sz="1700" b="0" i="0" lang="he-IL">
                <a:solidFill>
                  <a:srgbClr val="4C5058"/>
                </a:solidFill>
                <a:latin typeface="Rubik"/>
                <a:ea typeface="Rubik"/>
                <a:cs typeface="Rubik"/>
              </a:rPr>
              <a:t>לא משנה קבצים.</a:t>
            </a:r>
          </a:p>
        </p:txBody>
      </p:sp>
      <p:sp>
        <p:nvSpPr>
          <p:cNvPr id="19" name="Rounded Rectangle 18"/>
          <p:cNvSpPr/>
          <p:nvPr/>
        </p:nvSpPr>
        <p:spPr>
          <a:xfrm>
            <a:off x="548640" y="3108960"/>
            <a:ext cx="5394960" cy="1965960"/>
          </a:xfrm>
          <a:prstGeom prst="roundRect">
            <a:avLst>
              <a:gd name="adj" fmla="val 6000"/>
            </a:avLst>
          </a:prstGeom>
          <a:solidFill>
            <a:srgbClr val="0A1A33"/>
          </a:solidFill>
          <a:ln>
            <a:noFill/>
          </a:ln>
          <a:effectLst/>
        </p:spPr>
        <p:txBody>
          <a:bodyPr rtlCol="0" anchor="ctr"/>
          <a:lstStyle/>
          <a:p>
            <a:pPr algn="ctr"/>
          </a:p>
        </p:txBody>
      </p:sp>
      <p:sp>
        <p:nvSpPr>
          <p:cNvPr id="20" name="TextBox 19"/>
          <p:cNvSpPr txBox="1"/>
          <p:nvPr/>
        </p:nvSpPr>
        <p:spPr>
          <a:xfrm>
            <a:off x="731520" y="3200400"/>
            <a:ext cx="502920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‎.claude/agents/report-checker.md‎</a:t>
            </a:r>
          </a:p>
        </p:txBody>
      </p:sp>
      <p:sp>
        <p:nvSpPr>
          <p:cNvPr id="21" name="TextBox 20"/>
          <p:cNvSpPr txBox="1"/>
          <p:nvPr/>
        </p:nvSpPr>
        <p:spPr>
          <a:xfrm>
            <a:off x="685800" y="3520440"/>
            <a:ext cx="5120640" cy="1481327"/>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a:t>
            </a:r>
          </a:p>
          <a:p>
            <a:pPr rtl="0" algn="l">
              <a:lnSpc>
                <a:spcPct val="115000"/>
              </a:lnSpc>
              <a:spcAft>
                <a:spcPts val="200"/>
              </a:spcAft>
            </a:pPr>
            <a:r>
              <a:rPr sz="1500" b="0" i="0" lang="en-US">
                <a:solidFill>
                  <a:srgbClr val="FFFFFF"/>
                </a:solidFill>
                <a:latin typeface="Consolas"/>
                <a:ea typeface="Consolas"/>
                <a:cs typeface="Rubik"/>
              </a:rPr>
              <a:t>name: report-checker</a:t>
            </a:r>
          </a:p>
          <a:p>
            <a:pPr rtl="0" algn="l">
              <a:lnSpc>
                <a:spcPct val="115000"/>
              </a:lnSpc>
              <a:spcAft>
                <a:spcPts val="200"/>
              </a:spcAft>
            </a:pPr>
            <a:r>
              <a:rPr sz="1500" b="0" i="0" lang="en-US">
                <a:solidFill>
                  <a:srgbClr val="FFFFFF"/>
                </a:solidFill>
                <a:latin typeface="Consolas"/>
                <a:ea typeface="Consolas"/>
                <a:cs typeface="Rubik"/>
              </a:rPr>
              <a:t>description: בודק טיוטה מול המקורות</a:t>
            </a:r>
          </a:p>
          <a:p>
            <a:pPr rtl="0" algn="l">
              <a:lnSpc>
                <a:spcPct val="115000"/>
              </a:lnSpc>
              <a:spcAft>
                <a:spcPts val="200"/>
              </a:spcAft>
            </a:pPr>
            <a:r>
              <a:rPr sz="1500" b="0" i="0" lang="en-US">
                <a:solidFill>
                  <a:srgbClr val="FFFFFF"/>
                </a:solidFill>
                <a:latin typeface="Consolas"/>
                <a:ea typeface="Consolas"/>
                <a:cs typeface="Rubik"/>
              </a:rPr>
              <a:t>tools: Read, Grep, Glob</a:t>
            </a:r>
          </a:p>
          <a:p>
            <a:pPr rtl="0" algn="l">
              <a:lnSpc>
                <a:spcPct val="115000"/>
              </a:lnSpc>
              <a:spcAft>
                <a:spcPts val="200"/>
              </a:spcAft>
            </a:pPr>
            <a:r>
              <a:rPr sz="1500" b="0" i="0" lang="en-US">
                <a:solidFill>
                  <a:srgbClr val="FFFFFF"/>
                </a:solidFill>
                <a:latin typeface="Consolas"/>
                <a:ea typeface="Consolas"/>
                <a:cs typeface="Rubik"/>
              </a:rPr>
              <a:t>---</a:t>
            </a:r>
          </a:p>
        </p:txBody>
      </p:sp>
      <p:sp>
        <p:nvSpPr>
          <p:cNvPr id="22" name="Rounded Rectangle 21"/>
          <p:cNvSpPr/>
          <p:nvPr/>
        </p:nvSpPr>
        <p:spPr>
          <a:xfrm>
            <a:off x="548640" y="5212080"/>
            <a:ext cx="11094415" cy="713232"/>
          </a:xfrm>
          <a:prstGeom prst="roundRect">
            <a:avLst>
              <a:gd name="adj" fmla="val 10000"/>
            </a:avLst>
          </a:prstGeom>
          <a:solidFill>
            <a:srgbClr val="FFFFFF"/>
          </a:solidFill>
          <a:ln w="19050">
            <a:solidFill>
              <a:srgbClr val="435FB5"/>
            </a:solidFill>
          </a:ln>
          <a:effectLst/>
        </p:spPr>
        <p:txBody>
          <a:bodyPr rtlCol="0" anchor="ctr"/>
          <a:lstStyle/>
          <a:p>
            <a:pPr algn="ctr"/>
          </a:p>
        </p:txBody>
      </p:sp>
      <p:sp>
        <p:nvSpPr>
          <p:cNvPr id="23" name="TextBox 22"/>
          <p:cNvSpPr txBox="1"/>
          <p:nvPr/>
        </p:nvSpPr>
        <p:spPr>
          <a:xfrm>
            <a:off x="822959" y="5212080"/>
            <a:ext cx="10545775" cy="713232"/>
          </a:xfrm>
          <a:prstGeom prst="rect">
            <a:avLst/>
          </a:prstGeom>
          <a:noFill/>
        </p:spPr>
        <p:txBody>
          <a:bodyPr wrap="square" lIns="73152" rIns="73152" tIns="54864" bIns="54864" anchor="ctr">
            <a:noAutofit/>
          </a:bodyPr>
          <a:lstStyle/>
          <a:p>
            <a:pPr rtl="1" algn="r">
              <a:lnSpc>
                <a:spcPct val="110000"/>
              </a:lnSpc>
              <a:spcAft>
                <a:spcPts val="600"/>
              </a:spcAft>
            </a:pPr>
            <a:r>
              <a:rPr sz="1600" b="1" i="0" lang="he-IL">
                <a:solidFill>
                  <a:srgbClr val="435FB5"/>
                </a:solidFill>
                <a:latin typeface="Rubik"/>
                <a:ea typeface="Rubik"/>
                <a:cs typeface="Rubik"/>
              </a:rPr>
              <a:t>לא לבלבל: </a:t>
            </a:r>
            <a:r>
              <a:rPr sz="1600" b="0" i="0" lang="he-IL">
                <a:solidFill>
                  <a:srgbClr val="0A1A33"/>
                </a:solidFill>
                <a:latin typeface="Rubik"/>
                <a:ea typeface="Rubik"/>
                <a:cs typeface="Rubik"/>
              </a:rPr>
              <a:t>Agent Teams הוא צוות של כמה שיחות מתואמות, וזמין בטרמינל ולא באפליקציה. היום משתמשים רק בסוכן משנה.</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26</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בקשה, הוראות, סקיל וסוכן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371600"/>
          <a:ext cx="11094413" cy="2834640"/>
        </p:xfrm>
        <a:graphic>
          <a:graphicData uri="http://schemas.openxmlformats.org/drawingml/2006/table">
            <a:tbl>
              <a:tblPr firstRow="1" bandRow="0" rtl="1">
                <a:tableStyleId>{5940675A-B579-460E-94D1-54222C63F5DA}</a:tableStyleId>
              </a:tblPr>
              <a:tblGrid>
                <a:gridCol w="1849069"/>
                <a:gridCol w="2773603"/>
                <a:gridCol w="2773603"/>
                <a:gridCol w="3698138"/>
              </a:tblGrid>
              <a:tr h="566928">
                <a:tc>
                  <a:txBody>
                    <a:bodyPr wrap="square"/>
                    <a:lstStyle/>
                    <a:p>
                      <a:pPr rtl="1" algn="r"/>
                      <a:r>
                        <a:rPr sz="1600" b="1" i="0" lang="he-IL">
                          <a:solidFill>
                            <a:srgbClr val="FFFFFF"/>
                          </a:solidFill>
                          <a:latin typeface="Rubik"/>
                          <a:ea typeface="Rubik"/>
                          <a:cs typeface="Rubik"/>
                        </a:rPr>
                        <a:t>רכיב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מה זה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מתי משתמשים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דוגמה מתיק לוי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600" b="1" i="0" lang="he-IL">
                          <a:solidFill>
                            <a:srgbClr val="0A1A33"/>
                          </a:solidFill>
                          <a:latin typeface="Rubik"/>
                          <a:ea typeface="Rubik"/>
                          <a:cs typeface="Rubik"/>
                        </a:rPr>
                        <a:t>בקשה בשיחה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הוראה חד־פעמית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משימה אחת, עכשיו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„הצג את כל הסכומים שבשאלון”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600" b="1" i="0" lang="he-IL">
                          <a:solidFill>
                            <a:srgbClr val="0A1A33"/>
                          </a:solidFill>
                          <a:latin typeface="Rubik"/>
                          <a:ea typeface="Rubik"/>
                          <a:cs typeface="Rubik"/>
                        </a:rPr>
                        <a:t>‎CLAUDE.md‎</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הוראות קבועות לפרויקט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כללים שחלים תמיד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„לכל נתון ציין קובץ 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600" b="1" i="0" lang="he-IL">
                          <a:solidFill>
                            <a:srgbClr val="0A1A33"/>
                          </a:solidFill>
                          <a:latin typeface="Rubik"/>
                          <a:ea typeface="Rubik"/>
                          <a:cs typeface="Rubik"/>
                        </a:rPr>
                        <a:t>סקיל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תהליך חוזר עם שלבים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עבודה שחוזרת בכל תיק</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‎‎/prepare-bank-file‎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600" b="1" i="0" lang="he-IL">
                          <a:solidFill>
                            <a:srgbClr val="0A1A33"/>
                          </a:solidFill>
                          <a:latin typeface="Rubik"/>
                          <a:ea typeface="Rubik"/>
                          <a:cs typeface="Rubik"/>
                        </a:rPr>
                        <a:t>סוכן משנה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משימה ממוקדת בהקשר נפרד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בדיקה שלא מעמיסה על השיחה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‎report-checker‎ בודק את הטיוטה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6" name="Rounded Rectangle 5"/>
          <p:cNvSpPr/>
          <p:nvPr/>
        </p:nvSpPr>
        <p:spPr>
          <a:xfrm>
            <a:off x="548640" y="4434840"/>
            <a:ext cx="11094415" cy="146304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4434840"/>
            <a:ext cx="73152" cy="146304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454456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האצלת בדיקת הדוח לסוכן משנה</a:t>
            </a:r>
          </a:p>
        </p:txBody>
      </p:sp>
      <p:sp>
        <p:nvSpPr>
          <p:cNvPr id="9" name="TextBox 8"/>
          <p:cNvSpPr txBox="1"/>
          <p:nvPr/>
        </p:nvSpPr>
        <p:spPr>
          <a:xfrm>
            <a:off x="731520" y="4873752"/>
            <a:ext cx="10682935" cy="960120"/>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השתמש בסוכן המשנה ‎report-checker‎ כדי להשוות את ‎03_reports/draft.md‎ לקבצים ב־‎01_originals‎. החזר רק נתונים ללא מקור וסתירות. אל תשנה קבצים.</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27</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תקלות נפוצות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371600"/>
          <a:ext cx="11094414" cy="3621024"/>
        </p:xfrm>
        <a:graphic>
          <a:graphicData uri="http://schemas.openxmlformats.org/drawingml/2006/table">
            <a:tbl>
              <a:tblPr firstRow="1" bandRow="0" rtl="1">
                <a:tableStyleId>{5940675A-B579-460E-94D1-54222C63F5DA}</a:tableStyleId>
              </a:tblPr>
              <a:tblGrid>
                <a:gridCol w="2033976"/>
                <a:gridCol w="3143417"/>
                <a:gridCol w="5917021"/>
              </a:tblGrid>
              <a:tr h="603504">
                <a:tc>
                  <a:txBody>
                    <a:bodyPr wrap="square"/>
                    <a:lstStyle/>
                    <a:p>
                      <a:pPr rtl="1" algn="r"/>
                      <a:r>
                        <a:rPr sz="1500" b="1" i="0" lang="he-IL">
                          <a:solidFill>
                            <a:srgbClr val="FFFFFF"/>
                          </a:solidFill>
                          <a:latin typeface="Rubik"/>
                          <a:ea typeface="Rubik"/>
                          <a:cs typeface="Rubik"/>
                        </a:rPr>
                        <a:t>תקלה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500" b="1" i="0" lang="he-IL">
                          <a:solidFill>
                            <a:srgbClr val="FFFFFF"/>
                          </a:solidFill>
                          <a:latin typeface="Rubik"/>
                          <a:ea typeface="Rubik"/>
                          <a:cs typeface="Rubik"/>
                        </a:rPr>
                        <a:t>איך מזהים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500" b="1" i="0" lang="he-IL">
                          <a:solidFill>
                            <a:srgbClr val="FFFFFF"/>
                          </a:solidFill>
                          <a:latin typeface="Rubik"/>
                          <a:ea typeface="Rubik"/>
                          <a:cs typeface="Rubik"/>
                        </a:rPr>
                        <a:t>בקשת תיקון ממוקדת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603504">
                <a:tc>
                  <a:txBody>
                    <a:bodyPr wrap="square"/>
                    <a:lstStyle/>
                    <a:p>
                      <a:pPr rtl="1" algn="r"/>
                      <a:r>
                        <a:rPr sz="1500" b="1" i="0" lang="he-IL">
                          <a:solidFill>
                            <a:srgbClr val="0A1A33"/>
                          </a:solidFill>
                          <a:latin typeface="Rubik"/>
                          <a:ea typeface="Rubik"/>
                          <a:cs typeface="Rubik"/>
                        </a:rPr>
                        <a:t>תיקייה שגויה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Claude לא מוצא את ‎01_originals‎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בודקים את בורר התיקייה. „באיזו תיקייה אתה עובד? הצג את התיקיות שבה.”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603504">
                <a:tc>
                  <a:txBody>
                    <a:bodyPr wrap="square"/>
                    <a:lstStyle/>
                    <a:p>
                      <a:pPr rtl="1" algn="r"/>
                      <a:r>
                        <a:rPr sz="1500" b="1" i="0" lang="he-IL">
                          <a:solidFill>
                            <a:srgbClr val="0A1A33"/>
                          </a:solidFill>
                          <a:latin typeface="Rubik"/>
                          <a:ea typeface="Rubik"/>
                          <a:cs typeface="Rubik"/>
                        </a:rPr>
                        <a:t>קובץ שלא נקרא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הקובץ חסר ברשימת הקבצים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„‎scan_0012.txt‎ לא מופיע ברשימה. קרא אותו ועדכן את הטבלה.”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603504">
                <a:tc>
                  <a:txBody>
                    <a:bodyPr wrap="square"/>
                    <a:lstStyle/>
                    <a:p>
                      <a:pPr rtl="1" algn="r"/>
                      <a:r>
                        <a:rPr sz="1500" b="1" i="0" lang="he-IL">
                          <a:solidFill>
                            <a:srgbClr val="0A1A33"/>
                          </a:solidFill>
                          <a:latin typeface="Rubik"/>
                          <a:ea typeface="Rubik"/>
                          <a:cs typeface="Rubik"/>
                        </a:rPr>
                        <a:t>תוצר במקום אחר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הדוח לא נמצא ב־‎03_reports‎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„איפה שמרת את הדוח? העבר אותו ל־‎03_reports‎.”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603504">
                <a:tc>
                  <a:txBody>
                    <a:bodyPr wrap="square"/>
                    <a:lstStyle/>
                    <a:p>
                      <a:pPr rtl="1" algn="r"/>
                      <a:r>
                        <a:rPr sz="1500" b="1" i="0" lang="he-IL">
                          <a:solidFill>
                            <a:srgbClr val="0A1A33"/>
                          </a:solidFill>
                          <a:latin typeface="Rubik"/>
                          <a:ea typeface="Rubik"/>
                          <a:cs typeface="Rubik"/>
                        </a:rPr>
                        <a:t>מידע 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שדה ריק או ניחוש בטיוטה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500" b="0" i="0" lang="he-IL">
                          <a:solidFill>
                            <a:srgbClr val="0A1A33"/>
                          </a:solidFill>
                          <a:latin typeface="Rubik"/>
                          <a:ea typeface="Rubik"/>
                          <a:cs typeface="Rubik"/>
                        </a:rPr>
                        <a:t>„סמן את השדה כ׳חסר׳ והוסף אותו לשאלות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603504">
                <a:tc>
                  <a:txBody>
                    <a:bodyPr wrap="square"/>
                    <a:lstStyle/>
                    <a:p>
                      <a:pPr rtl="1" algn="r"/>
                      <a:r>
                        <a:rPr sz="1500" b="1" i="0" lang="he-IL">
                          <a:solidFill>
                            <a:srgbClr val="0A1A33"/>
                          </a:solidFill>
                          <a:latin typeface="Rubik"/>
                          <a:ea typeface="Rubik"/>
                          <a:cs typeface="Rubik"/>
                        </a:rPr>
                        <a:t>מגבלת שימוש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הודעה שהגעתם למגבלת השימוש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500" b="0" i="0" lang="he-IL">
                          <a:solidFill>
                            <a:srgbClr val="0A1A33"/>
                          </a:solidFill>
                          <a:latin typeface="Rubik"/>
                          <a:ea typeface="Rubik"/>
                          <a:cs typeface="Rubik"/>
                        </a:rPr>
                        <a:t>ממתינים לחידוש המכסה. טבעת השימוש מופיעה ליד בורר המודל.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6" name="Rounded Rectangle 5"/>
          <p:cNvSpPr/>
          <p:nvPr/>
        </p:nvSpPr>
        <p:spPr>
          <a:xfrm>
            <a:off x="548640" y="5257800"/>
            <a:ext cx="11094415" cy="685800"/>
          </a:xfrm>
          <a:prstGeom prst="roundRect">
            <a:avLst>
              <a:gd name="adj" fmla="val 10000"/>
            </a:avLst>
          </a:prstGeom>
          <a:solidFill>
            <a:srgbClr val="EAF3FF"/>
          </a:solidFill>
          <a:ln>
            <a:noFill/>
          </a:ln>
          <a:effectLst/>
        </p:spPr>
        <p:txBody>
          <a:bodyPr rtlCol="0" anchor="ctr"/>
          <a:lstStyle/>
          <a:p>
            <a:pPr algn="ctr"/>
          </a:p>
        </p:txBody>
      </p:sp>
      <p:sp>
        <p:nvSpPr>
          <p:cNvPr id="7" name="TextBox 6"/>
          <p:cNvSpPr txBox="1"/>
          <p:nvPr/>
        </p:nvSpPr>
        <p:spPr>
          <a:xfrm>
            <a:off x="822959" y="5257800"/>
            <a:ext cx="10545775" cy="68580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435FB5"/>
                </a:solidFill>
                <a:latin typeface="Rubik"/>
                <a:ea typeface="Rubik"/>
                <a:cs typeface="Rubik"/>
              </a:rPr>
              <a:t>העיקרון: </a:t>
            </a:r>
            <a:r>
              <a:rPr sz="1700" b="0" i="0" lang="he-IL">
                <a:solidFill>
                  <a:srgbClr val="0A1A33"/>
                </a:solidFill>
                <a:latin typeface="Rubik"/>
                <a:ea typeface="Rubik"/>
                <a:cs typeface="Rubik"/>
              </a:rPr>
              <a:t>מתארים ל־Claude מה קרה בפועל, מעתיקים את הודעת השגיאה, ומבקשים תיקון אחד ממוקד.</a:t>
            </a:r>
          </a:p>
        </p:txBody>
      </p:sp>
      <p:sp>
        <p:nvSpPr>
          <p:cNvPr id="8" name="TextBox 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28</a:t>
            </a:r>
            <a:r>
              <a:rPr sz="1200" b="0" i="0" lang="he-IL">
                <a:solidFill>
                  <a:srgbClr val="8D9299"/>
                </a:solidFill>
                <a:latin typeface="Rubik"/>
                <a:ea typeface="Rubik"/>
                <a:cs typeface="Rubik"/>
              </a:rPr>
              <a:t>  |  Claude Code ליועצי משכנתאות</a:t>
            </a:r>
          </a:p>
        </p:txBody>
      </p:sp>
      <p:pic>
        <p:nvPicPr>
          <p:cNvPr id="9" name="Picture 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התוצר של המשתתף</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991295" y="1463040"/>
            <a:ext cx="2651760" cy="365760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6" name="Rectangle 5"/>
          <p:cNvSpPr/>
          <p:nvPr/>
        </p:nvSpPr>
        <p:spPr>
          <a:xfrm>
            <a:off x="8991295" y="1463040"/>
            <a:ext cx="2651760" cy="566928"/>
          </a:xfrm>
          <a:prstGeom prst="rect">
            <a:avLst/>
          </a:prstGeom>
          <a:solidFill>
            <a:srgbClr val="EAF3FF"/>
          </a:solidFill>
          <a:ln>
            <a:noFill/>
          </a:ln>
          <a:effectLst/>
        </p:spPr>
        <p:txBody>
          <a:bodyPr rtlCol="0" anchor="ctr"/>
          <a:lstStyle/>
          <a:p>
            <a:pPr algn="ctr"/>
          </a:p>
        </p:txBody>
      </p:sp>
      <p:sp>
        <p:nvSpPr>
          <p:cNvPr id="7" name="TextBox 6"/>
          <p:cNvSpPr txBox="1"/>
          <p:nvPr/>
        </p:nvSpPr>
        <p:spPr>
          <a:xfrm>
            <a:off x="9128455" y="1463040"/>
            <a:ext cx="2377440" cy="566928"/>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0A1A33"/>
                </a:solidFill>
                <a:latin typeface="Rubik"/>
                <a:ea typeface="Rubik"/>
                <a:cs typeface="Rubik"/>
              </a:rPr>
              <a:t>מקורות שמורים</a:t>
            </a:r>
          </a:p>
        </p:txBody>
      </p:sp>
      <p:sp>
        <p:nvSpPr>
          <p:cNvPr id="8" name="Rounded Rectangle 7"/>
          <p:cNvSpPr/>
          <p:nvPr/>
        </p:nvSpPr>
        <p:spPr>
          <a:xfrm>
            <a:off x="11185855" y="22860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9" name="TextBox 8"/>
          <p:cNvSpPr txBox="1"/>
          <p:nvPr/>
        </p:nvSpPr>
        <p:spPr>
          <a:xfrm>
            <a:off x="9101023" y="22402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5 קבצים ב־‎01_originals‎</a:t>
            </a:r>
          </a:p>
        </p:txBody>
      </p:sp>
      <p:sp>
        <p:nvSpPr>
          <p:cNvPr id="10" name="Rounded Rectangle 9"/>
          <p:cNvSpPr/>
          <p:nvPr/>
        </p:nvSpPr>
        <p:spPr>
          <a:xfrm>
            <a:off x="11185855" y="32004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1" name="TextBox 10"/>
          <p:cNvSpPr txBox="1"/>
          <p:nvPr/>
        </p:nvSpPr>
        <p:spPr>
          <a:xfrm>
            <a:off x="9101023" y="31546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תוכן ללא שינוי</a:t>
            </a:r>
          </a:p>
        </p:txBody>
      </p:sp>
      <p:sp>
        <p:nvSpPr>
          <p:cNvPr id="12" name="Rounded Rectangle 11"/>
          <p:cNvSpPr/>
          <p:nvPr/>
        </p:nvSpPr>
        <p:spPr>
          <a:xfrm>
            <a:off x="6174943" y="1463040"/>
            <a:ext cx="2651760" cy="365760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13" name="Rectangle 12"/>
          <p:cNvSpPr/>
          <p:nvPr/>
        </p:nvSpPr>
        <p:spPr>
          <a:xfrm>
            <a:off x="6174943" y="1463040"/>
            <a:ext cx="2651760" cy="566928"/>
          </a:xfrm>
          <a:prstGeom prst="rect">
            <a:avLst/>
          </a:prstGeom>
          <a:solidFill>
            <a:srgbClr val="EAF3FF"/>
          </a:solidFill>
          <a:ln>
            <a:noFill/>
          </a:ln>
          <a:effectLst/>
        </p:spPr>
        <p:txBody>
          <a:bodyPr rtlCol="0" anchor="ctr"/>
          <a:lstStyle/>
          <a:p>
            <a:pPr algn="ctr"/>
          </a:p>
        </p:txBody>
      </p:sp>
      <p:sp>
        <p:nvSpPr>
          <p:cNvPr id="14" name="TextBox 13"/>
          <p:cNvSpPr txBox="1"/>
          <p:nvPr/>
        </p:nvSpPr>
        <p:spPr>
          <a:xfrm>
            <a:off x="6312103" y="1463040"/>
            <a:ext cx="2377440" cy="566928"/>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0A1A33"/>
                </a:solidFill>
                <a:latin typeface="Rubik"/>
                <a:ea typeface="Rubik"/>
                <a:cs typeface="Rubik"/>
              </a:rPr>
              <a:t>עותקים מסודרים</a:t>
            </a:r>
          </a:p>
        </p:txBody>
      </p:sp>
      <p:sp>
        <p:nvSpPr>
          <p:cNvPr id="15" name="Rounded Rectangle 14"/>
          <p:cNvSpPr/>
          <p:nvPr/>
        </p:nvSpPr>
        <p:spPr>
          <a:xfrm>
            <a:off x="8369503" y="22860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6" name="TextBox 15"/>
          <p:cNvSpPr txBox="1"/>
          <p:nvPr/>
        </p:nvSpPr>
        <p:spPr>
          <a:xfrm>
            <a:off x="6284671" y="22402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4 עותקים ב־‎02_organized‎</a:t>
            </a:r>
          </a:p>
        </p:txBody>
      </p:sp>
      <p:sp>
        <p:nvSpPr>
          <p:cNvPr id="17" name="Rounded Rectangle 16"/>
          <p:cNvSpPr/>
          <p:nvPr/>
        </p:nvSpPr>
        <p:spPr>
          <a:xfrm>
            <a:off x="8369503" y="32004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8" name="TextBox 17"/>
          <p:cNvSpPr txBox="1"/>
          <p:nvPr/>
        </p:nvSpPr>
        <p:spPr>
          <a:xfrm>
            <a:off x="6284671" y="31546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קובץ ‎name_map.md‎ קיים</a:t>
            </a:r>
          </a:p>
        </p:txBody>
      </p:sp>
      <p:sp>
        <p:nvSpPr>
          <p:cNvPr id="19" name="Rounded Rectangle 18"/>
          <p:cNvSpPr/>
          <p:nvPr/>
        </p:nvSpPr>
        <p:spPr>
          <a:xfrm>
            <a:off x="8369503" y="41148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0" name="TextBox 19"/>
          <p:cNvSpPr txBox="1"/>
          <p:nvPr/>
        </p:nvSpPr>
        <p:spPr>
          <a:xfrm>
            <a:off x="6284671" y="40690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הכפילות מסומנת</a:t>
            </a:r>
          </a:p>
        </p:txBody>
      </p:sp>
      <p:sp>
        <p:nvSpPr>
          <p:cNvPr id="21" name="Rounded Rectangle 20"/>
          <p:cNvSpPr/>
          <p:nvPr/>
        </p:nvSpPr>
        <p:spPr>
          <a:xfrm>
            <a:off x="3358591" y="1463040"/>
            <a:ext cx="2651760" cy="365760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22" name="Rectangle 21"/>
          <p:cNvSpPr/>
          <p:nvPr/>
        </p:nvSpPr>
        <p:spPr>
          <a:xfrm>
            <a:off x="3358591" y="1463040"/>
            <a:ext cx="2651760" cy="566928"/>
          </a:xfrm>
          <a:prstGeom prst="rect">
            <a:avLst/>
          </a:prstGeom>
          <a:solidFill>
            <a:srgbClr val="EAF3FF"/>
          </a:solidFill>
          <a:ln>
            <a:noFill/>
          </a:ln>
          <a:effectLst/>
        </p:spPr>
        <p:txBody>
          <a:bodyPr rtlCol="0" anchor="ctr"/>
          <a:lstStyle/>
          <a:p>
            <a:pPr algn="ctr"/>
          </a:p>
        </p:txBody>
      </p:sp>
      <p:sp>
        <p:nvSpPr>
          <p:cNvPr id="23" name="TextBox 22"/>
          <p:cNvSpPr txBox="1"/>
          <p:nvPr/>
        </p:nvSpPr>
        <p:spPr>
          <a:xfrm>
            <a:off x="3495751" y="1463040"/>
            <a:ext cx="2377440" cy="566928"/>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0A1A33"/>
                </a:solidFill>
                <a:latin typeface="Rubik"/>
                <a:ea typeface="Rubik"/>
                <a:cs typeface="Rubik"/>
              </a:rPr>
              <a:t>טיוטה עם מקורות</a:t>
            </a:r>
          </a:p>
        </p:txBody>
      </p:sp>
      <p:sp>
        <p:nvSpPr>
          <p:cNvPr id="24" name="Rounded Rectangle 23"/>
          <p:cNvSpPr/>
          <p:nvPr/>
        </p:nvSpPr>
        <p:spPr>
          <a:xfrm>
            <a:off x="5553151" y="22860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5" name="TextBox 24"/>
          <p:cNvSpPr txBox="1"/>
          <p:nvPr/>
        </p:nvSpPr>
        <p:spPr>
          <a:xfrm>
            <a:off x="3468319" y="22402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קובץ ‎draft.md‎ קיים</a:t>
            </a:r>
          </a:p>
        </p:txBody>
      </p:sp>
      <p:sp>
        <p:nvSpPr>
          <p:cNvPr id="26" name="Rounded Rectangle 25"/>
          <p:cNvSpPr/>
          <p:nvPr/>
        </p:nvSpPr>
        <p:spPr>
          <a:xfrm>
            <a:off x="5553151" y="32004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7" name="TextBox 26"/>
          <p:cNvSpPr txBox="1"/>
          <p:nvPr/>
        </p:nvSpPr>
        <p:spPr>
          <a:xfrm>
            <a:off x="3468319" y="31546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לכל נתון קובץ מקור</a:t>
            </a:r>
          </a:p>
        </p:txBody>
      </p:sp>
      <p:sp>
        <p:nvSpPr>
          <p:cNvPr id="28" name="Rounded Rectangle 27"/>
          <p:cNvSpPr/>
          <p:nvPr/>
        </p:nvSpPr>
        <p:spPr>
          <a:xfrm>
            <a:off x="5553151" y="41148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9" name="TextBox 28"/>
          <p:cNvSpPr txBox="1"/>
          <p:nvPr/>
        </p:nvSpPr>
        <p:spPr>
          <a:xfrm>
            <a:off x="3468319" y="40690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כותרת: טיוטה לבדיקת היועץ</a:t>
            </a:r>
          </a:p>
        </p:txBody>
      </p:sp>
      <p:sp>
        <p:nvSpPr>
          <p:cNvPr id="30" name="Rounded Rectangle 29"/>
          <p:cNvSpPr/>
          <p:nvPr/>
        </p:nvSpPr>
        <p:spPr>
          <a:xfrm>
            <a:off x="542239" y="1463040"/>
            <a:ext cx="2651760" cy="3657600"/>
          </a:xfrm>
          <a:prstGeom prst="roundRect">
            <a:avLst>
              <a:gd name="adj" fmla="val 5000"/>
            </a:avLst>
          </a:prstGeom>
          <a:solidFill>
            <a:srgbClr val="FFFFFF"/>
          </a:solidFill>
          <a:ln w="12700">
            <a:solidFill>
              <a:srgbClr val="D4D6D8"/>
            </a:solidFill>
          </a:ln>
          <a:effectLst/>
        </p:spPr>
        <p:txBody>
          <a:bodyPr rtlCol="0" anchor="ctr"/>
          <a:lstStyle/>
          <a:p>
            <a:pPr algn="ctr"/>
          </a:p>
        </p:txBody>
      </p:sp>
      <p:sp>
        <p:nvSpPr>
          <p:cNvPr id="31" name="Rectangle 30"/>
          <p:cNvSpPr/>
          <p:nvPr/>
        </p:nvSpPr>
        <p:spPr>
          <a:xfrm>
            <a:off x="542239" y="1463040"/>
            <a:ext cx="2651760" cy="566928"/>
          </a:xfrm>
          <a:prstGeom prst="rect">
            <a:avLst/>
          </a:prstGeom>
          <a:solidFill>
            <a:srgbClr val="EAF3FF"/>
          </a:solidFill>
          <a:ln>
            <a:noFill/>
          </a:ln>
          <a:effectLst/>
        </p:spPr>
        <p:txBody>
          <a:bodyPr rtlCol="0" anchor="ctr"/>
          <a:lstStyle/>
          <a:p>
            <a:pPr algn="ctr"/>
          </a:p>
        </p:txBody>
      </p:sp>
      <p:sp>
        <p:nvSpPr>
          <p:cNvPr id="32" name="TextBox 31"/>
          <p:cNvSpPr txBox="1"/>
          <p:nvPr/>
        </p:nvSpPr>
        <p:spPr>
          <a:xfrm>
            <a:off x="679399" y="1463040"/>
            <a:ext cx="2377440" cy="566928"/>
          </a:xfrm>
          <a:prstGeom prst="rect">
            <a:avLst/>
          </a:prstGeom>
          <a:noFill/>
        </p:spPr>
        <p:txBody>
          <a:bodyPr wrap="square" lIns="73152" rIns="73152" tIns="54864" bIns="54864" anchor="ctr">
            <a:noAutofit/>
          </a:bodyPr>
          <a:lstStyle/>
          <a:p>
            <a:pPr rtl="1" algn="r">
              <a:lnSpc>
                <a:spcPct val="110000"/>
              </a:lnSpc>
              <a:spcAft>
                <a:spcPts val="600"/>
              </a:spcAft>
            </a:pPr>
            <a:r>
              <a:rPr sz="1800" b="1" i="0" lang="he-IL">
                <a:solidFill>
                  <a:srgbClr val="0A1A33"/>
                </a:solidFill>
                <a:latin typeface="Rubik"/>
                <a:ea typeface="Rubik"/>
                <a:cs typeface="Rubik"/>
              </a:rPr>
              <a:t>חוסרים ושאלות</a:t>
            </a:r>
          </a:p>
        </p:txBody>
      </p:sp>
      <p:sp>
        <p:nvSpPr>
          <p:cNvPr id="33" name="Rounded Rectangle 32"/>
          <p:cNvSpPr/>
          <p:nvPr/>
        </p:nvSpPr>
        <p:spPr>
          <a:xfrm>
            <a:off x="2736799" y="22860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34" name="TextBox 33"/>
          <p:cNvSpPr txBox="1"/>
          <p:nvPr/>
        </p:nvSpPr>
        <p:spPr>
          <a:xfrm>
            <a:off x="651967" y="22402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דפי עו״ש ברשימת החוסרים</a:t>
            </a:r>
          </a:p>
        </p:txBody>
      </p:sp>
      <p:sp>
        <p:nvSpPr>
          <p:cNvPr id="35" name="Rounded Rectangle 34"/>
          <p:cNvSpPr/>
          <p:nvPr/>
        </p:nvSpPr>
        <p:spPr>
          <a:xfrm>
            <a:off x="2736799" y="32004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36" name="TextBox 35"/>
          <p:cNvSpPr txBox="1"/>
          <p:nvPr/>
        </p:nvSpPr>
        <p:spPr>
          <a:xfrm>
            <a:off x="651967" y="31546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שני הסכומים מוצגים</a:t>
            </a:r>
          </a:p>
        </p:txBody>
      </p:sp>
      <p:sp>
        <p:nvSpPr>
          <p:cNvPr id="37" name="Rounded Rectangle 36"/>
          <p:cNvSpPr/>
          <p:nvPr/>
        </p:nvSpPr>
        <p:spPr>
          <a:xfrm>
            <a:off x="2736799" y="4114800"/>
            <a:ext cx="292608" cy="292608"/>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38" name="TextBox 37"/>
          <p:cNvSpPr txBox="1"/>
          <p:nvPr/>
        </p:nvSpPr>
        <p:spPr>
          <a:xfrm>
            <a:off x="651967" y="4069080"/>
            <a:ext cx="2011680" cy="82296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0A1A33"/>
                </a:solidFill>
                <a:latin typeface="Rubik"/>
                <a:ea typeface="Rubik"/>
                <a:cs typeface="Rubik"/>
              </a:rPr>
              <a:t>הסתירה בשאלות לבירור</a:t>
            </a:r>
          </a:p>
        </p:txBody>
      </p:sp>
      <p:sp>
        <p:nvSpPr>
          <p:cNvPr id="39" name="Rounded Rectangle 38"/>
          <p:cNvSpPr/>
          <p:nvPr/>
        </p:nvSpPr>
        <p:spPr>
          <a:xfrm>
            <a:off x="548640" y="5349240"/>
            <a:ext cx="11094415" cy="594360"/>
          </a:xfrm>
          <a:prstGeom prst="roundRect">
            <a:avLst>
              <a:gd name="adj" fmla="val 10000"/>
            </a:avLst>
          </a:prstGeom>
          <a:solidFill>
            <a:srgbClr val="F7F8F8"/>
          </a:solidFill>
          <a:ln>
            <a:noFill/>
          </a:ln>
          <a:effectLst/>
        </p:spPr>
        <p:txBody>
          <a:bodyPr rtlCol="0" anchor="ctr"/>
          <a:lstStyle/>
          <a:p>
            <a:pPr algn="ctr"/>
          </a:p>
        </p:txBody>
      </p:sp>
      <p:sp>
        <p:nvSpPr>
          <p:cNvPr id="40" name="TextBox 39"/>
          <p:cNvSpPr txBox="1"/>
          <p:nvPr/>
        </p:nvSpPr>
        <p:spPr>
          <a:xfrm>
            <a:off x="822959" y="5349240"/>
            <a:ext cx="10545775" cy="594360"/>
          </a:xfrm>
          <a:prstGeom prst="rect">
            <a:avLst/>
          </a:prstGeom>
          <a:noFill/>
        </p:spPr>
        <p:txBody>
          <a:bodyPr wrap="square" lIns="73152" rIns="73152" tIns="54864" bIns="54864" anchor="ctr">
            <a:noAutofit/>
          </a:bodyPr>
          <a:lstStyle/>
          <a:p>
            <a:pPr rtl="1" algn="r">
              <a:lnSpc>
                <a:spcPct val="110000"/>
              </a:lnSpc>
              <a:spcAft>
                <a:spcPts val="600"/>
              </a:spcAft>
            </a:pPr>
            <a:r>
              <a:rPr sz="1700" b="0" i="0" lang="he-IL">
                <a:solidFill>
                  <a:srgbClr val="0A1A33"/>
                </a:solidFill>
                <a:latin typeface="Rubik"/>
                <a:ea typeface="Rubik"/>
                <a:cs typeface="Rubik"/>
              </a:rPr>
              <a:t>כל משתתף בודק את התיק שלו לפי הרשימה, ומסמן מה תקין ומה דורש תיקון.</a:t>
            </a:r>
          </a:p>
        </p:txBody>
      </p:sp>
      <p:sp>
        <p:nvSpPr>
          <p:cNvPr id="41" name="TextBox 4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29</a:t>
            </a:r>
            <a:r>
              <a:rPr sz="1200" b="0" i="0" lang="he-IL">
                <a:solidFill>
                  <a:srgbClr val="8D9299"/>
                </a:solidFill>
                <a:latin typeface="Rubik"/>
                <a:ea typeface="Rubik"/>
                <a:cs typeface="Rubik"/>
              </a:rPr>
              <a:t>  |  Claude Code ליועצי משכנתאות</a:t>
            </a:r>
          </a:p>
        </p:txBody>
      </p:sp>
      <p:pic>
        <p:nvPicPr>
          <p:cNvPr id="42" name="Picture 4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שאלות והמשך 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6355080" y="1463040"/>
            <a:ext cx="5285232"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64CAAD"/>
                </a:solidFill>
                <a:latin typeface="Rubik"/>
                <a:ea typeface="Rubik"/>
                <a:cs typeface="Rubik"/>
              </a:rPr>
              <a:t>שאלות הבנה</a:t>
            </a:r>
          </a:p>
        </p:txBody>
      </p:sp>
      <p:sp>
        <p:nvSpPr>
          <p:cNvPr id="6" name="TextBox 5"/>
          <p:cNvSpPr txBox="1"/>
          <p:nvPr/>
        </p:nvSpPr>
        <p:spPr>
          <a:xfrm>
            <a:off x="6355080" y="1965960"/>
            <a:ext cx="5285232" cy="3108960"/>
          </a:xfrm>
          <a:prstGeom prst="rect">
            <a:avLst/>
          </a:prstGeom>
          <a:noFill/>
        </p:spPr>
        <p:txBody>
          <a:bodyPr wrap="square" lIns="73152" rIns="73152" tIns="54864" bIns="54864" anchor="t">
            <a:noAutofit/>
          </a:bodyPr>
          <a:lstStyle/>
          <a:p>
            <a:pPr rtl="1" algn="r">
              <a:lnSpc>
                <a:spcPct val="110000"/>
              </a:lnSpc>
              <a:spcAft>
                <a:spcPts val="1200"/>
              </a:spcAft>
            </a:pPr>
            <a:r>
              <a:rPr sz="1800" b="0" i="0" lang="he-IL">
                <a:solidFill>
                  <a:srgbClr val="FFFFFF"/>
                </a:solidFill>
                <a:latin typeface="Rubik"/>
                <a:ea typeface="Rubik"/>
                <a:cs typeface="Rubik"/>
              </a:rPr>
              <a:t>1.  מתי כותבים כלל ב־‎CLAUDE.md‎, ומתי בונים סקיל?</a:t>
            </a:r>
          </a:p>
          <a:p>
            <a:pPr rtl="1" algn="r">
              <a:lnSpc>
                <a:spcPct val="110000"/>
              </a:lnSpc>
              <a:spcAft>
                <a:spcPts val="1200"/>
              </a:spcAft>
            </a:pPr>
            <a:r>
              <a:rPr sz="1800" b="0" i="0" lang="he-IL">
                <a:solidFill>
                  <a:srgbClr val="FFFFFF"/>
                </a:solidFill>
                <a:latin typeface="Rubik"/>
                <a:ea typeface="Rubik"/>
                <a:cs typeface="Rubik"/>
              </a:rPr>
              <a:t>2.  למה לא בוחרים בין 1,200,000 ₪ ל־1,300,000 ₪?</a:t>
            </a:r>
          </a:p>
          <a:p>
            <a:pPr rtl="1" algn="r">
              <a:lnSpc>
                <a:spcPct val="110000"/>
              </a:lnSpc>
              <a:spcAft>
                <a:spcPts val="1200"/>
              </a:spcAft>
            </a:pPr>
            <a:r>
              <a:rPr sz="1800" b="0" i="0" lang="he-IL">
                <a:solidFill>
                  <a:srgbClr val="FFFFFF"/>
                </a:solidFill>
                <a:latin typeface="Rubik"/>
                <a:ea typeface="Rubik"/>
                <a:cs typeface="Rubik"/>
              </a:rPr>
              <a:t>3.  מה סוכן המשנה מחזיר לשיחה, ומה הוא לא עושה?</a:t>
            </a:r>
          </a:p>
          <a:p>
            <a:pPr rtl="1" algn="r">
              <a:lnSpc>
                <a:spcPct val="110000"/>
              </a:lnSpc>
              <a:spcAft>
                <a:spcPts val="1200"/>
              </a:spcAft>
            </a:pPr>
            <a:r>
              <a:rPr sz="1800" b="0" i="0" lang="he-IL">
                <a:solidFill>
                  <a:srgbClr val="FFFFFF"/>
                </a:solidFill>
                <a:latin typeface="Rubik"/>
                <a:ea typeface="Rubik"/>
                <a:cs typeface="Rubik"/>
              </a:rPr>
              <a:t>4.  מה בחירת התיקייה לא מבטיחה?</a:t>
            </a:r>
          </a:p>
        </p:txBody>
      </p:sp>
      <p:sp>
        <p:nvSpPr>
          <p:cNvPr id="7" name="Rounded Rectangle 6"/>
          <p:cNvSpPr/>
          <p:nvPr/>
        </p:nvSpPr>
        <p:spPr>
          <a:xfrm>
            <a:off x="548640" y="1463040"/>
            <a:ext cx="5394960" cy="3657600"/>
          </a:xfrm>
          <a:prstGeom prst="roundRect">
            <a:avLst>
              <a:gd name="adj" fmla="val 6000"/>
            </a:avLst>
          </a:prstGeom>
          <a:solidFill>
            <a:srgbClr val="FFFFFF"/>
          </a:solidFill>
          <a:ln>
            <a:noFill/>
          </a:ln>
          <a:effectLst/>
        </p:spPr>
        <p:txBody>
          <a:bodyPr rtlCol="0" anchor="ctr"/>
          <a:lstStyle/>
          <a:p>
            <a:pPr algn="ctr"/>
          </a:p>
        </p:txBody>
      </p:sp>
      <p:sp>
        <p:nvSpPr>
          <p:cNvPr id="8" name="TextBox 7"/>
          <p:cNvSpPr txBox="1"/>
          <p:nvPr/>
        </p:nvSpPr>
        <p:spPr>
          <a:xfrm>
            <a:off x="822959" y="1600200"/>
            <a:ext cx="4846320"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435FB5"/>
                </a:solidFill>
                <a:latin typeface="Rubik"/>
                <a:ea typeface="Rubik"/>
                <a:cs typeface="Rubik"/>
              </a:rPr>
              <a:t>משימת המשך</a:t>
            </a:r>
          </a:p>
        </p:txBody>
      </p:sp>
      <p:sp>
        <p:nvSpPr>
          <p:cNvPr id="9" name="TextBox 8"/>
          <p:cNvSpPr txBox="1"/>
          <p:nvPr/>
        </p:nvSpPr>
        <p:spPr>
          <a:xfrm>
            <a:off x="822959" y="2103120"/>
            <a:ext cx="4846320" cy="2926080"/>
          </a:xfrm>
          <a:prstGeom prst="rect">
            <a:avLst/>
          </a:prstGeom>
          <a:noFill/>
        </p:spPr>
        <p:txBody>
          <a:bodyPr wrap="square" lIns="73152" rIns="73152" tIns="54864" bIns="54864" anchor="t">
            <a:noAutofit/>
          </a:bodyPr>
          <a:lstStyle/>
          <a:p>
            <a:pPr rtl="1" algn="r">
              <a:lnSpc>
                <a:spcPct val="110000"/>
              </a:lnSpc>
              <a:spcAft>
                <a:spcPts val="1000"/>
              </a:spcAft>
            </a:pPr>
            <a:r>
              <a:rPr sz="1700" b="0" i="0" lang="he-IL">
                <a:solidFill>
                  <a:srgbClr val="0A1A33"/>
                </a:solidFill>
                <a:latin typeface="Rubik"/>
                <a:ea typeface="Rubik"/>
                <a:cs typeface="Rubik"/>
              </a:rPr>
              <a:t>1.  פתחו תיקייה חדשה לתיק פיקטיבי נוסף, עם אותו מבנה תיקיות.</a:t>
            </a:r>
          </a:p>
          <a:p>
            <a:pPr rtl="1" algn="r">
              <a:lnSpc>
                <a:spcPct val="110000"/>
              </a:lnSpc>
              <a:spcAft>
                <a:spcPts val="1000"/>
              </a:spcAft>
            </a:pPr>
            <a:r>
              <a:rPr sz="1700" b="0" i="0" lang="he-IL">
                <a:solidFill>
                  <a:srgbClr val="0A1A33"/>
                </a:solidFill>
                <a:latin typeface="Rubik"/>
                <a:ea typeface="Rubik"/>
                <a:cs typeface="Rubik"/>
              </a:rPr>
              <a:t>2.  צרו קבצים פיקטיביים, כולל מסמך חסר וסתירה אחת.</a:t>
            </a:r>
          </a:p>
          <a:p>
            <a:pPr rtl="1" algn="r">
              <a:lnSpc>
                <a:spcPct val="110000"/>
              </a:lnSpc>
              <a:spcAft>
                <a:spcPts val="1000"/>
              </a:spcAft>
            </a:pPr>
            <a:r>
              <a:rPr sz="1700" b="0" i="0" lang="he-IL">
                <a:solidFill>
                  <a:srgbClr val="0A1A33"/>
                </a:solidFill>
                <a:latin typeface="Rubik"/>
                <a:ea typeface="Rubik"/>
                <a:cs typeface="Rubik"/>
              </a:rPr>
              <a:t>3.  העתיקו מהתרגול את ‎CLAUDE.md‎ ואת תיקיית ההגדרות של הפרויקט.</a:t>
            </a:r>
          </a:p>
          <a:p>
            <a:pPr rtl="1" algn="r">
              <a:lnSpc>
                <a:spcPct val="110000"/>
              </a:lnSpc>
              <a:spcAft>
                <a:spcPts val="1000"/>
              </a:spcAft>
            </a:pPr>
            <a:r>
              <a:rPr sz="1700" b="0" i="0" lang="he-IL">
                <a:solidFill>
                  <a:srgbClr val="0A1A33"/>
                </a:solidFill>
                <a:latin typeface="Rubik"/>
                <a:ea typeface="Rubik"/>
                <a:cs typeface="Rubik"/>
              </a:rPr>
              <a:t>4.  הפעילו את הסקיל ‎prepare-bank-file‎ ובדקו את התוצאה לפי רשימת הבדיקה.</a:t>
            </a:r>
          </a:p>
        </p:txBody>
      </p:sp>
      <p:sp>
        <p:nvSpPr>
          <p:cNvPr id="10" name="TextBox 9"/>
          <p:cNvSpPr txBox="1"/>
          <p:nvPr/>
        </p:nvSpPr>
        <p:spPr>
          <a:xfrm>
            <a:off x="548640" y="544068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FFFFFF"/>
                </a:solidFill>
                <a:latin typeface="Rubik"/>
                <a:ea typeface="Rubik"/>
                <a:cs typeface="Rubik"/>
              </a:rPr>
              <a:t>יוחנן שבדרון</a:t>
            </a:r>
            <a:r>
              <a:rPr sz="2000" b="0" i="0" lang="he-IL">
                <a:solidFill>
                  <a:srgbClr val="FFFFFF"/>
                </a:solidFill>
                <a:latin typeface="Rubik"/>
                <a:ea typeface="Rubik"/>
                <a:cs typeface="Rubik"/>
              </a:rPr>
              <a:t>  |  ‎SHWADRON.AI‎</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